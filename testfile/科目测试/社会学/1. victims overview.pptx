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0" r:id="rId4"/>
    <p:sldId id="279" r:id="rId5"/>
    <p:sldId id="281" r:id="rId6"/>
    <p:sldId id="262" r:id="rId7"/>
    <p:sldId id="263" r:id="rId8"/>
    <p:sldId id="264" r:id="rId9"/>
    <p:sldId id="265" r:id="rId10"/>
    <p:sldId id="266" r:id="rId11"/>
    <p:sldId id="267" r:id="rId12"/>
    <p:sldId id="269" r:id="rId13"/>
    <p:sldId id="270" r:id="rId14"/>
    <p:sldId id="271" r:id="rId15"/>
    <p:sldId id="278" r:id="rId16"/>
    <p:sldId id="344" r:id="rId17"/>
    <p:sldId id="34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60" d="100"/>
          <a:sy n="60" d="100"/>
        </p:scale>
        <p:origin x="10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1BED87E-33D1-4828-88F7-F8361E345A92}"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2405994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ED87E-33D1-4828-88F7-F8361E345A92}"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277305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BED87E-33D1-4828-88F7-F8361E345A92}"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271844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1BED87E-33D1-4828-88F7-F8361E345A92}"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3549945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1BED87E-33D1-4828-88F7-F8361E345A92}"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49607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1BED87E-33D1-4828-88F7-F8361E345A92}"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192140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ED87E-33D1-4828-88F7-F8361E345A92}"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1668077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ED87E-33D1-4828-88F7-F8361E345A92}"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2032532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BED87E-33D1-4828-88F7-F8361E345A92}"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2717745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ED87E-33D1-4828-88F7-F8361E345A92}"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1570091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BED87E-33D1-4828-88F7-F8361E345A92}"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6AF12B-F2B3-43ED-A256-0A928FB04F0E}" type="slidenum">
              <a:rPr lang="en-US" smtClean="0"/>
              <a:t>‹#›</a:t>
            </a:fld>
            <a:endParaRPr lang="en-US"/>
          </a:p>
        </p:txBody>
      </p:sp>
    </p:spTree>
    <p:extLst>
      <p:ext uri="{BB962C8B-B14F-4D97-AF65-F5344CB8AC3E}">
        <p14:creationId xmlns:p14="http://schemas.microsoft.com/office/powerpoint/2010/main" val="1287508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ED87E-33D1-4828-88F7-F8361E345A92}" type="datetimeFigureOut">
              <a:rPr lang="en-US" smtClean="0"/>
              <a:t>4/1/2026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6AF12B-F2B3-43ED-A256-0A928FB04F0E}" type="slidenum">
              <a:rPr lang="en-US" smtClean="0"/>
              <a:t>‹#›</a:t>
            </a:fld>
            <a:endParaRPr lang="en-US"/>
          </a:p>
        </p:txBody>
      </p:sp>
    </p:spTree>
    <p:extLst>
      <p:ext uri="{BB962C8B-B14F-4D97-AF65-F5344CB8AC3E}">
        <p14:creationId xmlns:p14="http://schemas.microsoft.com/office/powerpoint/2010/main" val="966622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BOrwmgd_l5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86122"/>
          </a:xfrm>
        </p:spPr>
        <p:txBody>
          <a:bodyPr/>
          <a:lstStyle/>
          <a:p>
            <a:r>
              <a:rPr lang="en-US" b="1" dirty="0"/>
              <a:t>Victims – an overview</a:t>
            </a:r>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2905" y="2481963"/>
            <a:ext cx="6071016" cy="4204741"/>
          </a:xfrm>
          <a:prstGeom prst="rect">
            <a:avLst/>
          </a:prstGeom>
        </p:spPr>
      </p:pic>
    </p:spTree>
    <p:extLst>
      <p:ext uri="{BB962C8B-B14F-4D97-AF65-F5344CB8AC3E}">
        <p14:creationId xmlns:p14="http://schemas.microsoft.com/office/powerpoint/2010/main" val="1050596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3684-991E-D5B5-340D-CD639B9772CE}"/>
              </a:ext>
            </a:extLst>
          </p:cNvPr>
          <p:cNvSpPr>
            <a:spLocks noGrp="1"/>
          </p:cNvSpPr>
          <p:nvPr>
            <p:ph type="title"/>
          </p:nvPr>
        </p:nvSpPr>
        <p:spPr/>
        <p:txBody>
          <a:bodyPr/>
          <a:lstStyle/>
          <a:p>
            <a:pPr algn="ctr"/>
            <a:r>
              <a:rPr lang="en-CA" b="1" dirty="0"/>
              <a:t>Who is a victim? </a:t>
            </a:r>
          </a:p>
        </p:txBody>
      </p:sp>
      <p:sp>
        <p:nvSpPr>
          <p:cNvPr id="3" name="Content Placeholder 2">
            <a:extLst>
              <a:ext uri="{FF2B5EF4-FFF2-40B4-BE49-F238E27FC236}">
                <a16:creationId xmlns:a16="http://schemas.microsoft.com/office/drawing/2014/main" id="{4DBE2350-F764-5F41-1B7E-A9459F9E7281}"/>
              </a:ext>
            </a:extLst>
          </p:cNvPr>
          <p:cNvSpPr>
            <a:spLocks noGrp="1"/>
          </p:cNvSpPr>
          <p:nvPr>
            <p:ph idx="1"/>
          </p:nvPr>
        </p:nvSpPr>
        <p:spPr/>
        <p:txBody>
          <a:bodyPr/>
          <a:lstStyle/>
          <a:p>
            <a:r>
              <a:rPr lang="en-CA" sz="3200" dirty="0"/>
              <a:t>Anyone who has suffered physical, mental, emotional, financial or other damage as a result of a crime</a:t>
            </a:r>
          </a:p>
          <a:p>
            <a:endParaRPr lang="en-CA" sz="3200" dirty="0"/>
          </a:p>
          <a:p>
            <a:r>
              <a:rPr lang="en-CA" sz="3200" dirty="0"/>
              <a:t>More generally, who anyone who has suffered the above as a result of another’s actions</a:t>
            </a:r>
          </a:p>
          <a:p>
            <a:endParaRPr lang="en-CA" dirty="0"/>
          </a:p>
          <a:p>
            <a:endParaRPr lang="en-CA" dirty="0"/>
          </a:p>
        </p:txBody>
      </p:sp>
    </p:spTree>
    <p:extLst>
      <p:ext uri="{BB962C8B-B14F-4D97-AF65-F5344CB8AC3E}">
        <p14:creationId xmlns:p14="http://schemas.microsoft.com/office/powerpoint/2010/main" val="22209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62BC4-7E55-73E7-92CD-2E4FB9BD282C}"/>
              </a:ext>
            </a:extLst>
          </p:cNvPr>
          <p:cNvSpPr>
            <a:spLocks noGrp="1"/>
          </p:cNvSpPr>
          <p:nvPr>
            <p:ph type="title"/>
          </p:nvPr>
        </p:nvSpPr>
        <p:spPr>
          <a:xfrm>
            <a:off x="838200" y="1"/>
            <a:ext cx="10515600" cy="1690688"/>
          </a:xfrm>
        </p:spPr>
        <p:txBody>
          <a:bodyPr/>
          <a:lstStyle/>
          <a:p>
            <a:pPr algn="ctr"/>
            <a:r>
              <a:rPr lang="en-CA" b="1" dirty="0"/>
              <a:t>Overall crime rate</a:t>
            </a:r>
          </a:p>
        </p:txBody>
      </p:sp>
      <p:pic>
        <p:nvPicPr>
          <p:cNvPr id="5" name="Content Placeholder 4" descr="A graph of a number of people&#10;&#10;Description automatically generated with medium confidence">
            <a:extLst>
              <a:ext uri="{FF2B5EF4-FFF2-40B4-BE49-F238E27FC236}">
                <a16:creationId xmlns:a16="http://schemas.microsoft.com/office/drawing/2014/main" id="{93D149ED-1CF1-DDDC-F541-969853A10C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0146" y="1027906"/>
            <a:ext cx="11311707" cy="6307940"/>
          </a:xfrm>
        </p:spPr>
      </p:pic>
    </p:spTree>
    <p:extLst>
      <p:ext uri="{BB962C8B-B14F-4D97-AF65-F5344CB8AC3E}">
        <p14:creationId xmlns:p14="http://schemas.microsoft.com/office/powerpoint/2010/main" val="119542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8D88-EFBA-D390-7739-7511E58BB196}"/>
              </a:ext>
            </a:extLst>
          </p:cNvPr>
          <p:cNvSpPr>
            <a:spLocks noGrp="1"/>
          </p:cNvSpPr>
          <p:nvPr>
            <p:ph type="title"/>
          </p:nvPr>
        </p:nvSpPr>
        <p:spPr>
          <a:xfrm>
            <a:off x="838200" y="1"/>
            <a:ext cx="10515600" cy="976044"/>
          </a:xfrm>
        </p:spPr>
        <p:txBody>
          <a:bodyPr/>
          <a:lstStyle/>
          <a:p>
            <a:pPr algn="ctr"/>
            <a:r>
              <a:rPr lang="en-CA" b="1" dirty="0"/>
              <a:t>Crime severity index</a:t>
            </a:r>
          </a:p>
        </p:txBody>
      </p:sp>
      <p:pic>
        <p:nvPicPr>
          <p:cNvPr id="5" name="Content Placeholder 4" descr="A graph of a number of people&#10;&#10;Description automatically generated with medium confidence">
            <a:extLst>
              <a:ext uri="{FF2B5EF4-FFF2-40B4-BE49-F238E27FC236}">
                <a16:creationId xmlns:a16="http://schemas.microsoft.com/office/drawing/2014/main" id="{D61D3532-1FF3-56E9-4997-4CB9454AD9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1721" y="976045"/>
            <a:ext cx="11188558" cy="5311739"/>
          </a:xfrm>
        </p:spPr>
      </p:pic>
    </p:spTree>
    <p:extLst>
      <p:ext uri="{BB962C8B-B14F-4D97-AF65-F5344CB8AC3E}">
        <p14:creationId xmlns:p14="http://schemas.microsoft.com/office/powerpoint/2010/main" val="206750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4BE5-41CB-56B1-C333-81911DF90A5F}"/>
              </a:ext>
            </a:extLst>
          </p:cNvPr>
          <p:cNvSpPr>
            <a:spLocks noGrp="1"/>
          </p:cNvSpPr>
          <p:nvPr>
            <p:ph type="title"/>
          </p:nvPr>
        </p:nvSpPr>
        <p:spPr/>
        <p:txBody>
          <a:bodyPr/>
          <a:lstStyle/>
          <a:p>
            <a:endParaRPr lang="en-CA"/>
          </a:p>
        </p:txBody>
      </p:sp>
      <p:pic>
        <p:nvPicPr>
          <p:cNvPr id="5" name="Content Placeholder 4" descr="A graph with numbers and text&#10;&#10;Description automatically generated with medium confidence">
            <a:extLst>
              <a:ext uri="{FF2B5EF4-FFF2-40B4-BE49-F238E27FC236}">
                <a16:creationId xmlns:a16="http://schemas.microsoft.com/office/drawing/2014/main" id="{18D6A2EE-6BE3-C5F0-66AC-BAEF431766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857" y="365125"/>
            <a:ext cx="11798286" cy="5573338"/>
          </a:xfrm>
        </p:spPr>
      </p:pic>
    </p:spTree>
    <p:extLst>
      <p:ext uri="{BB962C8B-B14F-4D97-AF65-F5344CB8AC3E}">
        <p14:creationId xmlns:p14="http://schemas.microsoft.com/office/powerpoint/2010/main" val="138401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9019"/>
          </a:xfrm>
        </p:spPr>
        <p:txBody>
          <a:bodyPr>
            <a:normAutofit fontScale="90000"/>
          </a:bodyPr>
          <a:lstStyle/>
          <a:p>
            <a:pPr algn="ctr"/>
            <a:r>
              <a:rPr lang="en-US" b="1" dirty="0"/>
              <a:t>Reporting rates</a:t>
            </a:r>
            <a:br>
              <a:rPr lang="en-US" dirty="0"/>
            </a:br>
            <a:endParaRPr lang="en-US" dirty="0"/>
          </a:p>
        </p:txBody>
      </p:sp>
      <p:sp>
        <p:nvSpPr>
          <p:cNvPr id="3" name="Content Placeholder 2"/>
          <p:cNvSpPr>
            <a:spLocks noGrp="1"/>
          </p:cNvSpPr>
          <p:nvPr>
            <p:ph idx="1"/>
          </p:nvPr>
        </p:nvSpPr>
        <p:spPr>
          <a:xfrm>
            <a:off x="838200" y="1154243"/>
            <a:ext cx="10515600" cy="5022720"/>
          </a:xfrm>
        </p:spPr>
        <p:txBody>
          <a:bodyPr/>
          <a:lstStyle/>
          <a:p>
            <a:r>
              <a:rPr lang="en-US" dirty="0"/>
              <a:t>Based on a ten year study of reporting rates (1999-2009), </a:t>
            </a:r>
            <a:r>
              <a:rPr lang="en-US" dirty="0" err="1"/>
              <a:t>StatsCan</a:t>
            </a:r>
            <a:r>
              <a:rPr lang="en-US" dirty="0"/>
              <a:t> (2015) found that about one third of victims report crimes to the police. Crimes with the highest levels of ‘underreporting’: </a:t>
            </a:r>
          </a:p>
          <a:p>
            <a:pPr marL="0" indent="0">
              <a:buNone/>
            </a:pPr>
            <a:endParaRPr lang="en-US" dirty="0"/>
          </a:p>
          <a:p>
            <a:r>
              <a:rPr lang="en-US" dirty="0"/>
              <a:t>Sexual assault (where the perpetrator is not a spouse): 88% not reported</a:t>
            </a:r>
          </a:p>
          <a:p>
            <a:r>
              <a:rPr lang="en-US" dirty="0"/>
              <a:t>Sexual touching: 93% not reported</a:t>
            </a:r>
          </a:p>
          <a:p>
            <a:r>
              <a:rPr lang="en-US" dirty="0"/>
              <a:t>Sexual attacks (sex with violence): 64% not reported</a:t>
            </a:r>
          </a:p>
          <a:p>
            <a:r>
              <a:rPr lang="en-US" dirty="0"/>
              <a:t>Spousal violence: 88% not reported (increased from 83% not reported)</a:t>
            </a:r>
          </a:p>
          <a:p>
            <a:pPr marL="0" indent="0">
              <a:buNone/>
            </a:pPr>
            <a:endParaRPr lang="en-US" dirty="0"/>
          </a:p>
        </p:txBody>
      </p:sp>
    </p:spTree>
    <p:extLst>
      <p:ext uri="{BB962C8B-B14F-4D97-AF65-F5344CB8AC3E}">
        <p14:creationId xmlns:p14="http://schemas.microsoft.com/office/powerpoint/2010/main" val="539909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Factors associated with under-reported (Stats Can 2015)</a:t>
            </a:r>
          </a:p>
        </p:txBody>
      </p:sp>
      <p:sp>
        <p:nvSpPr>
          <p:cNvPr id="3" name="Content Placeholder 2"/>
          <p:cNvSpPr>
            <a:spLocks noGrp="1"/>
          </p:cNvSpPr>
          <p:nvPr>
            <p:ph idx="1"/>
          </p:nvPr>
        </p:nvSpPr>
        <p:spPr/>
        <p:txBody>
          <a:bodyPr/>
          <a:lstStyle/>
          <a:p>
            <a:pPr marL="0" indent="0">
              <a:buNone/>
            </a:pPr>
            <a:r>
              <a:rPr lang="en-US" dirty="0"/>
              <a:t>Factors that increase likelihood of reporting:</a:t>
            </a:r>
          </a:p>
          <a:p>
            <a:r>
              <a:rPr lang="en-US" dirty="0"/>
              <a:t>Severity of crime (including presence of a weapon)</a:t>
            </a:r>
          </a:p>
          <a:p>
            <a:r>
              <a:rPr lang="en-US" dirty="0"/>
              <a:t>Multiple perpetrators</a:t>
            </a:r>
          </a:p>
          <a:p>
            <a:r>
              <a:rPr lang="en-US" dirty="0"/>
              <a:t>The emotional impact on victims </a:t>
            </a:r>
          </a:p>
          <a:p>
            <a:r>
              <a:rPr lang="en-US" dirty="0"/>
              <a:t>If victim’s daily activities were disrupted </a:t>
            </a:r>
          </a:p>
          <a:p>
            <a:endParaRPr lang="en-US" dirty="0"/>
          </a:p>
        </p:txBody>
      </p:sp>
    </p:spTree>
    <p:extLst>
      <p:ext uri="{BB962C8B-B14F-4D97-AF65-F5344CB8AC3E}">
        <p14:creationId xmlns:p14="http://schemas.microsoft.com/office/powerpoint/2010/main" val="1066588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Why don’t victims report? (Huey 2013, 2014)</a:t>
            </a:r>
            <a:br>
              <a:rPr lang="en-US" dirty="0"/>
            </a:br>
            <a:endParaRPr lang="en-US" dirty="0"/>
          </a:p>
        </p:txBody>
      </p:sp>
      <p:sp>
        <p:nvSpPr>
          <p:cNvPr id="3" name="Content Placeholder 2"/>
          <p:cNvSpPr>
            <a:spLocks noGrp="1"/>
          </p:cNvSpPr>
          <p:nvPr>
            <p:ph idx="1"/>
          </p:nvPr>
        </p:nvSpPr>
        <p:spPr/>
        <p:txBody>
          <a:bodyPr/>
          <a:lstStyle/>
          <a:p>
            <a:pPr lvl="0"/>
            <a:r>
              <a:rPr lang="en-US" dirty="0"/>
              <a:t>Not wanting to get loved ones ‘in trouble’  </a:t>
            </a:r>
          </a:p>
          <a:p>
            <a:pPr lvl="0"/>
            <a:r>
              <a:rPr lang="en-US" dirty="0"/>
              <a:t>Crime not important enough </a:t>
            </a:r>
          </a:p>
          <a:p>
            <a:pPr lvl="0"/>
            <a:r>
              <a:rPr lang="en-US" dirty="0"/>
              <a:t>Street code – ‘no snitching’</a:t>
            </a:r>
          </a:p>
          <a:p>
            <a:pPr lvl="0"/>
            <a:r>
              <a:rPr lang="en-US" dirty="0"/>
              <a:t>Victim not important enough/lack of trust in the system</a:t>
            </a:r>
          </a:p>
          <a:p>
            <a:pPr lvl="0"/>
            <a:r>
              <a:rPr lang="en-US" dirty="0"/>
              <a:t>No one would believe the victim</a:t>
            </a:r>
          </a:p>
          <a:p>
            <a:pPr lvl="0"/>
            <a:r>
              <a:rPr lang="en-US" dirty="0"/>
              <a:t>Learned from family to never tell  </a:t>
            </a:r>
          </a:p>
          <a:p>
            <a:pPr lvl="0"/>
            <a:r>
              <a:rPr lang="en-US" dirty="0"/>
              <a:t>Victim blaming/self-blaming</a:t>
            </a:r>
          </a:p>
          <a:p>
            <a:endParaRPr lang="en-US" dirty="0"/>
          </a:p>
        </p:txBody>
      </p:sp>
    </p:spTree>
    <p:extLst>
      <p:ext uri="{BB962C8B-B14F-4D97-AF65-F5344CB8AC3E}">
        <p14:creationId xmlns:p14="http://schemas.microsoft.com/office/powerpoint/2010/main" val="3995437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Not wanting to get loved ones ‘in trouble’  </a:t>
            </a:r>
            <a:br>
              <a:rPr lang="en-US" dirty="0"/>
            </a:br>
            <a:endParaRPr lang="en-US" dirty="0"/>
          </a:p>
        </p:txBody>
      </p:sp>
      <p:sp>
        <p:nvSpPr>
          <p:cNvPr id="3" name="Content Placeholder 2"/>
          <p:cNvSpPr>
            <a:spLocks noGrp="1"/>
          </p:cNvSpPr>
          <p:nvPr>
            <p:ph idx="1"/>
          </p:nvPr>
        </p:nvSpPr>
        <p:spPr>
          <a:xfrm>
            <a:off x="838200" y="1349115"/>
            <a:ext cx="10515600" cy="4827848"/>
          </a:xfrm>
        </p:spPr>
        <p:txBody>
          <a:bodyPr>
            <a:normAutofit/>
          </a:bodyPr>
          <a:lstStyle/>
          <a:p>
            <a:r>
              <a:rPr lang="en-US" dirty="0"/>
              <a:t>R: Broken arms and several broken parts…Never went to the hospital, though…Not for any violence…I would never go…Just keep it to myself…Never got the police involved or anything like that…</a:t>
            </a:r>
          </a:p>
          <a:p>
            <a:pPr marL="0" indent="0">
              <a:buNone/>
            </a:pPr>
            <a:endParaRPr lang="en-US" dirty="0"/>
          </a:p>
          <a:p>
            <a:r>
              <a:rPr lang="en-US" dirty="0"/>
              <a:t>I: Why is that?</a:t>
            </a:r>
          </a:p>
          <a:p>
            <a:pPr marL="0" indent="0">
              <a:buNone/>
            </a:pPr>
            <a:endParaRPr lang="en-US" dirty="0"/>
          </a:p>
          <a:p>
            <a:r>
              <a:rPr lang="en-US" dirty="0"/>
              <a:t>R: Maybe it’s because I’ve got…I </a:t>
            </a:r>
            <a:r>
              <a:rPr lang="en-US" dirty="0" err="1"/>
              <a:t>dunno</a:t>
            </a:r>
            <a:r>
              <a:rPr lang="en-US" dirty="0"/>
              <a:t>…Not to a partner, or…to a family member or summit like that…I won’t get the police…I just think that they must have summit going on in their mind or stuff…They have lots to deal with and they didn’t mean it…So, you don’t want to say anything. (woman from Manchester)</a:t>
            </a:r>
          </a:p>
        </p:txBody>
      </p:sp>
    </p:spTree>
    <p:extLst>
      <p:ext uri="{BB962C8B-B14F-4D97-AF65-F5344CB8AC3E}">
        <p14:creationId xmlns:p14="http://schemas.microsoft.com/office/powerpoint/2010/main" val="849029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039"/>
          </a:xfrm>
        </p:spPr>
        <p:txBody>
          <a:bodyPr>
            <a:normAutofit fontScale="90000"/>
          </a:bodyPr>
          <a:lstStyle/>
          <a:p>
            <a:pPr lvl="0" algn="ctr"/>
            <a:r>
              <a:rPr lang="en-US" dirty="0"/>
              <a:t>Lack of trust in the system</a:t>
            </a:r>
            <a:br>
              <a:rPr lang="en-US" dirty="0"/>
            </a:br>
            <a:endParaRPr lang="en-US" dirty="0"/>
          </a:p>
        </p:txBody>
      </p:sp>
      <p:sp>
        <p:nvSpPr>
          <p:cNvPr id="3" name="Content Placeholder 2"/>
          <p:cNvSpPr>
            <a:spLocks noGrp="1"/>
          </p:cNvSpPr>
          <p:nvPr>
            <p:ph idx="1"/>
          </p:nvPr>
        </p:nvSpPr>
        <p:spPr>
          <a:xfrm>
            <a:off x="838200" y="1169234"/>
            <a:ext cx="10515600" cy="5396458"/>
          </a:xfrm>
        </p:spPr>
        <p:txBody>
          <a:bodyPr>
            <a:normAutofit fontScale="92500" lnSpcReduction="10000"/>
          </a:bodyPr>
          <a:lstStyle/>
          <a:p>
            <a:r>
              <a:rPr lang="en-US" dirty="0"/>
              <a:t>A: Sometimes I go to walk my dog and my daughter was sick and I had to go with her. I come back, my stuff taken. My phone, my pills, my panties. My pennies. I would give them if they needed it. </a:t>
            </a:r>
          </a:p>
          <a:p>
            <a:endParaRPr lang="en-US" dirty="0"/>
          </a:p>
          <a:p>
            <a:r>
              <a:rPr lang="en-US" dirty="0"/>
              <a:t>Q: Did you tell anyone?</a:t>
            </a:r>
          </a:p>
          <a:p>
            <a:endParaRPr lang="en-US" dirty="0"/>
          </a:p>
          <a:p>
            <a:r>
              <a:rPr lang="en-US" dirty="0"/>
              <a:t>A: I told [name deleted]. They say they cannot do anything.</a:t>
            </a:r>
          </a:p>
          <a:p>
            <a:endParaRPr lang="en-US" dirty="0"/>
          </a:p>
          <a:p>
            <a:r>
              <a:rPr lang="en-US" dirty="0"/>
              <a:t>Q: What about the police?</a:t>
            </a:r>
          </a:p>
          <a:p>
            <a:endParaRPr lang="en-US" dirty="0"/>
          </a:p>
          <a:p>
            <a:r>
              <a:rPr lang="en-US" dirty="0"/>
              <a:t>A: No. The police over here is crooked. They only serve and protect the people who got the money. They don't come. You could be dead and they won't come (woman in Chicago).</a:t>
            </a:r>
          </a:p>
        </p:txBody>
      </p:sp>
    </p:spTree>
    <p:extLst>
      <p:ext uri="{BB962C8B-B14F-4D97-AF65-F5344CB8AC3E}">
        <p14:creationId xmlns:p14="http://schemas.microsoft.com/office/powerpoint/2010/main" val="392195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9059"/>
          </a:xfrm>
        </p:spPr>
        <p:txBody>
          <a:bodyPr/>
          <a:lstStyle/>
          <a:p>
            <a:pPr lvl="0" algn="ctr"/>
            <a:r>
              <a:rPr lang="en-US" dirty="0"/>
              <a:t>Fear of retaliation</a:t>
            </a:r>
          </a:p>
        </p:txBody>
      </p:sp>
      <p:sp>
        <p:nvSpPr>
          <p:cNvPr id="3" name="Content Placeholder 2"/>
          <p:cNvSpPr>
            <a:spLocks noGrp="1"/>
          </p:cNvSpPr>
          <p:nvPr>
            <p:ph idx="1"/>
          </p:nvPr>
        </p:nvSpPr>
        <p:spPr>
          <a:xfrm>
            <a:off x="838200" y="1394084"/>
            <a:ext cx="10515600" cy="4946755"/>
          </a:xfrm>
        </p:spPr>
        <p:txBody>
          <a:bodyPr>
            <a:normAutofit lnSpcReduction="10000"/>
          </a:bodyPr>
          <a:lstStyle/>
          <a:p>
            <a:pPr>
              <a:spcBef>
                <a:spcPts val="600"/>
              </a:spcBef>
            </a:pPr>
            <a:r>
              <a:rPr lang="en-US" dirty="0"/>
              <a:t>I: You were victimized by someone who wasn’t your partner…</a:t>
            </a:r>
          </a:p>
          <a:p>
            <a:pPr marL="0" indent="0">
              <a:spcBef>
                <a:spcPts val="600"/>
              </a:spcBef>
              <a:buNone/>
            </a:pPr>
            <a:endParaRPr lang="en-US" dirty="0"/>
          </a:p>
          <a:p>
            <a:pPr>
              <a:spcBef>
                <a:spcPts val="600"/>
              </a:spcBef>
            </a:pPr>
            <a:r>
              <a:rPr lang="en-US" dirty="0"/>
              <a:t>R: It was my partner’s family…It was intentional…They came looking for me…My hair…This is why I have to wear my hair like this – it’s full of bald spots…</a:t>
            </a:r>
          </a:p>
          <a:p>
            <a:pPr marL="0" indent="0">
              <a:spcBef>
                <a:spcPts val="600"/>
              </a:spcBef>
              <a:buNone/>
            </a:pPr>
            <a:endParaRPr lang="en-US" dirty="0"/>
          </a:p>
          <a:p>
            <a:pPr>
              <a:spcBef>
                <a:spcPts val="600"/>
              </a:spcBef>
            </a:pPr>
            <a:r>
              <a:rPr lang="en-US" dirty="0"/>
              <a:t>I: When that happened, did you go to the hospital? The police?</a:t>
            </a:r>
          </a:p>
          <a:p>
            <a:pPr>
              <a:spcBef>
                <a:spcPts val="600"/>
              </a:spcBef>
            </a:pPr>
            <a:endParaRPr lang="en-US" dirty="0"/>
          </a:p>
          <a:p>
            <a:pPr>
              <a:spcBef>
                <a:spcPts val="600"/>
              </a:spcBef>
            </a:pPr>
            <a:r>
              <a:rPr lang="en-US" dirty="0"/>
              <a:t>R: I went to the hospital and reported it to the police…I always got scared because they told me that if I ever reported it, they would come and kill me…I believed it…That’s why my mom has got the kids, as (Liverpool woman).</a:t>
            </a:r>
          </a:p>
        </p:txBody>
      </p:sp>
    </p:spTree>
    <p:extLst>
      <p:ext uri="{BB962C8B-B14F-4D97-AF65-F5344CB8AC3E}">
        <p14:creationId xmlns:p14="http://schemas.microsoft.com/office/powerpoint/2010/main" val="3197018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dirty="0"/>
              <a:t>No one would believe the victim</a:t>
            </a:r>
            <a:br>
              <a:rPr lang="en-US" dirty="0"/>
            </a:br>
            <a:endParaRPr lang="en-US" dirty="0"/>
          </a:p>
        </p:txBody>
      </p:sp>
      <p:sp>
        <p:nvSpPr>
          <p:cNvPr id="3" name="Content Placeholder 2"/>
          <p:cNvSpPr>
            <a:spLocks noGrp="1"/>
          </p:cNvSpPr>
          <p:nvPr>
            <p:ph idx="1"/>
          </p:nvPr>
        </p:nvSpPr>
        <p:spPr>
          <a:xfrm>
            <a:off x="838200" y="1349115"/>
            <a:ext cx="10515600" cy="4827848"/>
          </a:xfrm>
        </p:spPr>
        <p:txBody>
          <a:bodyPr/>
          <a:lstStyle/>
          <a:p>
            <a:r>
              <a:rPr lang="en-US" dirty="0"/>
              <a:t>Domestic violence victim in Detroit:</a:t>
            </a:r>
          </a:p>
          <a:p>
            <a:pPr marL="0" indent="0">
              <a:buNone/>
            </a:pPr>
            <a:endParaRPr lang="en-US" dirty="0"/>
          </a:p>
          <a:p>
            <a:pPr marL="0" indent="0">
              <a:buNone/>
            </a:pPr>
            <a:r>
              <a:rPr lang="en-US" dirty="0"/>
              <a:t>No. No one would have believed me. I realized it was bad when the police were being called, and nothing would happen…No one would believe me because…looking at us, we were the perfect couple. We had the perfect family, on the outside…I’m at home, I don’t work, my husband makes a very good living. Our kids are cute and dressed nice. They go to very expensive schools … They would have never believed me. </a:t>
            </a:r>
          </a:p>
        </p:txBody>
      </p:sp>
    </p:spTree>
    <p:extLst>
      <p:ext uri="{BB962C8B-B14F-4D97-AF65-F5344CB8AC3E}">
        <p14:creationId xmlns:p14="http://schemas.microsoft.com/office/powerpoint/2010/main" val="91659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4206"/>
          </a:xfrm>
        </p:spPr>
        <p:txBody>
          <a:bodyPr>
            <a:normAutofit fontScale="90000"/>
          </a:bodyPr>
          <a:lstStyle/>
          <a:p>
            <a:pPr lvl="0" algn="ctr"/>
            <a:r>
              <a:rPr lang="en-US" dirty="0"/>
              <a:t>Learned from family to never tell  </a:t>
            </a:r>
            <a:br>
              <a:rPr lang="en-US" dirty="0"/>
            </a:br>
            <a:endParaRPr lang="en-US" dirty="0"/>
          </a:p>
        </p:txBody>
      </p:sp>
      <p:sp>
        <p:nvSpPr>
          <p:cNvPr id="3" name="Content Placeholder 2"/>
          <p:cNvSpPr>
            <a:spLocks noGrp="1"/>
          </p:cNvSpPr>
          <p:nvPr>
            <p:ph idx="1"/>
          </p:nvPr>
        </p:nvSpPr>
        <p:spPr>
          <a:xfrm>
            <a:off x="838200" y="839449"/>
            <a:ext cx="11078980" cy="5801194"/>
          </a:xfrm>
        </p:spPr>
        <p:txBody>
          <a:bodyPr>
            <a:normAutofit fontScale="85000" lnSpcReduction="20000"/>
          </a:bodyPr>
          <a:lstStyle/>
          <a:p>
            <a:pPr marL="0" indent="0">
              <a:buNone/>
            </a:pPr>
            <a:r>
              <a:rPr lang="en-US" sz="3200" dirty="0"/>
              <a:t>Victim of childhood sexual abuse:</a:t>
            </a:r>
          </a:p>
          <a:p>
            <a:pPr marL="0" indent="0">
              <a:buNone/>
            </a:pPr>
            <a:endParaRPr lang="en-US" sz="3200" dirty="0"/>
          </a:p>
          <a:p>
            <a:r>
              <a:rPr lang="en-US" sz="3200" dirty="0"/>
              <a:t>A: I came and told my Auntie what happened, but she brushed it off. </a:t>
            </a:r>
          </a:p>
          <a:p>
            <a:endParaRPr lang="en-US" sz="3200" dirty="0"/>
          </a:p>
          <a:p>
            <a:r>
              <a:rPr lang="en-US" sz="3200" dirty="0"/>
              <a:t>Q: So what you learned is that there's no point in ...</a:t>
            </a:r>
          </a:p>
          <a:p>
            <a:endParaRPr lang="en-US" sz="3200" dirty="0"/>
          </a:p>
          <a:p>
            <a:r>
              <a:rPr lang="en-US" sz="3200" dirty="0"/>
              <a:t>A: saying anything. She always told us when we was coming up that if someone did do something to us we could come to her and talk to her. Now when I finally tell you something happened, you push me to the side or tell me other things. Like as if you didn't believe me. </a:t>
            </a:r>
          </a:p>
          <a:p>
            <a:endParaRPr lang="en-US" sz="3200" dirty="0"/>
          </a:p>
          <a:p>
            <a:r>
              <a:rPr lang="en-US" sz="3200" dirty="0"/>
              <a:t>Q: So we learn that there's nothing we can do.</a:t>
            </a:r>
          </a:p>
          <a:p>
            <a:endParaRPr lang="en-US" sz="3200" dirty="0"/>
          </a:p>
          <a:p>
            <a:r>
              <a:rPr lang="en-US" sz="3200" dirty="0"/>
              <a:t>A: Just keep it in and try to deal with it.</a:t>
            </a:r>
          </a:p>
          <a:p>
            <a:endParaRPr lang="en-US" dirty="0"/>
          </a:p>
        </p:txBody>
      </p:sp>
    </p:spTree>
    <p:extLst>
      <p:ext uri="{BB962C8B-B14F-4D97-AF65-F5344CB8AC3E}">
        <p14:creationId xmlns:p14="http://schemas.microsoft.com/office/powerpoint/2010/main" val="2072444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4049"/>
          </a:xfrm>
        </p:spPr>
        <p:txBody>
          <a:bodyPr>
            <a:normAutofit fontScale="90000"/>
          </a:bodyPr>
          <a:lstStyle/>
          <a:p>
            <a:pPr lvl="0" algn="ctr"/>
            <a:r>
              <a:rPr lang="en-US" dirty="0"/>
              <a:t>Victim blaming/self-blaming</a:t>
            </a:r>
            <a:br>
              <a:rPr lang="en-US" dirty="0"/>
            </a:br>
            <a:endParaRPr lang="en-US" dirty="0"/>
          </a:p>
        </p:txBody>
      </p:sp>
      <p:sp>
        <p:nvSpPr>
          <p:cNvPr id="3" name="Content Placeholder 2"/>
          <p:cNvSpPr>
            <a:spLocks noGrp="1"/>
          </p:cNvSpPr>
          <p:nvPr>
            <p:ph idx="1"/>
          </p:nvPr>
        </p:nvSpPr>
        <p:spPr>
          <a:xfrm>
            <a:off x="838200" y="1094282"/>
            <a:ext cx="10515600" cy="5156616"/>
          </a:xfrm>
        </p:spPr>
        <p:txBody>
          <a:bodyPr>
            <a:normAutofit fontScale="92500" lnSpcReduction="10000"/>
          </a:bodyPr>
          <a:lstStyle/>
          <a:p>
            <a:pPr marL="0" indent="0">
              <a:buNone/>
            </a:pPr>
            <a:r>
              <a:rPr lang="en-US" dirty="0"/>
              <a:t>Victim of sexual assault (Detroit):</a:t>
            </a:r>
          </a:p>
          <a:p>
            <a:r>
              <a:rPr lang="en-US" dirty="0"/>
              <a:t>A: Me and my friends used to drink gallons a day. And I never, ever had that happen to me or ... that I'd be passed out like that. If I passed out, I was at home. In a good setting. But never did that happen. We still have problems from that. My son's going to be 3 years old. And we still have problems ... because we just came into the treatment, to the system about 8 months ago. He hasn't ... he don't talk about it. The only time he talks about it is when he's angry. And those are not nice things that he says. </a:t>
            </a:r>
          </a:p>
          <a:p>
            <a:pPr marL="0" indent="0">
              <a:buNone/>
            </a:pPr>
            <a:endParaRPr lang="en-US" dirty="0"/>
          </a:p>
          <a:p>
            <a:r>
              <a:rPr lang="en-US" dirty="0"/>
              <a:t>Q: Is there an element of blaming you?</a:t>
            </a:r>
          </a:p>
          <a:p>
            <a:endParaRPr lang="en-US" dirty="0"/>
          </a:p>
          <a:p>
            <a:r>
              <a:rPr lang="en-US" dirty="0"/>
              <a:t>A: Yeah. He blames me because he says I shouldn't have been there. I'm like, 'when you was drinking, you'd party with my friends.' </a:t>
            </a:r>
          </a:p>
          <a:p>
            <a:endParaRPr lang="en-US" dirty="0"/>
          </a:p>
          <a:p>
            <a:pPr marL="0" indent="0">
              <a:buNone/>
            </a:pPr>
            <a:endParaRPr lang="en-US" dirty="0"/>
          </a:p>
        </p:txBody>
      </p:sp>
    </p:spTree>
    <p:extLst>
      <p:ext uri="{BB962C8B-B14F-4D97-AF65-F5344CB8AC3E}">
        <p14:creationId xmlns:p14="http://schemas.microsoft.com/office/powerpoint/2010/main" val="1960510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9882"/>
            <a:ext cx="10515600" cy="839449"/>
          </a:xfrm>
        </p:spPr>
        <p:txBody>
          <a:bodyPr/>
          <a:lstStyle/>
          <a:p>
            <a:pPr algn="ctr"/>
            <a:r>
              <a:rPr lang="en-US" b="1" dirty="0"/>
              <a:t>Self-blaming</a:t>
            </a:r>
          </a:p>
        </p:txBody>
      </p:sp>
      <p:sp>
        <p:nvSpPr>
          <p:cNvPr id="3" name="Content Placeholder 2"/>
          <p:cNvSpPr>
            <a:spLocks noGrp="1"/>
          </p:cNvSpPr>
          <p:nvPr>
            <p:ph idx="1"/>
          </p:nvPr>
        </p:nvSpPr>
        <p:spPr>
          <a:xfrm>
            <a:off x="599607" y="1139252"/>
            <a:ext cx="10972800" cy="5456420"/>
          </a:xfrm>
        </p:spPr>
        <p:txBody>
          <a:bodyPr>
            <a:normAutofit fontScale="77500" lnSpcReduction="20000"/>
          </a:bodyPr>
          <a:lstStyle/>
          <a:p>
            <a:r>
              <a:rPr lang="en-US" dirty="0"/>
              <a:t>R: One time, I was…I had drank a lot…I remember somebody pulling my pants down and they were on top of me…I was so out of it, it was crazy…When I woke up, my pants were on backwards and my underwear were inside out…I knew then…My chain had been stolen and I knew something had happened…</a:t>
            </a:r>
          </a:p>
          <a:p>
            <a:endParaRPr lang="en-US" dirty="0"/>
          </a:p>
          <a:p>
            <a:r>
              <a:rPr lang="en-US" dirty="0"/>
              <a:t>I: Did you go to the doctor?</a:t>
            </a:r>
          </a:p>
          <a:p>
            <a:endParaRPr lang="en-US" dirty="0"/>
          </a:p>
          <a:p>
            <a:r>
              <a:rPr lang="en-US" dirty="0"/>
              <a:t>R: No. I just went home and took a shower…I think I cried…</a:t>
            </a:r>
          </a:p>
          <a:p>
            <a:endParaRPr lang="en-US" dirty="0"/>
          </a:p>
          <a:p>
            <a:r>
              <a:rPr lang="en-US" dirty="0"/>
              <a:t>I: Were you just numb at that point? </a:t>
            </a:r>
          </a:p>
          <a:p>
            <a:endParaRPr lang="en-US" dirty="0"/>
          </a:p>
          <a:p>
            <a:r>
              <a:rPr lang="en-US" dirty="0"/>
              <a:t>R: I think to be honest, and it sounds crazy, but that was the last thing that came to my mind…What came to my mind was that it was my fault, and I shouldn’t have drank like that…I mean, I was chugging ‘</a:t>
            </a:r>
            <a:r>
              <a:rPr lang="en-US" dirty="0" err="1"/>
              <a:t>em</a:t>
            </a:r>
            <a:r>
              <a:rPr lang="en-US" dirty="0"/>
              <a:t> back, girl…It was vodka…</a:t>
            </a:r>
            <a:r>
              <a:rPr lang="en-US" dirty="0" err="1"/>
              <a:t>Ya</a:t>
            </a:r>
            <a:r>
              <a:rPr lang="en-US" dirty="0"/>
              <a:t>, I mixed it, but I mixed it lightly…Because it wasn’t strong, I was tossing them back…I was like, you have no one to blame but yourself because you put yourself in that situation… (Chicago sexual assault victim). </a:t>
            </a:r>
          </a:p>
          <a:p>
            <a:endParaRPr lang="en-US" dirty="0"/>
          </a:p>
        </p:txBody>
      </p:sp>
    </p:spTree>
    <p:extLst>
      <p:ext uri="{BB962C8B-B14F-4D97-AF65-F5344CB8AC3E}">
        <p14:creationId xmlns:p14="http://schemas.microsoft.com/office/powerpoint/2010/main" val="2363025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70218-CAAB-2010-6C0F-EC8DF8F711C2}"/>
              </a:ext>
            </a:extLst>
          </p:cNvPr>
          <p:cNvSpPr>
            <a:spLocks noGrp="1"/>
          </p:cNvSpPr>
          <p:nvPr>
            <p:ph type="title"/>
          </p:nvPr>
        </p:nvSpPr>
        <p:spPr/>
        <p:txBody>
          <a:bodyPr/>
          <a:lstStyle/>
          <a:p>
            <a:pPr algn="ctr"/>
            <a:r>
              <a:rPr lang="en-CA" b="1" dirty="0"/>
              <a:t>Victims and the CJS experience</a:t>
            </a:r>
          </a:p>
        </p:txBody>
      </p:sp>
      <p:sp>
        <p:nvSpPr>
          <p:cNvPr id="3" name="Content Placeholder 2">
            <a:extLst>
              <a:ext uri="{FF2B5EF4-FFF2-40B4-BE49-F238E27FC236}">
                <a16:creationId xmlns:a16="http://schemas.microsoft.com/office/drawing/2014/main" id="{C1609948-DBA5-F41F-7A40-3FF79E26D124}"/>
              </a:ext>
            </a:extLst>
          </p:cNvPr>
          <p:cNvSpPr>
            <a:spLocks noGrp="1"/>
          </p:cNvSpPr>
          <p:nvPr>
            <p:ph idx="1"/>
          </p:nvPr>
        </p:nvSpPr>
        <p:spPr/>
        <p:txBody>
          <a:bodyPr/>
          <a:lstStyle/>
          <a:p>
            <a:r>
              <a:rPr lang="en-CA" dirty="0">
                <a:hlinkClick r:id="rId2"/>
              </a:rPr>
              <a:t>https://www.youtube.com/watch?v=BOrwmgd_l5g</a:t>
            </a:r>
            <a:endParaRPr lang="en-CA" dirty="0"/>
          </a:p>
          <a:p>
            <a:endParaRPr lang="en-CA" dirty="0"/>
          </a:p>
        </p:txBody>
      </p:sp>
    </p:spTree>
    <p:extLst>
      <p:ext uri="{BB962C8B-B14F-4D97-AF65-F5344CB8AC3E}">
        <p14:creationId xmlns:p14="http://schemas.microsoft.com/office/powerpoint/2010/main" val="2419020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1278</Words>
  <Application>Microsoft Office PowerPoint</Application>
  <PresentationFormat>宽屏</PresentationFormat>
  <Paragraphs>88</Paragraphs>
  <Slides>17</Slides>
  <Notes>0</Notes>
  <HiddenSlides>0</HiddenSlides>
  <MMClips>0</MMClips>
  <ScaleCrop>false</ScaleCrop>
  <HeadingPairs>
    <vt:vector size="4" baseType="variant">
      <vt:variant>
        <vt:lpstr>主题</vt:lpstr>
      </vt:variant>
      <vt:variant>
        <vt:i4>1</vt:i4>
      </vt:variant>
      <vt:variant>
        <vt:lpstr>幻灯片标题</vt:lpstr>
      </vt:variant>
      <vt:variant>
        <vt:i4>17</vt:i4>
      </vt:variant>
    </vt:vector>
  </HeadingPairs>
  <TitlesOfParts>
    <vt:vector size="18" baseType="lpstr">
      <vt:lpstr>Office Theme</vt:lpstr>
      <vt:lpstr>Victims – an overview</vt:lpstr>
      <vt:lpstr>Who is a victim? </vt:lpstr>
      <vt:lpstr>Overall crime rate</vt:lpstr>
      <vt:lpstr>Crime severity index</vt:lpstr>
      <vt:lpstr>PowerPoint 演示文稿</vt:lpstr>
      <vt:lpstr>Reporting rates </vt:lpstr>
      <vt:lpstr>Factors associated with under-reported (Stats Can 2015)</vt:lpstr>
      <vt:lpstr>Why don’t victims report? (Huey 2013, 2014) </vt:lpstr>
      <vt:lpstr>Not wanting to get loved ones ‘in trouble’   </vt:lpstr>
      <vt:lpstr>Lack of trust in the system </vt:lpstr>
      <vt:lpstr>Fear of retaliation</vt:lpstr>
      <vt:lpstr>No one would believe the victim </vt:lpstr>
      <vt:lpstr>Learned from family to never tell   </vt:lpstr>
      <vt:lpstr>Victim blaming/self-blaming </vt:lpstr>
      <vt:lpstr>Self-blaming</vt:lpstr>
      <vt:lpstr>Victims and the CJS experience</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Victims</dc:title>
  <dc:creator>Laura</dc:creator>
  <cp:lastModifiedBy>Laura Huey</cp:lastModifiedBy>
  <cp:revision>29</cp:revision>
  <dcterms:created xsi:type="dcterms:W3CDTF">2015-12-28T16:55:41Z</dcterms:created>
  <dcterms:modified xsi:type="dcterms:W3CDTF">2026-04-01T22:12:51Z</dcterms:modified>
</cp:coreProperties>
</file>