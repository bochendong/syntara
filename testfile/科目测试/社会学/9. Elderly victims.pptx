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345" r:id="rId5"/>
    <p:sldId id="263" r:id="rId6"/>
    <p:sldId id="260" r:id="rId7"/>
    <p:sldId id="264" r:id="rId8"/>
    <p:sldId id="265" r:id="rId9"/>
    <p:sldId id="266" r:id="rId10"/>
    <p:sldId id="267" r:id="rId11"/>
    <p:sldId id="268" r:id="rId12"/>
    <p:sldId id="344" r:id="rId13"/>
    <p:sldId id="261" r:id="rId14"/>
    <p:sldId id="262" r:id="rId15"/>
    <p:sldId id="34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2D03-FAE0-7356-DBD9-609714207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26F86-E4D5-6E0E-5128-1443B18BB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BE6E7-A39F-368C-546D-C5A36B2B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3677F-964B-538D-6221-0F7F7BBF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E242-0EDB-6D82-3AEB-283E3C95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515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3B53-36C4-1AB8-98C8-CF5AD63A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9914-918A-1C33-C3BD-A5C8EB67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4D3C-2614-09C3-A0C9-18DD5346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7268C-9D36-E796-04AD-EE840BBF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2D36-3086-6AA6-E7D9-C92B43AB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941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E884-42EB-7058-7CFD-26694760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FD3C2-8EED-FF02-5E2B-C820DAB79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C13A-46F7-C670-AFB1-7FA3FCC3C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1C1C5-4E6F-18C5-2A89-07FE2362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8491-98C0-240C-1ABC-19CC0F78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7372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C2EA-8068-388D-42DC-9A9AD920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1659F-9849-CF18-A6CC-063834AC2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C3C53-805F-7CF8-604C-CA43108B9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72E2A-CEF4-C49B-384C-BDDBBD61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DDBB0-B246-7E19-2630-01AB481A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2A674-2B82-67D3-318A-06A030ED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03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1BAF-5A7D-3213-D8B1-D54D62A3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DE5E7-193B-1EDF-0B1A-34B9E15DB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93553-55C5-7C9C-C64C-C2CA974EB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A3915-12F6-8464-741A-0D1D16BCD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F9A87E-9732-368C-79C5-289263130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8CCCBF-5E85-05F1-68A6-6BC04BF2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9E404-8606-A9A0-DAE1-8E28D3B3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5B8E7-02D7-5CE8-3192-A3ADC5B5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047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6607-65D3-3420-C4A7-58B62499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2542B-C226-C79D-71FA-2D18F9C1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4F36-9842-2ECD-CE39-AE6A3111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D96FE-225E-1E39-8664-EE78839F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104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5C833-F330-462F-EB26-6DA00255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1043A-A3AF-D991-2F5D-183F951E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5C206-40D6-9E91-1B9E-569375C2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755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3C10-3FBA-E22C-5D71-C7242A948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7287B-1DC3-355F-5B53-0AC0876DB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D381E-FA10-D925-9996-481D63EF9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D53A0-1A79-B35D-6378-54BC568F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E3027-0CEA-5051-A3F1-D48FB4CF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93F3E-18DB-E6C6-6B58-237694A6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222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DFF2-D55B-3F48-0FAA-B5B96A1EF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83918-B088-F978-A984-5239130C4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7D722-DA0C-3444-CD0D-8A69039A8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F6148-D077-1D7B-C548-3B64DA4D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B9F3-D2B9-B1A9-6C09-3B34D7E7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167EF-B8FB-0B32-5309-B3992C89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043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3D91-6C43-1867-0ADC-A80080AA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8ACE3-451C-EE63-5C6C-278778492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F5BAF-B8BC-A1EA-F3A0-15A8BB76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740ED-888C-B633-CAF0-F9889252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7DDD9-8F62-CDE8-7ED5-694D56B4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226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C3EBE-A96C-60D5-6C2A-FE1A6E783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25329-19B1-57AF-A79F-C36400131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0A65-4501-E507-5774-5BCCEB27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1CF8-5368-8098-7AF1-D356083C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39132-4C0F-EFB5-96FE-CEAB471B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2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369C1-91A6-0F28-A3CB-1F9D5EA0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67DDB-D4CB-D996-486F-A67282756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D6127-DE13-EBB2-485A-F7E61A8E0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58114-5B0D-453D-AF09-E49C763A39AE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F4642-F97B-2A36-2435-E2EDACD29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7F2FE-20A8-93DF-2710-F8611DBD4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FB788-00D0-42E2-AEE9-EFEC54BB94A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066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cibc.com/en/privacy-security/banking-fraud/scam-quiz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B746-13D5-36F9-1643-327C783CF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073"/>
            <a:ext cx="9144000" cy="1181486"/>
          </a:xfrm>
        </p:spPr>
        <p:txBody>
          <a:bodyPr>
            <a:normAutofit/>
          </a:bodyPr>
          <a:lstStyle/>
          <a:p>
            <a:r>
              <a:rPr lang="en-CA" dirty="0"/>
              <a:t>Elderly victims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E8C29-2F4E-3BAC-87CE-B9A345FE74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 descr="A person holding a phone and a credit card&#10;&#10;Description automatically generated">
            <a:extLst>
              <a:ext uri="{FF2B5EF4-FFF2-40B4-BE49-F238E27FC236}">
                <a16:creationId xmlns:a16="http://schemas.microsoft.com/office/drawing/2014/main" id="{646B9A66-AC6C-DAF8-2477-11A267A75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024" y="1783703"/>
            <a:ext cx="6925135" cy="422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7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E130-9F63-E6EA-719E-C09FA503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57"/>
            <a:ext cx="10515600" cy="988828"/>
          </a:xfrm>
        </p:spPr>
        <p:txBody>
          <a:bodyPr/>
          <a:lstStyle/>
          <a:p>
            <a:pPr algn="ctr"/>
            <a:r>
              <a:rPr lang="en-CA" dirty="0"/>
              <a:t>Elder abuse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494B-B421-6EF1-93F2-460F4076A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37685"/>
            <a:ext cx="10878879" cy="5355190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Definition: harm perpetrated against an older person by someone in a special relationship to them, including:</a:t>
            </a:r>
          </a:p>
          <a:p>
            <a:endParaRPr lang="en-CA" dirty="0"/>
          </a:p>
          <a:p>
            <a:r>
              <a:rPr lang="en-CA" b="1" dirty="0"/>
              <a:t>    Physical abuse </a:t>
            </a:r>
            <a:r>
              <a:rPr lang="en-CA" dirty="0"/>
              <a:t>such as slapping, pushing, beating or forced confinement;</a:t>
            </a:r>
          </a:p>
          <a:p>
            <a:r>
              <a:rPr lang="en-CA" dirty="0"/>
              <a:t>    </a:t>
            </a:r>
            <a:r>
              <a:rPr lang="en-CA" b="1" dirty="0"/>
              <a:t>Financial abuse </a:t>
            </a:r>
            <a:r>
              <a:rPr lang="en-CA" dirty="0"/>
              <a:t>such as stealing, fraud, extortion and misusing a power of attorney;</a:t>
            </a:r>
          </a:p>
          <a:p>
            <a:r>
              <a:rPr lang="en-CA" dirty="0"/>
              <a:t>    </a:t>
            </a:r>
            <a:r>
              <a:rPr lang="en-CA" b="1" dirty="0"/>
              <a:t>Sexual abuse </a:t>
            </a:r>
            <a:r>
              <a:rPr lang="en-CA" dirty="0"/>
              <a:t>as sexual assault or any unwanted form of sexual activity;</a:t>
            </a:r>
          </a:p>
          <a:p>
            <a:r>
              <a:rPr lang="en-CA" dirty="0"/>
              <a:t>    </a:t>
            </a:r>
            <a:r>
              <a:rPr lang="en-CA" b="1" dirty="0"/>
              <a:t>Neglect </a:t>
            </a:r>
            <a:r>
              <a:rPr lang="en-CA" dirty="0"/>
              <a:t>as failing to give an older person in your care food, medical attention or other necessary care, or abandoning an older person in your care; and</a:t>
            </a:r>
          </a:p>
          <a:p>
            <a:r>
              <a:rPr lang="en-CA" dirty="0"/>
              <a:t>    </a:t>
            </a:r>
            <a:r>
              <a:rPr lang="en-CA" b="1" dirty="0"/>
              <a:t>Emotional abuse </a:t>
            </a:r>
            <a:r>
              <a:rPr lang="en-CA" dirty="0"/>
              <a:t>as in treating an older person like a child or humiliating, insulting, frightening, threatening or ignoring an older person (ACE 2013).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25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32F6-4BF5-9088-7951-9B035BBA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C6CED41-0301-A70D-AE7C-6969DEADD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76" y="513708"/>
            <a:ext cx="10242521" cy="5469891"/>
          </a:xfrm>
        </p:spPr>
      </p:pic>
    </p:spTree>
    <p:extLst>
      <p:ext uri="{BB962C8B-B14F-4D97-AF65-F5344CB8AC3E}">
        <p14:creationId xmlns:p14="http://schemas.microsoft.com/office/powerpoint/2010/main" val="20133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8C39-EF1B-6ADF-FBE0-7FB08A31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0605"/>
          </a:xfrm>
        </p:spPr>
        <p:txBody>
          <a:bodyPr/>
          <a:lstStyle/>
          <a:p>
            <a:pPr algn="ctr"/>
            <a:r>
              <a:rPr lang="en-CA" dirty="0"/>
              <a:t>Overview – Violence stats </a:t>
            </a:r>
            <a:r>
              <a:rPr lang="en-CA" sz="2400" dirty="0"/>
              <a:t>(StatsCan 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1F75E-1C76-7E12-4960-4CA1AA867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19" y="850605"/>
            <a:ext cx="11270511" cy="5847907"/>
          </a:xfrm>
        </p:spPr>
        <p:txBody>
          <a:bodyPr>
            <a:normAutofit fontScale="62500" lnSpcReduction="20000"/>
          </a:bodyPr>
          <a:lstStyle/>
          <a:p>
            <a:r>
              <a:rPr lang="en-CA" b="1" dirty="0"/>
              <a:t>There were about 128,000 senior victims of violence in Canada in 2019</a:t>
            </a:r>
            <a:r>
              <a:rPr lang="en-CA" dirty="0"/>
              <a:t>. </a:t>
            </a:r>
          </a:p>
          <a:p>
            <a:r>
              <a:rPr lang="en-CA" dirty="0"/>
              <a:t>Overall, three-quarters (76%) of seniors who reported experiencing violent victimization in 2019 were </a:t>
            </a:r>
            <a:r>
              <a:rPr lang="en-CA" b="1" dirty="0"/>
              <a:t>physically assaulted</a:t>
            </a:r>
            <a:r>
              <a:rPr lang="en-CA" dirty="0"/>
              <a:t>.</a:t>
            </a:r>
          </a:p>
          <a:p>
            <a:r>
              <a:rPr lang="en-CA" dirty="0"/>
              <a:t>The rate of police-reported violence against seniors increased 22% between 2010 and 2020, with the largest increase observed in the past five years among </a:t>
            </a:r>
            <a:r>
              <a:rPr lang="en-CA" b="1" dirty="0"/>
              <a:t>senior men</a:t>
            </a:r>
            <a:r>
              <a:rPr lang="en-CA" dirty="0"/>
              <a:t>. </a:t>
            </a:r>
          </a:p>
          <a:p>
            <a:r>
              <a:rPr lang="en-CA" dirty="0"/>
              <a:t>In 2020, nearly two-thirds (64%) of senior victims of police-reported violence were victimized by someone other than a family member or intimate partner. </a:t>
            </a:r>
            <a:r>
              <a:rPr lang="en-CA" b="1" dirty="0"/>
              <a:t>Acquaintances </a:t>
            </a:r>
            <a:r>
              <a:rPr lang="en-CA" dirty="0"/>
              <a:t>were implicated for more than one in four (28%) senior victims of violence while one-quarter (24%) of senior victims were victimized by </a:t>
            </a:r>
            <a:r>
              <a:rPr lang="en-CA" b="1" dirty="0"/>
              <a:t>stranger</a:t>
            </a:r>
            <a:r>
              <a:rPr lang="en-CA" dirty="0"/>
              <a:t>.</a:t>
            </a:r>
          </a:p>
          <a:p>
            <a:r>
              <a:rPr lang="en-CA" dirty="0"/>
              <a:t>    </a:t>
            </a:r>
            <a:r>
              <a:rPr lang="en-CA" b="1" dirty="0"/>
              <a:t>Senior women </a:t>
            </a:r>
            <a:r>
              <a:rPr lang="en-CA" dirty="0"/>
              <a:t>who experienced police-reported violence were twice as likely to have been victimized by an </a:t>
            </a:r>
            <a:r>
              <a:rPr lang="en-CA" b="1" dirty="0"/>
              <a:t>intimate partner </a:t>
            </a:r>
            <a:r>
              <a:rPr lang="en-CA" dirty="0"/>
              <a:t>compared with senior men (16% versus 7%).</a:t>
            </a:r>
          </a:p>
          <a:p>
            <a:r>
              <a:rPr lang="en-CA" dirty="0"/>
              <a:t>    More than half </a:t>
            </a:r>
            <a:r>
              <a:rPr lang="en-CA" b="1" dirty="0"/>
              <a:t>(60%) </a:t>
            </a:r>
            <a:r>
              <a:rPr lang="en-CA" dirty="0"/>
              <a:t>of all police-reported violence against seniors </a:t>
            </a:r>
            <a:r>
              <a:rPr lang="en-CA" b="1" dirty="0"/>
              <a:t>involved the use of physical force </a:t>
            </a:r>
            <a:r>
              <a:rPr lang="en-CA" dirty="0"/>
              <a:t>and an additional 19% involved </a:t>
            </a:r>
            <a:r>
              <a:rPr lang="en-CA" b="1" dirty="0"/>
              <a:t>the presence of a weapon</a:t>
            </a:r>
            <a:r>
              <a:rPr lang="en-CA" dirty="0"/>
              <a:t>. </a:t>
            </a:r>
          </a:p>
          <a:p>
            <a:r>
              <a:rPr lang="en-CA" dirty="0"/>
              <a:t>The rate of police-reported violence </a:t>
            </a:r>
            <a:r>
              <a:rPr lang="en-CA" b="1" dirty="0"/>
              <a:t>was higher for senior men </a:t>
            </a:r>
            <a:r>
              <a:rPr lang="en-CA" dirty="0"/>
              <a:t>than senior women in every province and territory in 2020, and in nearly all census metropolitan areas.</a:t>
            </a:r>
          </a:p>
          <a:p>
            <a:r>
              <a:rPr lang="en-CA" dirty="0"/>
              <a:t>    In 2020, the overall rate of police-reported senior victimization in the provinces was </a:t>
            </a:r>
            <a:r>
              <a:rPr lang="en-CA" b="1" dirty="0"/>
              <a:t>higher in rural </a:t>
            </a:r>
            <a:r>
              <a:rPr lang="en-CA" dirty="0"/>
              <a:t>compared to urban areas (247 versus 214 per 100,000 population).</a:t>
            </a:r>
          </a:p>
          <a:p>
            <a:r>
              <a:rPr lang="en-CA" dirty="0"/>
              <a:t>    Between 2000 and 2020, </a:t>
            </a:r>
            <a:r>
              <a:rPr lang="en-CA" b="1" dirty="0"/>
              <a:t>944 seniors were victims of homicide </a:t>
            </a:r>
            <a:r>
              <a:rPr lang="en-CA" dirty="0"/>
              <a:t>in Canada, which accounted for 7% of all homicide victims during this time. The homicide rate among seniors increased between 2010 and 2020 (+9%), driven by the homicides of senior men (+28%).</a:t>
            </a:r>
          </a:p>
          <a:p>
            <a:r>
              <a:rPr lang="en-CA" dirty="0"/>
              <a:t>    Among senior </a:t>
            </a:r>
            <a:r>
              <a:rPr lang="en-CA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men</a:t>
            </a:r>
            <a:r>
              <a:rPr lang="en-CA" dirty="0"/>
              <a:t> who were homicide victims, two-thirds (67%) were killed by a non-family member, most commonly </a:t>
            </a:r>
            <a:r>
              <a:rPr lang="en-CA" b="1" dirty="0"/>
              <a:t>a friend </a:t>
            </a:r>
            <a:r>
              <a:rPr lang="en-CA" dirty="0"/>
              <a:t>(30%) followed by </a:t>
            </a:r>
            <a:r>
              <a:rPr lang="en-CA" b="1" dirty="0"/>
              <a:t>a stranger </a:t>
            </a:r>
            <a:r>
              <a:rPr lang="en-CA" dirty="0"/>
              <a:t>(20%) or </a:t>
            </a:r>
            <a:r>
              <a:rPr lang="en-CA" b="1" dirty="0"/>
              <a:t>an acquaintance </a:t>
            </a:r>
            <a:r>
              <a:rPr lang="en-CA" dirty="0"/>
              <a:t>(17%). Among senior 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women</a:t>
            </a:r>
            <a:r>
              <a:rPr lang="en-CA" dirty="0"/>
              <a:t> who were homicide victims, two-thirds (67%) were killed by </a:t>
            </a:r>
            <a:r>
              <a:rPr lang="en-CA" b="1" dirty="0"/>
              <a:t>an intimate partner </a:t>
            </a:r>
            <a:r>
              <a:rPr lang="en-CA" dirty="0"/>
              <a:t>(32%) </a:t>
            </a:r>
            <a:r>
              <a:rPr lang="en-CA" b="1" dirty="0"/>
              <a:t>or family member </a:t>
            </a:r>
            <a:r>
              <a:rPr lang="en-CA" dirty="0"/>
              <a:t>(35%), while one in eight (13%) senior women were killed by a stranger.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750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B96B-E3EA-1F0A-495E-3CDB2B7A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8977"/>
            <a:ext cx="10515600" cy="1552355"/>
          </a:xfrm>
        </p:spPr>
        <p:txBody>
          <a:bodyPr/>
          <a:lstStyle/>
          <a:p>
            <a:r>
              <a:rPr lang="en-CA" dirty="0"/>
              <a:t>Risk factors  </a:t>
            </a:r>
            <a:r>
              <a:rPr lang="en-CA" sz="2000" dirty="0"/>
              <a:t>(</a:t>
            </a:r>
            <a:r>
              <a:rPr lang="en-CA" sz="2000" b="1" dirty="0" err="1"/>
              <a:t>Cdn</a:t>
            </a:r>
            <a:r>
              <a:rPr lang="en-CA" sz="2000" b="1" dirty="0"/>
              <a:t> Research Ctr for Victims of Crime)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D56B-7CEE-3112-6990-AFE5CDD2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828"/>
            <a:ext cx="10515600" cy="55040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● The senior citizen is socially isolated, especially due to physical disabilities or impairment.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● The victim suffers from some form of mental impairment, for example, dementia.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● The senior citizen has substance abuse problems, for example, alcohol or medication.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● Language barriers for the elderly person.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● Cultural barriers for the elderly person.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● Being a woman; women are at a greater risk of being victimized.</a:t>
            </a:r>
          </a:p>
        </p:txBody>
      </p:sp>
    </p:spTree>
    <p:extLst>
      <p:ext uri="{BB962C8B-B14F-4D97-AF65-F5344CB8AC3E}">
        <p14:creationId xmlns:p14="http://schemas.microsoft.com/office/powerpoint/2010/main" val="8993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4F04-BCD6-9409-8126-0AE06075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3824"/>
          </a:xfrm>
        </p:spPr>
        <p:txBody>
          <a:bodyPr>
            <a:normAutofit fontScale="90000"/>
          </a:bodyPr>
          <a:lstStyle/>
          <a:p>
            <a:r>
              <a:rPr lang="en-CA" sz="4000" b="1" dirty="0"/>
              <a:t>AREAS OF GREATEST VULNERABILITY FOR SENIORS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E587-E49E-6A6A-C04C-8327629BC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009"/>
            <a:ext cx="10515600" cy="4932954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CA" b="1" dirty="0"/>
              <a:t>Financial crimes by strangers.</a:t>
            </a:r>
            <a:r>
              <a:rPr lang="en-CA" dirty="0"/>
              <a:t> A variety of fraudulent schemes fall in this category, including Ponzi schemes (investment), false promises of prizes, aggressive telemarketing, schemes involving health products, and fraudulent home repairs.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CA" b="1" dirty="0"/>
              <a:t>Crime and abuse by relatives and caregivers.</a:t>
            </a:r>
            <a:r>
              <a:rPr lang="en-CA" dirty="0"/>
              <a:t> This includes the full range of crime and abuse, including physical, emotional, and sexual abuse, as well as financial exploitation and neglect. 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CA" b="1" dirty="0"/>
              <a:t>Crime and abuse in institutional settings (nursing homes).</a:t>
            </a:r>
            <a:r>
              <a:rPr lang="en-CA" dirty="0"/>
              <a:t> Again, physical, sexual, and emotional abuse, as well as systemic abuse. (Gabor and Kiedrowski 2009). </a:t>
            </a:r>
          </a:p>
          <a:p>
            <a:pPr>
              <a:spcAft>
                <a:spcPts val="1200"/>
              </a:spcAft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944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2ED3-5C06-FA7C-9E98-B8B93A6B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3"/>
            <a:ext cx="10515600" cy="1020727"/>
          </a:xfrm>
        </p:spPr>
        <p:txBody>
          <a:bodyPr/>
          <a:lstStyle/>
          <a:p>
            <a:pPr algn="ctr"/>
            <a:r>
              <a:rPr lang="en-CA" dirty="0"/>
              <a:t>Fraud and senior citizens</a:t>
            </a:r>
          </a:p>
        </p:txBody>
      </p:sp>
      <p:pic>
        <p:nvPicPr>
          <p:cNvPr id="5" name="Content Placeholder 4" descr="A person and person walking down a sidewalk&#10;&#10;Description automatically generated">
            <a:extLst>
              <a:ext uri="{FF2B5EF4-FFF2-40B4-BE49-F238E27FC236}">
                <a16:creationId xmlns:a16="http://schemas.microsoft.com/office/drawing/2014/main" id="{D0F82C92-975C-2336-4E59-249C9E430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984" y="1057339"/>
            <a:ext cx="7165029" cy="5800661"/>
          </a:xfrm>
        </p:spPr>
      </p:pic>
    </p:spTree>
    <p:extLst>
      <p:ext uri="{BB962C8B-B14F-4D97-AF65-F5344CB8AC3E}">
        <p14:creationId xmlns:p14="http://schemas.microsoft.com/office/powerpoint/2010/main" val="80397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7085-9919-F547-948C-2B8CCD62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102" y="191386"/>
            <a:ext cx="2615610" cy="4976037"/>
          </a:xfrm>
        </p:spPr>
        <p:txBody>
          <a:bodyPr>
            <a:normAutofit/>
          </a:bodyPr>
          <a:lstStyle/>
          <a:p>
            <a:r>
              <a:rPr lang="en-CA" dirty="0"/>
              <a:t>Recent London case: </a:t>
            </a:r>
          </a:p>
        </p:txBody>
      </p:sp>
      <p:pic>
        <p:nvPicPr>
          <p:cNvPr id="7" name="Content Placeholder 6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92D40A89-AB7D-2DC3-BF33-FADCBFA26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7585" y="0"/>
            <a:ext cx="9229060" cy="6950409"/>
          </a:xfrm>
        </p:spPr>
      </p:pic>
    </p:spTree>
    <p:extLst>
      <p:ext uri="{BB962C8B-B14F-4D97-AF65-F5344CB8AC3E}">
        <p14:creationId xmlns:p14="http://schemas.microsoft.com/office/powerpoint/2010/main" val="325776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FEFF-FB33-2E73-A818-76931EAF0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0540"/>
          </a:xfrm>
        </p:spPr>
        <p:txBody>
          <a:bodyPr>
            <a:normAutofit fontScale="90000"/>
          </a:bodyPr>
          <a:lstStyle/>
          <a:p>
            <a:r>
              <a:rPr lang="en-CA" dirty="0"/>
              <a:t>Ebner et al. 2023</a:t>
            </a:r>
          </a:p>
        </p:txBody>
      </p:sp>
      <p:pic>
        <p:nvPicPr>
          <p:cNvPr id="5" name="Content Placeholder 4" descr="A diagram of two people&#10;&#10;Description automatically generated">
            <a:extLst>
              <a:ext uri="{FF2B5EF4-FFF2-40B4-BE49-F238E27FC236}">
                <a16:creationId xmlns:a16="http://schemas.microsoft.com/office/drawing/2014/main" id="{9A7E954A-48D7-2EA8-9655-C80EB982A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9" y="1176762"/>
            <a:ext cx="9538641" cy="54724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537AFF-4333-D1D5-4D7E-93FB729977F3}"/>
              </a:ext>
            </a:extLst>
          </p:cNvPr>
          <p:cNvSpPr txBox="1"/>
          <p:nvPr/>
        </p:nvSpPr>
        <p:spPr>
          <a:xfrm>
            <a:off x="838200" y="1403498"/>
            <a:ext cx="2383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Loneliness, cognitive declines, dementia, declining deception detection</a:t>
            </a:r>
          </a:p>
        </p:txBody>
      </p:sp>
    </p:spTree>
    <p:extLst>
      <p:ext uri="{BB962C8B-B14F-4D97-AF65-F5344CB8AC3E}">
        <p14:creationId xmlns:p14="http://schemas.microsoft.com/office/powerpoint/2010/main" val="79955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436D-1056-691B-375D-B9B48EF0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Text scam:</a:t>
            </a:r>
          </a:p>
        </p:txBody>
      </p:sp>
      <p:pic>
        <p:nvPicPr>
          <p:cNvPr id="5" name="Content Placeholder 4" descr="A screenshot of a chat&#10;&#10;Description automatically generated">
            <a:extLst>
              <a:ext uri="{FF2B5EF4-FFF2-40B4-BE49-F238E27FC236}">
                <a16:creationId xmlns:a16="http://schemas.microsoft.com/office/drawing/2014/main" id="{922CD357-94F3-C337-E7A4-85C32C36F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08" y="1391624"/>
            <a:ext cx="6836736" cy="5189929"/>
          </a:xfrm>
        </p:spPr>
      </p:pic>
    </p:spTree>
    <p:extLst>
      <p:ext uri="{BB962C8B-B14F-4D97-AF65-F5344CB8AC3E}">
        <p14:creationId xmlns:p14="http://schemas.microsoft.com/office/powerpoint/2010/main" val="242774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D2392-3749-5E52-098F-A7640954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Safe or scam?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61FF5-E387-9BF0-DB4A-BBDC5D89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https://www.cibc.com/en/privacy-security/banking-fraud/scam-quiz.html</a:t>
            </a:r>
            <a:endParaRPr lang="en-CA" dirty="0"/>
          </a:p>
          <a:p>
            <a:endParaRPr lang="en-CA" dirty="0"/>
          </a:p>
        </p:txBody>
      </p:sp>
      <p:pic>
        <p:nvPicPr>
          <p:cNvPr id="5" name="Picture 4" descr="A computer screen with a lamp and a pie chart&#10;&#10;Description automatically generated">
            <a:extLst>
              <a:ext uri="{FF2B5EF4-FFF2-40B4-BE49-F238E27FC236}">
                <a16:creationId xmlns:a16="http://schemas.microsoft.com/office/drawing/2014/main" id="{DDC2262D-C0A6-1DBB-FD18-8883A9060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40" y="2775098"/>
            <a:ext cx="5460288" cy="33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0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508A-0376-621D-ED86-255E785F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</p:spPr>
        <p:txBody>
          <a:bodyPr>
            <a:normAutofit fontScale="90000"/>
          </a:bodyPr>
          <a:lstStyle/>
          <a:p>
            <a:r>
              <a:rPr lang="en-CA" dirty="0"/>
              <a:t>Impacts of financial fraud on elderly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8ECF-FDD2-59CC-5040-0C48095BD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256"/>
            <a:ext cx="10515600" cy="5113707"/>
          </a:xfrm>
        </p:spPr>
        <p:txBody>
          <a:bodyPr/>
          <a:lstStyle/>
          <a:p>
            <a:r>
              <a:rPr lang="en-CA" dirty="0"/>
              <a:t>Can be emotionally and psychologically devastating.</a:t>
            </a:r>
          </a:p>
          <a:p>
            <a:r>
              <a:rPr lang="en-CA" dirty="0"/>
              <a:t>One of the more common impacts (Reid 2024):</a:t>
            </a:r>
          </a:p>
          <a:p>
            <a:endParaRPr lang="en-CA" dirty="0"/>
          </a:p>
        </p:txBody>
      </p:sp>
      <p:pic>
        <p:nvPicPr>
          <p:cNvPr id="7" name="Picture 6" descr="A screenshot of a medical message&#10;&#10;Description automatically generated">
            <a:extLst>
              <a:ext uri="{FF2B5EF4-FFF2-40B4-BE49-F238E27FC236}">
                <a16:creationId xmlns:a16="http://schemas.microsoft.com/office/drawing/2014/main" id="{3607EAC8-987A-97EB-B69C-3897E19E9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654" y="1950144"/>
            <a:ext cx="7072346" cy="472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9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6A73-E9E1-A166-3FC7-9F87B04E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10515600" cy="893688"/>
          </a:xfrm>
        </p:spPr>
        <p:txBody>
          <a:bodyPr/>
          <a:lstStyle/>
          <a:p>
            <a:pPr algn="ctr"/>
            <a:r>
              <a:rPr lang="en-CA" dirty="0"/>
              <a:t>Care facilities – resident on resident</a:t>
            </a:r>
          </a:p>
        </p:txBody>
      </p:sp>
      <p:pic>
        <p:nvPicPr>
          <p:cNvPr id="5" name="Content Placeholder 4" descr="A person standing in a hallway&#10;&#10;Description automatically generated">
            <a:extLst>
              <a:ext uri="{FF2B5EF4-FFF2-40B4-BE49-F238E27FC236}">
                <a16:creationId xmlns:a16="http://schemas.microsoft.com/office/drawing/2014/main" id="{C4D5D909-7FE8-A344-1EB5-D693DADE6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" y="1968185"/>
            <a:ext cx="4594665" cy="2921630"/>
          </a:xfrm>
        </p:spPr>
      </p:pic>
      <p:pic>
        <p:nvPicPr>
          <p:cNvPr id="8" name="Picture 7" descr="A graph of a number of people with red bars&#10;&#10;Description automatically generated with medium confidence">
            <a:extLst>
              <a:ext uri="{FF2B5EF4-FFF2-40B4-BE49-F238E27FC236}">
                <a16:creationId xmlns:a16="http://schemas.microsoft.com/office/drawing/2014/main" id="{6C470E6A-CF5E-6D35-FAD0-71604D53C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260" y="978749"/>
            <a:ext cx="7360028" cy="44960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08BA2B-7684-F9C0-01C3-C2F31E1E218A}"/>
              </a:ext>
            </a:extLst>
          </p:cNvPr>
          <p:cNvSpPr txBox="1"/>
          <p:nvPr/>
        </p:nvSpPr>
        <p:spPr>
          <a:xfrm>
            <a:off x="4754153" y="5709684"/>
            <a:ext cx="637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Source: CBC News</a:t>
            </a:r>
          </a:p>
        </p:txBody>
      </p:sp>
    </p:spTree>
    <p:extLst>
      <p:ext uri="{BB962C8B-B14F-4D97-AF65-F5344CB8AC3E}">
        <p14:creationId xmlns:p14="http://schemas.microsoft.com/office/powerpoint/2010/main" val="3302706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AC5E-72FC-34BC-9D36-1CD893134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498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/>
              <a:t>Care facilities - staff</a:t>
            </a:r>
          </a:p>
        </p:txBody>
      </p:sp>
      <p:pic>
        <p:nvPicPr>
          <p:cNvPr id="5" name="Content Placeholder 4" descr="A person with glasses and a person in a black shirt&#10;&#10;Description automatically generated">
            <a:extLst>
              <a:ext uri="{FF2B5EF4-FFF2-40B4-BE49-F238E27FC236}">
                <a16:creationId xmlns:a16="http://schemas.microsoft.com/office/drawing/2014/main" id="{FC6454DB-67E5-C368-4EFB-65498E606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33" y="1297171"/>
            <a:ext cx="6835040" cy="45608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C010EA-5DFD-C718-C3E5-98299B488192}"/>
              </a:ext>
            </a:extLst>
          </p:cNvPr>
          <p:cNvSpPr txBox="1"/>
          <p:nvPr/>
        </p:nvSpPr>
        <p:spPr>
          <a:xfrm>
            <a:off x="7474688" y="1392865"/>
            <a:ext cx="4401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Elizabeth </a:t>
            </a:r>
            <a:r>
              <a:rPr lang="en-CA" sz="2400" dirty="0" err="1"/>
              <a:t>Wettlaufer</a:t>
            </a:r>
            <a:r>
              <a:rPr lang="en-CA" sz="2400" dirty="0"/>
              <a:t> was a nurse at several long-term care facilities in southwestern Ontario, including London. She killed patients by giving them lethal doses of insulin. </a:t>
            </a:r>
          </a:p>
          <a:p>
            <a:endParaRPr lang="en-CA" sz="2400" dirty="0"/>
          </a:p>
          <a:p>
            <a:r>
              <a:rPr lang="en-CA" sz="2400" dirty="0"/>
              <a:t>How was she caught? She quit her nursing job in 2016, checked into a psychiatric hospital and confessed her crimes. </a:t>
            </a:r>
          </a:p>
        </p:txBody>
      </p:sp>
    </p:spTree>
    <p:extLst>
      <p:ext uri="{BB962C8B-B14F-4D97-AF65-F5344CB8AC3E}">
        <p14:creationId xmlns:p14="http://schemas.microsoft.com/office/powerpoint/2010/main" val="3438925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3024-259D-486A-B437-25C9A246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b="1" dirty="0"/>
              <a:t>*all done!*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6F011-9408-41AF-A555-85D493F20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141" y="1825625"/>
            <a:ext cx="3729718" cy="4351338"/>
          </a:xfrm>
        </p:spPr>
      </p:pic>
    </p:spTree>
    <p:extLst>
      <p:ext uri="{BB962C8B-B14F-4D97-AF65-F5344CB8AC3E}">
        <p14:creationId xmlns:p14="http://schemas.microsoft.com/office/powerpoint/2010/main" val="84744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847</Words>
  <Application>Microsoft Office PowerPoint</Application>
  <PresentationFormat>宽屏</PresentationFormat>
  <Paragraphs>53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Theme</vt:lpstr>
      <vt:lpstr>Elderly victims</vt:lpstr>
      <vt:lpstr>Elder abuse </vt:lpstr>
      <vt:lpstr>PowerPoint 演示文稿</vt:lpstr>
      <vt:lpstr>Overview – Violence stats (StatsCan 2022)</vt:lpstr>
      <vt:lpstr>Risk factors  (Cdn Research Ctr for Victims of Crime)</vt:lpstr>
      <vt:lpstr>AREAS OF GREATEST VULNERABILITY FOR SENIORS </vt:lpstr>
      <vt:lpstr>Fraud and senior citizens</vt:lpstr>
      <vt:lpstr>Recent London case: </vt:lpstr>
      <vt:lpstr>Ebner et al. 2023</vt:lpstr>
      <vt:lpstr>Text scam:</vt:lpstr>
      <vt:lpstr>Safe or scam? </vt:lpstr>
      <vt:lpstr>Impacts of financial fraud on elderly</vt:lpstr>
      <vt:lpstr>Care facilities – resident on resident</vt:lpstr>
      <vt:lpstr>Care facilities - staff</vt:lpstr>
      <vt:lpstr>*all done!*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Huey</dc:creator>
  <cp:lastModifiedBy>Laura Huey</cp:lastModifiedBy>
  <cp:revision>15</cp:revision>
  <dcterms:created xsi:type="dcterms:W3CDTF">2024-06-25T22:16:08Z</dcterms:created>
  <dcterms:modified xsi:type="dcterms:W3CDTF">2026-04-01T22:15:46Z</dcterms:modified>
</cp:coreProperties>
</file>