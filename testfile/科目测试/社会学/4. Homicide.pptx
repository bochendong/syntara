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351" r:id="rId5"/>
    <p:sldId id="261" r:id="rId6"/>
    <p:sldId id="352" r:id="rId7"/>
    <p:sldId id="350" r:id="rId8"/>
    <p:sldId id="347" r:id="rId9"/>
    <p:sldId id="346" r:id="rId10"/>
    <p:sldId id="344" r:id="rId11"/>
    <p:sldId id="345" r:id="rId12"/>
    <p:sldId id="348" r:id="rId13"/>
    <p:sldId id="357" r:id="rId14"/>
    <p:sldId id="356" r:id="rId15"/>
    <p:sldId id="353" r:id="rId16"/>
    <p:sldId id="354" r:id="rId17"/>
    <p:sldId id="355" r:id="rId18"/>
    <p:sldId id="358" r:id="rId19"/>
    <p:sldId id="34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79D4-3DB6-233F-1336-31397F05E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6425A96-07E1-7018-8AF1-626284069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34867C6-8FCD-E5C2-C286-557F525A3E53}"/>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E76E3C33-4C26-18BD-DA95-BF7EB75A10B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F1B6BE-8C83-8FEF-6250-7C8CC1984EDF}"/>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93649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5312-40DE-B921-76F2-C42EAAF30BF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E41E338-371A-FDDD-3E66-B67BB58F41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97103A8-F4E4-2E47-EBF3-A4A40AA4D548}"/>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2BAF49CC-E40C-5133-9BC8-C4FC5AEEDAB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F313DC6-C69E-81A8-05A5-5D1A7342F7D7}"/>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23382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D1E60-DA69-6BF1-3566-FB50435D7E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8709DFB-657A-27A5-CA0E-0381DD0FB6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8A8208-3D34-2731-D3AD-10A4BB528160}"/>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E11FB5BD-CF01-B98F-07C3-DF94C50154B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88774A-A174-3773-66B4-6E669216F96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404271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DCDBD-1B4D-9D34-8FD6-CFB341ED8F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88DF70C-1D80-80F5-93CF-1C749CF7A4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C122741-8388-8FA1-A5D4-B8DD6EA71F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AD0AC0F-39E7-8E6F-FD33-B50EBCDC9D7F}"/>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9ACE06D7-B536-8A54-3192-E3823371198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A20091-337B-1AB5-AD57-E3DCAB25CA9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3644622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F157-40C7-83B8-18F3-2912F5E62FF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6559A3D-AB14-5ACB-F9D7-966A6E50F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671DCB-31E8-EE50-941B-2559F20F14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8C6484C-6C1E-C715-C359-A0D81DDEE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54616-7BA1-730C-177A-820691D7F9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A0AC0DB-A101-848E-7EC9-2682DB71E2E1}"/>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8" name="Footer Placeholder 7">
            <a:extLst>
              <a:ext uri="{FF2B5EF4-FFF2-40B4-BE49-F238E27FC236}">
                <a16:creationId xmlns:a16="http://schemas.microsoft.com/office/drawing/2014/main" id="{876A9D86-33F7-D98F-9A42-58430DB4AE7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A722632-0EFD-B3F7-E84E-6C469D40741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311593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70A2D-3EFB-D3DA-1C28-CB9E87EC77C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CB61E45-3FFB-5B5A-01F2-E1D4E548C3E0}"/>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4" name="Footer Placeholder 3">
            <a:extLst>
              <a:ext uri="{FF2B5EF4-FFF2-40B4-BE49-F238E27FC236}">
                <a16:creationId xmlns:a16="http://schemas.microsoft.com/office/drawing/2014/main" id="{97E3D24A-3358-3640-F802-A9D39663B7A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5DCF901-DDC7-A135-4CE8-FC6ECDB5DAA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23927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D671A-16A7-ACAF-208F-A42B71C399FF}"/>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3" name="Footer Placeholder 2">
            <a:extLst>
              <a:ext uri="{FF2B5EF4-FFF2-40B4-BE49-F238E27FC236}">
                <a16:creationId xmlns:a16="http://schemas.microsoft.com/office/drawing/2014/main" id="{7C98B097-3117-3057-331D-369AB68EF93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7F7D43C2-A04A-F6A8-1064-D592C5039C1E}"/>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92744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5E07-A0CB-41DA-B150-20EC75848F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1893907-815C-CA54-9333-D59A5B8EA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49FAA06-CEDC-8E0D-B075-B1E53B3CD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0DEBD1-F16D-6225-676D-8CADC2C2342D}"/>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9F0CCC09-F8B5-220C-1E3C-E0BAB35C21E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0B5C793-E616-0943-A2C9-CD191F7138A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074737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81C6-54EF-382E-1CA1-394660B74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E408A91-1960-85E8-FF59-4D27AD9F8A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BC57E32-0EA7-00E4-9F54-D80B3B859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23A70-AE33-08E4-1B46-29D613AB28B6}"/>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05CD6245-0AB4-BBB4-1CDC-CED35ED0CFE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37B2C9F-BE5E-7525-E6E8-A5C9E018FB8A}"/>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913816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76CFA-4454-C13D-7242-F8E0635DF07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8343AE7-C514-FFA8-207E-687BC1BF9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470D93-EFD0-2E8B-4555-EBFAECB3B96E}"/>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DA15F93E-37DB-A47E-E7AE-D04A1171FB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99A97-8786-937C-0506-DF4264A6C50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4157410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63C24-3F85-8F8E-3BEC-34119E1A2D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1D39F99-396E-934F-2107-E703F014CC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50F2A70-E38C-5F7D-6B8E-A4A9B602F1CB}"/>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29A7F15D-550E-CA57-2D47-81A75919744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6758AFF-D963-6435-9F53-36BA2B520CEC}"/>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490794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A95C4C-BDF3-524B-8EEC-142C34A27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8AE0A81-7747-BD63-8BC0-20EA265092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B8DFB0B-4E11-7D5F-004E-744BC140E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C162EF36-4946-EB73-F7D2-840BB65A37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728375C-1FB5-428F-7433-9D8D9CE23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EDEB99-FB56-4F45-B0A6-92B1F62C12EC}" type="slidenum">
              <a:rPr lang="en-CA" smtClean="0"/>
              <a:t>‹#›</a:t>
            </a:fld>
            <a:endParaRPr lang="en-CA"/>
          </a:p>
        </p:txBody>
      </p:sp>
    </p:spTree>
    <p:extLst>
      <p:ext uri="{BB962C8B-B14F-4D97-AF65-F5344CB8AC3E}">
        <p14:creationId xmlns:p14="http://schemas.microsoft.com/office/powerpoint/2010/main" val="266662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B131F-B5A1-3A70-E38D-C2D5FFFD9D21}"/>
              </a:ext>
            </a:extLst>
          </p:cNvPr>
          <p:cNvSpPr>
            <a:spLocks noGrp="1"/>
          </p:cNvSpPr>
          <p:nvPr>
            <p:ph type="ctrTitle"/>
          </p:nvPr>
        </p:nvSpPr>
        <p:spPr>
          <a:xfrm>
            <a:off x="1524000" y="512085"/>
            <a:ext cx="9144000" cy="1088115"/>
          </a:xfrm>
        </p:spPr>
        <p:txBody>
          <a:bodyPr/>
          <a:lstStyle/>
          <a:p>
            <a:r>
              <a:rPr lang="en-CA" dirty="0"/>
              <a:t>Homicide</a:t>
            </a:r>
          </a:p>
        </p:txBody>
      </p:sp>
      <p:sp>
        <p:nvSpPr>
          <p:cNvPr id="3" name="Subtitle 2">
            <a:extLst>
              <a:ext uri="{FF2B5EF4-FFF2-40B4-BE49-F238E27FC236}">
                <a16:creationId xmlns:a16="http://schemas.microsoft.com/office/drawing/2014/main" id="{0E824C7F-1501-AAD7-8AF6-27A093C7DFBA}"/>
              </a:ext>
            </a:extLst>
          </p:cNvPr>
          <p:cNvSpPr>
            <a:spLocks noGrp="1"/>
          </p:cNvSpPr>
          <p:nvPr>
            <p:ph type="subTitle" idx="1"/>
          </p:nvPr>
        </p:nvSpPr>
        <p:spPr>
          <a:xfrm>
            <a:off x="1524000" y="3571215"/>
            <a:ext cx="9144000" cy="1655762"/>
          </a:xfrm>
        </p:spPr>
        <p:txBody>
          <a:bodyPr/>
          <a:lstStyle/>
          <a:p>
            <a:endParaRPr lang="en-CA" dirty="0"/>
          </a:p>
        </p:txBody>
      </p:sp>
      <p:pic>
        <p:nvPicPr>
          <p:cNvPr id="6" name="Picture 5" descr="A bulletin board with pictures and notes&#10;&#10;Description automatically generated">
            <a:extLst>
              <a:ext uri="{FF2B5EF4-FFF2-40B4-BE49-F238E27FC236}">
                <a16:creationId xmlns:a16="http://schemas.microsoft.com/office/drawing/2014/main" id="{592677A2-44E6-CAE4-5744-AAFDDCE34D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278" y="2013735"/>
            <a:ext cx="7622523" cy="4344837"/>
          </a:xfrm>
          <a:prstGeom prst="rect">
            <a:avLst/>
          </a:prstGeom>
        </p:spPr>
      </p:pic>
    </p:spTree>
    <p:extLst>
      <p:ext uri="{BB962C8B-B14F-4D97-AF65-F5344CB8AC3E}">
        <p14:creationId xmlns:p14="http://schemas.microsoft.com/office/powerpoint/2010/main" val="13237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F829-66C8-0DFB-16E8-8986273EC14F}"/>
              </a:ext>
            </a:extLst>
          </p:cNvPr>
          <p:cNvSpPr>
            <a:spLocks noGrp="1"/>
          </p:cNvSpPr>
          <p:nvPr>
            <p:ph type="title"/>
          </p:nvPr>
        </p:nvSpPr>
        <p:spPr/>
        <p:txBody>
          <a:bodyPr/>
          <a:lstStyle/>
          <a:p>
            <a:endParaRPr lang="en-CA"/>
          </a:p>
        </p:txBody>
      </p:sp>
      <p:pic>
        <p:nvPicPr>
          <p:cNvPr id="5" name="Content Placeholder 4" descr="A close-up of a map&#10;&#10;Description automatically generated">
            <a:extLst>
              <a:ext uri="{FF2B5EF4-FFF2-40B4-BE49-F238E27FC236}">
                <a16:creationId xmlns:a16="http://schemas.microsoft.com/office/drawing/2014/main" id="{D820D253-0390-78A7-00B7-E04587ABD9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4662" y="0"/>
            <a:ext cx="5088969" cy="8981586"/>
          </a:xfrm>
        </p:spPr>
      </p:pic>
    </p:spTree>
    <p:extLst>
      <p:ext uri="{BB962C8B-B14F-4D97-AF65-F5344CB8AC3E}">
        <p14:creationId xmlns:p14="http://schemas.microsoft.com/office/powerpoint/2010/main" val="4232291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E575-7386-055A-FF7E-B8C342E33B80}"/>
              </a:ext>
            </a:extLst>
          </p:cNvPr>
          <p:cNvSpPr>
            <a:spLocks noGrp="1"/>
          </p:cNvSpPr>
          <p:nvPr>
            <p:ph type="title"/>
          </p:nvPr>
        </p:nvSpPr>
        <p:spPr/>
        <p:txBody>
          <a:bodyPr/>
          <a:lstStyle/>
          <a:p>
            <a:endParaRPr lang="en-CA"/>
          </a:p>
        </p:txBody>
      </p:sp>
      <p:pic>
        <p:nvPicPr>
          <p:cNvPr id="5" name="Content Placeholder 4" descr="A graph of a person's population&#10;&#10;Description automatically generated with medium confidence">
            <a:extLst>
              <a:ext uri="{FF2B5EF4-FFF2-40B4-BE49-F238E27FC236}">
                <a16:creationId xmlns:a16="http://schemas.microsoft.com/office/drawing/2014/main" id="{EFEE38B7-3642-238C-A279-0E3459F8DE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671" y="365125"/>
            <a:ext cx="11004504" cy="5876818"/>
          </a:xfrm>
        </p:spPr>
      </p:pic>
    </p:spTree>
    <p:extLst>
      <p:ext uri="{BB962C8B-B14F-4D97-AF65-F5344CB8AC3E}">
        <p14:creationId xmlns:p14="http://schemas.microsoft.com/office/powerpoint/2010/main" val="549231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8DBB-6C62-F1B3-EC6D-3B6AED2DEBFA}"/>
              </a:ext>
            </a:extLst>
          </p:cNvPr>
          <p:cNvSpPr>
            <a:spLocks noGrp="1"/>
          </p:cNvSpPr>
          <p:nvPr>
            <p:ph type="title"/>
          </p:nvPr>
        </p:nvSpPr>
        <p:spPr>
          <a:xfrm>
            <a:off x="838200" y="365126"/>
            <a:ext cx="10515600" cy="610920"/>
          </a:xfrm>
        </p:spPr>
        <p:txBody>
          <a:bodyPr>
            <a:normAutofit fontScale="90000"/>
          </a:bodyPr>
          <a:lstStyle/>
          <a:p>
            <a:r>
              <a:rPr lang="en-CA" dirty="0"/>
              <a:t>Homicide overview </a:t>
            </a:r>
            <a:r>
              <a:rPr lang="en-CA" dirty="0" err="1"/>
              <a:t>con’td</a:t>
            </a:r>
            <a:endParaRPr lang="en-CA" dirty="0"/>
          </a:p>
        </p:txBody>
      </p:sp>
      <p:sp>
        <p:nvSpPr>
          <p:cNvPr id="3" name="Content Placeholder 2">
            <a:extLst>
              <a:ext uri="{FF2B5EF4-FFF2-40B4-BE49-F238E27FC236}">
                <a16:creationId xmlns:a16="http://schemas.microsoft.com/office/drawing/2014/main" id="{0289C88B-9A1A-2A88-88F8-31B50FF020C0}"/>
              </a:ext>
            </a:extLst>
          </p:cNvPr>
          <p:cNvSpPr>
            <a:spLocks noGrp="1"/>
          </p:cNvSpPr>
          <p:nvPr>
            <p:ph idx="1"/>
          </p:nvPr>
        </p:nvSpPr>
        <p:spPr>
          <a:xfrm>
            <a:off x="838200" y="1438381"/>
            <a:ext cx="10515600" cy="4738581"/>
          </a:xfrm>
        </p:spPr>
        <p:txBody>
          <a:bodyPr>
            <a:normAutofit/>
          </a:bodyPr>
          <a:lstStyle/>
          <a:p>
            <a:pPr marL="342900" lvl="0" indent="-342900">
              <a:lnSpc>
                <a:spcPct val="200000"/>
              </a:lnSpc>
              <a:spcAft>
                <a:spcPts val="800"/>
              </a:spcAft>
              <a:buSzPts val="1000"/>
              <a:buFont typeface="Symbol" panose="05050102010706020507" pitchFamily="18" charset="2"/>
              <a:buChar char=""/>
              <a:tabLst>
                <a:tab pos="457200" algn="l"/>
              </a:tabLst>
            </a:pPr>
            <a:r>
              <a:rPr lang="en-CA" kern="0" dirty="0">
                <a:effectLst/>
                <a:latin typeface="Times New Roman" panose="02020603050405020304" pitchFamily="18" charset="0"/>
                <a:ea typeface="Times New Roman" panose="02020603050405020304" pitchFamily="18" charset="0"/>
                <a:cs typeface="Times New Roman" panose="02020603050405020304" pitchFamily="18" charset="0"/>
              </a:rPr>
              <a:t>In 2021, the proportion of women who were killed by their spouse or intimate partner in Canada (“femicide”) was approximately seven times greater than for men. Among spousal and intimate partner homicide victims in Canada, 76% were women while 24% were men.</a:t>
            </a:r>
            <a:endParaRPr lang="en-CA"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2345083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D447-A382-7C4F-F47B-7E436EAC74BB}"/>
              </a:ext>
            </a:extLst>
          </p:cNvPr>
          <p:cNvSpPr>
            <a:spLocks noGrp="1"/>
          </p:cNvSpPr>
          <p:nvPr>
            <p:ph type="title"/>
          </p:nvPr>
        </p:nvSpPr>
        <p:spPr/>
        <p:txBody>
          <a:bodyPr/>
          <a:lstStyle/>
          <a:p>
            <a:endParaRPr lang="en-CA"/>
          </a:p>
        </p:txBody>
      </p:sp>
      <p:pic>
        <p:nvPicPr>
          <p:cNvPr id="5" name="Content Placeholder 4" descr="A graph with blue and white stripes&#10;&#10;Description automatically generated">
            <a:extLst>
              <a:ext uri="{FF2B5EF4-FFF2-40B4-BE49-F238E27FC236}">
                <a16:creationId xmlns:a16="http://schemas.microsoft.com/office/drawing/2014/main" id="{0F36A98B-A8B4-914A-FB1A-BEE09FF3B7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008" y="310989"/>
            <a:ext cx="11677121" cy="6236021"/>
          </a:xfrm>
        </p:spPr>
      </p:pic>
    </p:spTree>
    <p:extLst>
      <p:ext uri="{BB962C8B-B14F-4D97-AF65-F5344CB8AC3E}">
        <p14:creationId xmlns:p14="http://schemas.microsoft.com/office/powerpoint/2010/main" val="413969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5EF3-666C-46E8-273D-DEA12553091B}"/>
              </a:ext>
            </a:extLst>
          </p:cNvPr>
          <p:cNvSpPr>
            <a:spLocks noGrp="1"/>
          </p:cNvSpPr>
          <p:nvPr>
            <p:ph type="title"/>
          </p:nvPr>
        </p:nvSpPr>
        <p:spPr/>
        <p:txBody>
          <a:bodyPr/>
          <a:lstStyle/>
          <a:p>
            <a:pPr algn="ctr"/>
            <a:r>
              <a:rPr lang="en-CA" dirty="0"/>
              <a:t>Self-solvers versus ‘whodunnits’</a:t>
            </a:r>
          </a:p>
        </p:txBody>
      </p:sp>
      <p:sp>
        <p:nvSpPr>
          <p:cNvPr id="3" name="Content Placeholder 2">
            <a:extLst>
              <a:ext uri="{FF2B5EF4-FFF2-40B4-BE49-F238E27FC236}">
                <a16:creationId xmlns:a16="http://schemas.microsoft.com/office/drawing/2014/main" id="{A71C58BD-E6FF-DB38-4228-5ADD921DF2FB}"/>
              </a:ext>
            </a:extLst>
          </p:cNvPr>
          <p:cNvSpPr>
            <a:spLocks noGrp="1"/>
          </p:cNvSpPr>
          <p:nvPr>
            <p:ph idx="1"/>
          </p:nvPr>
        </p:nvSpPr>
        <p:spPr/>
        <p:txBody>
          <a:bodyPr>
            <a:normAutofit lnSpcReduction="10000"/>
          </a:bodyPr>
          <a:lstStyle/>
          <a:p>
            <a:r>
              <a:rPr lang="en-CA" kern="0" dirty="0">
                <a:effectLst/>
                <a:latin typeface="Times New Roman" panose="02020603050405020304" pitchFamily="18" charset="0"/>
                <a:ea typeface="Times New Roman" panose="02020603050405020304" pitchFamily="18" charset="0"/>
                <a:cs typeface="Times New Roman" panose="02020603050405020304" pitchFamily="18" charset="0"/>
              </a:rPr>
              <a:t>Data between 2017 and 2021 shows that among the most common method used to commit a homicide, shootings take the longest to solve. </a:t>
            </a:r>
          </a:p>
          <a:p>
            <a:endParaRPr lang="en-CA" kern="0" dirty="0">
              <a:latin typeface="Times New Roman" panose="02020603050405020304" pitchFamily="18" charset="0"/>
              <a:ea typeface="Times New Roman" panose="02020603050405020304" pitchFamily="18" charset="0"/>
              <a:cs typeface="Times New Roman" panose="02020603050405020304" pitchFamily="18" charset="0"/>
            </a:endParaRPr>
          </a:p>
          <a:p>
            <a:r>
              <a:rPr lang="en-CA" kern="0" dirty="0">
                <a:effectLst/>
                <a:latin typeface="Times New Roman" panose="02020603050405020304" pitchFamily="18" charset="0"/>
                <a:ea typeface="Times New Roman" panose="02020603050405020304" pitchFamily="18" charset="0"/>
                <a:cs typeface="Times New Roman" panose="02020603050405020304" pitchFamily="18" charset="0"/>
              </a:rPr>
              <a:t>While 47% of homicides by shooting were solved within the first 100 days of the investigation, 70% of homicides by beating and 84% of homicides by stabbing were solved during the same amount of time.</a:t>
            </a:r>
            <a:endParaRPr lang="en-CA"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CA" dirty="0"/>
          </a:p>
          <a:p>
            <a:pPr marL="342900" lvl="0" indent="-342900">
              <a:lnSpc>
                <a:spcPct val="107000"/>
              </a:lnSpc>
              <a:spcAft>
                <a:spcPts val="800"/>
              </a:spcAft>
              <a:buSzPts val="1000"/>
              <a:buFont typeface="Symbol" panose="05050102010706020507" pitchFamily="18" charset="2"/>
              <a:buChar char=""/>
              <a:tabLst>
                <a:tab pos="457200" algn="l"/>
              </a:tabLst>
            </a:pPr>
            <a:r>
              <a:rPr lang="en-CA" sz="2800" kern="0" dirty="0">
                <a:effectLst/>
                <a:latin typeface="Times New Roman" panose="02020603050405020304" pitchFamily="18" charset="0"/>
                <a:ea typeface="Times New Roman" panose="02020603050405020304" pitchFamily="18" charset="0"/>
                <a:cs typeface="Times New Roman" panose="02020603050405020304" pitchFamily="18" charset="0"/>
              </a:rPr>
              <a:t>Keep in mind: gang-related homicides continued to account for nearly one-quarter (23%) of all homicides – often more difficult to solve. </a:t>
            </a:r>
          </a:p>
          <a:p>
            <a:endParaRPr lang="en-CA" dirty="0"/>
          </a:p>
        </p:txBody>
      </p:sp>
    </p:spTree>
    <p:extLst>
      <p:ext uri="{BB962C8B-B14F-4D97-AF65-F5344CB8AC3E}">
        <p14:creationId xmlns:p14="http://schemas.microsoft.com/office/powerpoint/2010/main" val="340475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57E8-109A-3457-6EA3-B00B1E0CE072}"/>
              </a:ext>
            </a:extLst>
          </p:cNvPr>
          <p:cNvSpPr>
            <a:spLocks noGrp="1"/>
          </p:cNvSpPr>
          <p:nvPr>
            <p:ph type="title"/>
          </p:nvPr>
        </p:nvSpPr>
        <p:spPr/>
        <p:txBody>
          <a:bodyPr/>
          <a:lstStyle/>
          <a:p>
            <a:r>
              <a:rPr lang="en-CA" dirty="0"/>
              <a:t>Homicide disproportionately affects some communities more than others (Canada)</a:t>
            </a:r>
          </a:p>
        </p:txBody>
      </p:sp>
      <p:sp>
        <p:nvSpPr>
          <p:cNvPr id="3" name="Content Placeholder 2">
            <a:extLst>
              <a:ext uri="{FF2B5EF4-FFF2-40B4-BE49-F238E27FC236}">
                <a16:creationId xmlns:a16="http://schemas.microsoft.com/office/drawing/2014/main" id="{DA04290D-91AF-964E-7002-A62BC45D61E3}"/>
              </a:ext>
            </a:extLst>
          </p:cNvPr>
          <p:cNvSpPr>
            <a:spLocks noGrp="1"/>
          </p:cNvSpPr>
          <p:nvPr>
            <p:ph idx="1"/>
          </p:nvPr>
        </p:nvSpPr>
        <p:spPr>
          <a:xfrm>
            <a:off x="838200" y="2229491"/>
            <a:ext cx="10515600" cy="3947471"/>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CA" kern="0" dirty="0">
                <a:effectLst/>
                <a:latin typeface="Times New Roman" panose="02020603050405020304" pitchFamily="18" charset="0"/>
                <a:ea typeface="Times New Roman" panose="02020603050405020304" pitchFamily="18" charset="0"/>
                <a:cs typeface="Times New Roman" panose="02020603050405020304" pitchFamily="18" charset="0"/>
              </a:rPr>
              <a:t>The homicide rate for Indigenous victims was six times higher than that of non-Indigenous victims in 2021 (9.17 per 100,000 Indigenous people versus 1.55 per 100,000 non-Indigenous people).</a:t>
            </a:r>
            <a:endParaRPr lang="en-CA"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kern="0" dirty="0">
                <a:effectLst/>
                <a:latin typeface="Times New Roman" panose="02020603050405020304" pitchFamily="18" charset="0"/>
                <a:ea typeface="Times New Roman" panose="02020603050405020304" pitchFamily="18" charset="0"/>
                <a:cs typeface="Times New Roman" panose="02020603050405020304" pitchFamily="18" charset="0"/>
              </a:rPr>
              <a:t>In 2021, approximately one-third (32%) of victims were identified by the police as racialized persons, resulting in a homicide rate of 2.51 per 100,000 racialized people.</a:t>
            </a:r>
            <a:endParaRPr lang="en-CA"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1369011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12F6-D00C-5DF5-3B62-16D564A6DF12}"/>
              </a:ext>
            </a:extLst>
          </p:cNvPr>
          <p:cNvSpPr>
            <a:spLocks noGrp="1"/>
          </p:cNvSpPr>
          <p:nvPr>
            <p:ph type="title"/>
          </p:nvPr>
        </p:nvSpPr>
        <p:spPr/>
        <p:txBody>
          <a:bodyPr/>
          <a:lstStyle/>
          <a:p>
            <a:pPr algn="ctr"/>
            <a:r>
              <a:rPr lang="en-CA" dirty="0"/>
              <a:t>Homicide survivors: Finding out</a:t>
            </a:r>
          </a:p>
        </p:txBody>
      </p:sp>
      <p:sp>
        <p:nvSpPr>
          <p:cNvPr id="3" name="Content Placeholder 2">
            <a:extLst>
              <a:ext uri="{FF2B5EF4-FFF2-40B4-BE49-F238E27FC236}">
                <a16:creationId xmlns:a16="http://schemas.microsoft.com/office/drawing/2014/main" id="{E4BE4824-9419-F0B2-20B1-E58F05A61F8B}"/>
              </a:ext>
            </a:extLst>
          </p:cNvPr>
          <p:cNvSpPr>
            <a:spLocks noGrp="1"/>
          </p:cNvSpPr>
          <p:nvPr>
            <p:ph idx="1"/>
          </p:nvPr>
        </p:nvSpPr>
        <p:spPr/>
        <p:txBody>
          <a:bodyPr>
            <a:normAutofit fontScale="85000" lnSpcReduction="10000"/>
          </a:bodyPr>
          <a:lstStyle/>
          <a:p>
            <a:pPr>
              <a:lnSpc>
                <a:spcPct val="200000"/>
              </a:lnSpc>
            </a:pPr>
            <a:r>
              <a:rPr lang="en-CA" sz="2800" b="1" dirty="0"/>
              <a:t>“As you might imagine, the news of a loved one’s murder is devastating. Symbolic interactionist Norman Denzin (1990: 104) calls it a “shattering emotional experience,” which “leave[s] indelible marks on human character and human relationships.” These marks are formed as a result of the shocking nature of the news, the violent nature of the death, and sometimes how the survivor learns of the death.” </a:t>
            </a:r>
          </a:p>
          <a:p>
            <a:endParaRPr lang="en-CA" dirty="0"/>
          </a:p>
        </p:txBody>
      </p:sp>
    </p:spTree>
    <p:extLst>
      <p:ext uri="{BB962C8B-B14F-4D97-AF65-F5344CB8AC3E}">
        <p14:creationId xmlns:p14="http://schemas.microsoft.com/office/powerpoint/2010/main" val="3193185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819B-598D-C9CC-9F68-F7CBF9617C98}"/>
              </a:ext>
            </a:extLst>
          </p:cNvPr>
          <p:cNvSpPr>
            <a:spLocks noGrp="1"/>
          </p:cNvSpPr>
          <p:nvPr>
            <p:ph type="title"/>
          </p:nvPr>
        </p:nvSpPr>
        <p:spPr/>
        <p:txBody>
          <a:bodyPr>
            <a:normAutofit fontScale="90000"/>
          </a:bodyPr>
          <a:lstStyle/>
          <a:p>
            <a:r>
              <a:rPr lang="en-CA" dirty="0"/>
              <a:t>How victims’ families found out</a:t>
            </a:r>
            <a:br>
              <a:rPr lang="en-CA" dirty="0"/>
            </a:br>
            <a:r>
              <a:rPr lang="en-CA" dirty="0"/>
              <a:t>(from Sarah Goodrum’s (2020) study of homicide victims)</a:t>
            </a:r>
          </a:p>
        </p:txBody>
      </p:sp>
      <p:pic>
        <p:nvPicPr>
          <p:cNvPr id="5" name="Content Placeholder 4" descr="A screenshot of a report&#10;&#10;Description automatically generated">
            <a:extLst>
              <a:ext uri="{FF2B5EF4-FFF2-40B4-BE49-F238E27FC236}">
                <a16:creationId xmlns:a16="http://schemas.microsoft.com/office/drawing/2014/main" id="{359CEC9B-1608-0BB6-FC2B-178F9E5B89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5049" y="1253331"/>
            <a:ext cx="9954905" cy="5604669"/>
          </a:xfrm>
        </p:spPr>
      </p:pic>
    </p:spTree>
    <p:extLst>
      <p:ext uri="{BB962C8B-B14F-4D97-AF65-F5344CB8AC3E}">
        <p14:creationId xmlns:p14="http://schemas.microsoft.com/office/powerpoint/2010/main" val="777830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27907-70BF-859A-F800-A8610838189F}"/>
              </a:ext>
            </a:extLst>
          </p:cNvPr>
          <p:cNvSpPr>
            <a:spLocks noGrp="1"/>
          </p:cNvSpPr>
          <p:nvPr>
            <p:ph type="title"/>
          </p:nvPr>
        </p:nvSpPr>
        <p:spPr/>
        <p:txBody>
          <a:bodyPr/>
          <a:lstStyle/>
          <a:p>
            <a:pPr algn="ctr"/>
            <a:r>
              <a:rPr lang="en-CA" dirty="0"/>
              <a:t>Death notifications</a:t>
            </a:r>
          </a:p>
        </p:txBody>
      </p:sp>
      <p:sp>
        <p:nvSpPr>
          <p:cNvPr id="3" name="Content Placeholder 2">
            <a:extLst>
              <a:ext uri="{FF2B5EF4-FFF2-40B4-BE49-F238E27FC236}">
                <a16:creationId xmlns:a16="http://schemas.microsoft.com/office/drawing/2014/main" id="{E9D60769-E707-93B3-43F4-F1997DD5D95B}"/>
              </a:ext>
            </a:extLst>
          </p:cNvPr>
          <p:cNvSpPr>
            <a:spLocks noGrp="1"/>
          </p:cNvSpPr>
          <p:nvPr>
            <p:ph idx="1"/>
          </p:nvPr>
        </p:nvSpPr>
        <p:spPr/>
        <p:txBody>
          <a:bodyPr>
            <a:normAutofit/>
          </a:bodyPr>
          <a:lstStyle/>
          <a:p>
            <a:pPr>
              <a:lnSpc>
                <a:spcPct val="150000"/>
              </a:lnSpc>
            </a:pPr>
            <a:r>
              <a:rPr lang="en-CA" sz="3200" dirty="0"/>
              <a:t>Victims’ families often find out through a ‘death notification’ – the process whereby police officers notify a victim’s next of kin.</a:t>
            </a:r>
          </a:p>
          <a:p>
            <a:endParaRPr lang="en-CA" sz="3200" dirty="0"/>
          </a:p>
          <a:p>
            <a:endParaRPr lang="en-CA" dirty="0"/>
          </a:p>
        </p:txBody>
      </p:sp>
    </p:spTree>
    <p:extLst>
      <p:ext uri="{BB962C8B-B14F-4D97-AF65-F5344CB8AC3E}">
        <p14:creationId xmlns:p14="http://schemas.microsoft.com/office/powerpoint/2010/main" val="1201930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1A91-D55B-E530-D109-6BBAA88A8C17}"/>
              </a:ext>
            </a:extLst>
          </p:cNvPr>
          <p:cNvSpPr>
            <a:spLocks noGrp="1"/>
          </p:cNvSpPr>
          <p:nvPr>
            <p:ph type="title"/>
          </p:nvPr>
        </p:nvSpPr>
        <p:spPr/>
        <p:txBody>
          <a:bodyPr/>
          <a:lstStyle/>
          <a:p>
            <a:r>
              <a:rPr lang="en-CA" dirty="0"/>
              <a:t>“After Homicide” – Sarah Goodrum (2020)</a:t>
            </a:r>
          </a:p>
        </p:txBody>
      </p:sp>
      <p:sp>
        <p:nvSpPr>
          <p:cNvPr id="3" name="Content Placeholder 2">
            <a:extLst>
              <a:ext uri="{FF2B5EF4-FFF2-40B4-BE49-F238E27FC236}">
                <a16:creationId xmlns:a16="http://schemas.microsoft.com/office/drawing/2014/main" id="{4CB15668-4D7B-6553-7B92-7033B7271057}"/>
              </a:ext>
            </a:extLst>
          </p:cNvPr>
          <p:cNvSpPr>
            <a:spLocks noGrp="1"/>
          </p:cNvSpPr>
          <p:nvPr>
            <p:ph idx="1"/>
          </p:nvPr>
        </p:nvSpPr>
        <p:spPr/>
        <p:txBody>
          <a:bodyPr>
            <a:normAutofit lnSpcReduction="10000"/>
          </a:bodyPr>
          <a:lstStyle/>
          <a:p>
            <a:r>
              <a:rPr lang="en-CA" dirty="0"/>
              <a:t>Andrea described her sleeplessness while waiting for her missing son to come home: </a:t>
            </a:r>
          </a:p>
          <a:p>
            <a:endParaRPr lang="en-CA" dirty="0"/>
          </a:p>
          <a:p>
            <a:pPr marL="0" indent="0">
              <a:lnSpc>
                <a:spcPct val="100000"/>
              </a:lnSpc>
              <a:spcBef>
                <a:spcPts val="0"/>
              </a:spcBef>
              <a:buNone/>
            </a:pPr>
            <a:r>
              <a:rPr lang="en-CA" sz="3000" dirty="0"/>
              <a:t>“I couldn’t sleep. My eyes were wide open. Finally, about two o’clock [in the morning] the doorbell rang, and I jumped out of bed. I went to see who it was. There were two men from the Sheriff ’s Office . . . and then there were two ladies dressed in black T-shirts saying “Victim Services.” So, I looked at them, and I said [to myself], “What did my son get into, some kind of trouble or something?””</a:t>
            </a:r>
          </a:p>
          <a:p>
            <a:endParaRPr lang="en-CA" dirty="0"/>
          </a:p>
        </p:txBody>
      </p:sp>
    </p:spTree>
    <p:extLst>
      <p:ext uri="{BB962C8B-B14F-4D97-AF65-F5344CB8AC3E}">
        <p14:creationId xmlns:p14="http://schemas.microsoft.com/office/powerpoint/2010/main" val="1791994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69B6B-AFB8-33AC-F850-7B6AF281A52D}"/>
              </a:ext>
            </a:extLst>
          </p:cNvPr>
          <p:cNvSpPr>
            <a:spLocks noGrp="1"/>
          </p:cNvSpPr>
          <p:nvPr>
            <p:ph type="title"/>
          </p:nvPr>
        </p:nvSpPr>
        <p:spPr/>
        <p:txBody>
          <a:bodyPr/>
          <a:lstStyle/>
          <a:p>
            <a:r>
              <a:rPr lang="en-CA" dirty="0"/>
              <a:t>Common immediate responses to the trauma of losing a loved one to homicide (Rock 1998)</a:t>
            </a:r>
          </a:p>
        </p:txBody>
      </p:sp>
      <p:sp>
        <p:nvSpPr>
          <p:cNvPr id="3" name="Content Placeholder 2">
            <a:extLst>
              <a:ext uri="{FF2B5EF4-FFF2-40B4-BE49-F238E27FC236}">
                <a16:creationId xmlns:a16="http://schemas.microsoft.com/office/drawing/2014/main" id="{CB8E9B7F-1302-29E4-C8E6-09A80253A617}"/>
              </a:ext>
            </a:extLst>
          </p:cNvPr>
          <p:cNvSpPr>
            <a:spLocks noGrp="1"/>
          </p:cNvSpPr>
          <p:nvPr>
            <p:ph idx="1"/>
          </p:nvPr>
        </p:nvSpPr>
        <p:spPr/>
        <p:txBody>
          <a:bodyPr/>
          <a:lstStyle/>
          <a:p>
            <a:r>
              <a:rPr lang="en-CA" b="1" dirty="0"/>
              <a:t>Denial</a:t>
            </a:r>
            <a:r>
              <a:rPr lang="en-CA" dirty="0"/>
              <a:t> – it must’ve been someone else (Andrea in Goodrum’s study said the body in her car must’ve belonged to a friend of her son’s who had borrowed the car from her son). </a:t>
            </a:r>
          </a:p>
          <a:p>
            <a:r>
              <a:rPr lang="en-CA" b="1" dirty="0"/>
              <a:t>Disbelief</a:t>
            </a:r>
            <a:r>
              <a:rPr lang="en-CA" dirty="0"/>
              <a:t> – it can’t possibly be true</a:t>
            </a:r>
          </a:p>
          <a:p>
            <a:r>
              <a:rPr lang="en-CA" b="1" dirty="0"/>
              <a:t>Incomprehension</a:t>
            </a:r>
            <a:r>
              <a:rPr lang="en-CA" dirty="0"/>
              <a:t> – confused by what one is hearing </a:t>
            </a:r>
          </a:p>
          <a:p>
            <a:pPr marL="0" indent="0">
              <a:lnSpc>
                <a:spcPct val="150000"/>
              </a:lnSpc>
              <a:buNone/>
            </a:pPr>
            <a:r>
              <a:rPr lang="en-CA" dirty="0"/>
              <a:t>A parent of a murdered child: “You go cold, numb, what is being said is heard through a haze”</a:t>
            </a:r>
          </a:p>
        </p:txBody>
      </p:sp>
    </p:spTree>
    <p:extLst>
      <p:ext uri="{BB962C8B-B14F-4D97-AF65-F5344CB8AC3E}">
        <p14:creationId xmlns:p14="http://schemas.microsoft.com/office/powerpoint/2010/main" val="115876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8BC8-2A10-61E1-E439-B8153F486D87}"/>
              </a:ext>
            </a:extLst>
          </p:cNvPr>
          <p:cNvSpPr>
            <a:spLocks noGrp="1"/>
          </p:cNvSpPr>
          <p:nvPr>
            <p:ph type="title"/>
          </p:nvPr>
        </p:nvSpPr>
        <p:spPr/>
        <p:txBody>
          <a:bodyPr/>
          <a:lstStyle/>
          <a:p>
            <a:r>
              <a:rPr lang="en-CA" dirty="0"/>
              <a:t>Long-term responses to the murder of a loved one (Armour 2002)</a:t>
            </a:r>
          </a:p>
        </p:txBody>
      </p:sp>
      <p:sp>
        <p:nvSpPr>
          <p:cNvPr id="3" name="Content Placeholder 2">
            <a:extLst>
              <a:ext uri="{FF2B5EF4-FFF2-40B4-BE49-F238E27FC236}">
                <a16:creationId xmlns:a16="http://schemas.microsoft.com/office/drawing/2014/main" id="{9B0E7008-0B54-6B34-273E-140F154A6E18}"/>
              </a:ext>
            </a:extLst>
          </p:cNvPr>
          <p:cNvSpPr>
            <a:spLocks noGrp="1"/>
          </p:cNvSpPr>
          <p:nvPr>
            <p:ph idx="1"/>
          </p:nvPr>
        </p:nvSpPr>
        <p:spPr>
          <a:xfrm>
            <a:off x="838200" y="1825624"/>
            <a:ext cx="10515600" cy="4842303"/>
          </a:xfrm>
        </p:spPr>
        <p:txBody>
          <a:bodyPr>
            <a:normAutofit/>
          </a:bodyPr>
          <a:lstStyle/>
          <a:p>
            <a:r>
              <a:rPr lang="en-CA" b="1" dirty="0">
                <a:solidFill>
                  <a:srgbClr val="FF0000"/>
                </a:solidFill>
              </a:rPr>
              <a:t>Feeling betrayed by loved ones and friends </a:t>
            </a:r>
            <a:r>
              <a:rPr lang="en-CA" dirty="0"/>
              <a:t>– who pretend it didn’t happen, gaslight victims, etc.</a:t>
            </a:r>
          </a:p>
          <a:p>
            <a:endParaRPr lang="en-CA" dirty="0"/>
          </a:p>
          <a:p>
            <a:r>
              <a:rPr lang="en-CA" b="1" dirty="0">
                <a:solidFill>
                  <a:srgbClr val="FF0000"/>
                </a:solidFill>
              </a:rPr>
              <a:t>Alienation and loneliness </a:t>
            </a:r>
            <a:r>
              <a:rPr lang="en-CA" dirty="0"/>
              <a:t>– “Homicide rips families away from their loved ones and the community that does not share their grief.” Because homicide is a rare event, most people do not know how to relate to survivors, what to say, how to act. </a:t>
            </a:r>
          </a:p>
          <a:p>
            <a:endParaRPr lang="en-CA" dirty="0"/>
          </a:p>
          <a:p>
            <a:r>
              <a:rPr lang="en-CA" b="1" dirty="0">
                <a:solidFill>
                  <a:srgbClr val="FF0000"/>
                </a:solidFill>
              </a:rPr>
              <a:t>Lack of closure </a:t>
            </a:r>
            <a:r>
              <a:rPr lang="en-CA" dirty="0"/>
              <a:t>– there is no new ‘normal’; this is an ongoing psychological trauma that impacts many different aspects of one’s life, including their own feelings of personal safety</a:t>
            </a:r>
          </a:p>
        </p:txBody>
      </p:sp>
    </p:spTree>
    <p:extLst>
      <p:ext uri="{BB962C8B-B14F-4D97-AF65-F5344CB8AC3E}">
        <p14:creationId xmlns:p14="http://schemas.microsoft.com/office/powerpoint/2010/main" val="2471276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F5D8-2741-D6F8-5BF1-9FFBD8434579}"/>
              </a:ext>
            </a:extLst>
          </p:cNvPr>
          <p:cNvSpPr>
            <a:spLocks noGrp="1"/>
          </p:cNvSpPr>
          <p:nvPr>
            <p:ph type="title"/>
          </p:nvPr>
        </p:nvSpPr>
        <p:spPr/>
        <p:txBody>
          <a:bodyPr/>
          <a:lstStyle/>
          <a:p>
            <a:r>
              <a:rPr lang="en-CA" dirty="0"/>
              <a:t>Armour’s (2002) study of homicide survivors</a:t>
            </a:r>
          </a:p>
        </p:txBody>
      </p:sp>
      <p:sp>
        <p:nvSpPr>
          <p:cNvPr id="3" name="Content Placeholder 2">
            <a:extLst>
              <a:ext uri="{FF2B5EF4-FFF2-40B4-BE49-F238E27FC236}">
                <a16:creationId xmlns:a16="http://schemas.microsoft.com/office/drawing/2014/main" id="{7F4C00A6-5DD8-ED3A-19F6-03107DF1ACEE}"/>
              </a:ext>
            </a:extLst>
          </p:cNvPr>
          <p:cNvSpPr>
            <a:spLocks noGrp="1"/>
          </p:cNvSpPr>
          <p:nvPr>
            <p:ph idx="1"/>
          </p:nvPr>
        </p:nvSpPr>
        <p:spPr/>
        <p:txBody>
          <a:bodyPr>
            <a:normAutofit/>
          </a:bodyPr>
          <a:lstStyle/>
          <a:p>
            <a:r>
              <a:rPr lang="en-CA" dirty="0"/>
              <a:t>Family members waited for the pain to pass, but it never did. A father could not speak his son’s name for 18 years. A mother felt robbed of her son’s future. “I’ll never get over the hopes that we had, that he never got to come home.” A wife said to her husband, “I don’t know if it is ever going to go away or if it is something that I am going to have to live with the rest of my life.” Her husband answered, “I don’t think that it is going to go away.” A mother described her realization that her daughter’s murder would be a permanent nightmare. “[E]very parent has a nightmare where your child dies but you wake up. This was something you cannot wake up from. This was permanent. This is real.”</a:t>
            </a:r>
          </a:p>
        </p:txBody>
      </p:sp>
    </p:spTree>
    <p:extLst>
      <p:ext uri="{BB962C8B-B14F-4D97-AF65-F5344CB8AC3E}">
        <p14:creationId xmlns:p14="http://schemas.microsoft.com/office/powerpoint/2010/main" val="3171987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9F585-80F9-69AD-1C7F-78FBD18D7C59}"/>
              </a:ext>
            </a:extLst>
          </p:cNvPr>
          <p:cNvSpPr>
            <a:spLocks noGrp="1"/>
          </p:cNvSpPr>
          <p:nvPr>
            <p:ph type="title"/>
          </p:nvPr>
        </p:nvSpPr>
        <p:spPr>
          <a:xfrm>
            <a:off x="838200" y="365126"/>
            <a:ext cx="11049000" cy="867774"/>
          </a:xfrm>
        </p:spPr>
        <p:txBody>
          <a:bodyPr>
            <a:normAutofit fontScale="90000"/>
          </a:bodyPr>
          <a:lstStyle/>
          <a:p>
            <a:r>
              <a:rPr lang="en-CA" dirty="0"/>
              <a:t>Problems victims’ families have with ‘the system’ (Goodrum 2020)</a:t>
            </a:r>
          </a:p>
        </p:txBody>
      </p:sp>
      <p:sp>
        <p:nvSpPr>
          <p:cNvPr id="3" name="Content Placeholder 2">
            <a:extLst>
              <a:ext uri="{FF2B5EF4-FFF2-40B4-BE49-F238E27FC236}">
                <a16:creationId xmlns:a16="http://schemas.microsoft.com/office/drawing/2014/main" id="{149CA864-77B4-09DC-4A45-459D3D2AD8E2}"/>
              </a:ext>
            </a:extLst>
          </p:cNvPr>
          <p:cNvSpPr>
            <a:spLocks noGrp="1"/>
          </p:cNvSpPr>
          <p:nvPr>
            <p:ph idx="1"/>
          </p:nvPr>
        </p:nvSpPr>
        <p:spPr>
          <a:xfrm>
            <a:off x="838200" y="1438382"/>
            <a:ext cx="10515600" cy="5198724"/>
          </a:xfrm>
        </p:spPr>
        <p:txBody>
          <a:bodyPr>
            <a:normAutofit fontScale="85000" lnSpcReduction="20000"/>
          </a:bodyPr>
          <a:lstStyle/>
          <a:p>
            <a:r>
              <a:rPr lang="en-CA" b="1" dirty="0">
                <a:solidFill>
                  <a:srgbClr val="FF0000"/>
                </a:solidFill>
              </a:rPr>
              <a:t>sources of conflict in victim-system encounters</a:t>
            </a:r>
            <a:r>
              <a:rPr lang="en-CA" dirty="0"/>
              <a:t>, </a:t>
            </a:r>
          </a:p>
          <a:p>
            <a:r>
              <a:rPr lang="en-CA" dirty="0"/>
              <a:t>at the murder scene when survivors wanted to see and hold the deceased’s body, </a:t>
            </a:r>
          </a:p>
          <a:p>
            <a:r>
              <a:rPr lang="en-CA" dirty="0"/>
              <a:t>during the investigation when survivors sought to provide and</a:t>
            </a:r>
          </a:p>
          <a:p>
            <a:pPr marL="0" indent="0">
              <a:buNone/>
            </a:pPr>
            <a:r>
              <a:rPr lang="en-CA" dirty="0"/>
              <a:t>  obtain case information, </a:t>
            </a:r>
          </a:p>
          <a:p>
            <a:pPr marL="0" indent="0">
              <a:buNone/>
            </a:pPr>
            <a:endParaRPr lang="en-CA" dirty="0"/>
          </a:p>
          <a:p>
            <a:pPr marL="0" indent="0">
              <a:lnSpc>
                <a:spcPct val="120000"/>
              </a:lnSpc>
              <a:spcBef>
                <a:spcPts val="0"/>
              </a:spcBef>
              <a:buNone/>
            </a:pPr>
            <a:r>
              <a:rPr lang="en-CA" dirty="0"/>
              <a:t>(Armour’s 2002 study): ““The information about my dad [who] was killed with 75 wounds and . . . Butchered would probably have been a good thing to tell us</a:t>
            </a:r>
          </a:p>
          <a:p>
            <a:pPr marL="0" indent="0">
              <a:lnSpc>
                <a:spcPct val="120000"/>
              </a:lnSpc>
              <a:spcBef>
                <a:spcPts val="0"/>
              </a:spcBef>
              <a:buNone/>
            </a:pPr>
            <a:r>
              <a:rPr lang="en-CA" dirty="0"/>
              <a:t> at some point. Rather than finding out at the trial 3 months later.”</a:t>
            </a:r>
          </a:p>
          <a:p>
            <a:pPr marL="0" indent="0">
              <a:buNone/>
            </a:pPr>
            <a:endParaRPr lang="en-CA" dirty="0"/>
          </a:p>
          <a:p>
            <a:r>
              <a:rPr lang="en-CA" dirty="0"/>
              <a:t>in encounters with counselors when survivors disliked their offers of emotional support</a:t>
            </a:r>
          </a:p>
          <a:p>
            <a:pPr marL="0" indent="0">
              <a:buNone/>
            </a:pPr>
            <a:r>
              <a:rPr lang="en-CA" dirty="0"/>
              <a:t>(Armour’s 2002 study): A Chaplain providing the death notification lectured the family on forgiveness</a:t>
            </a:r>
          </a:p>
        </p:txBody>
      </p:sp>
    </p:spTree>
    <p:extLst>
      <p:ext uri="{BB962C8B-B14F-4D97-AF65-F5344CB8AC3E}">
        <p14:creationId xmlns:p14="http://schemas.microsoft.com/office/powerpoint/2010/main" val="3093692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79D49-297F-B201-1D20-ABEB9F48BE4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44DDFD2-B937-3169-BF77-C845F4CF5404}"/>
              </a:ext>
            </a:extLst>
          </p:cNvPr>
          <p:cNvSpPr>
            <a:spLocks noGrp="1"/>
          </p:cNvSpPr>
          <p:nvPr>
            <p:ph idx="1"/>
          </p:nvPr>
        </p:nvSpPr>
        <p:spPr/>
        <p:txBody>
          <a:bodyPr>
            <a:normAutofit/>
          </a:bodyPr>
          <a:lstStyle/>
          <a:p>
            <a:r>
              <a:rPr lang="en-CA" b="1" dirty="0">
                <a:solidFill>
                  <a:srgbClr val="FF0000"/>
                </a:solidFill>
              </a:rPr>
              <a:t>victims’ expectations for workers and the case</a:t>
            </a:r>
            <a:endParaRPr lang="en-CA" dirty="0"/>
          </a:p>
          <a:p>
            <a:endParaRPr lang="en-CA" dirty="0"/>
          </a:p>
          <a:p>
            <a:r>
              <a:rPr lang="en-CA" dirty="0"/>
              <a:t>homicide survivors expected an emotional and legal ally in the detectives and prosecutors handling their loved one’s case, but not in the counselors. </a:t>
            </a:r>
          </a:p>
          <a:p>
            <a:r>
              <a:rPr lang="en-CA" dirty="0"/>
              <a:t>For survivors, an emotional connection with detectives and prosecutors signaled a personal attachment to the case </a:t>
            </a:r>
          </a:p>
          <a:p>
            <a:endParaRPr lang="en-CA" dirty="0"/>
          </a:p>
          <a:p>
            <a:r>
              <a:rPr lang="en-CA" dirty="0"/>
              <a:t>(in policing, this is a form of ‘emotional labour’)</a:t>
            </a:r>
          </a:p>
          <a:p>
            <a:endParaRPr lang="en-CA" dirty="0"/>
          </a:p>
          <a:p>
            <a:pPr marL="0" indent="0">
              <a:buNone/>
            </a:pPr>
            <a:endParaRPr lang="en-CA" dirty="0"/>
          </a:p>
          <a:p>
            <a:endParaRPr lang="en-CA" dirty="0"/>
          </a:p>
        </p:txBody>
      </p:sp>
    </p:spTree>
    <p:extLst>
      <p:ext uri="{BB962C8B-B14F-4D97-AF65-F5344CB8AC3E}">
        <p14:creationId xmlns:p14="http://schemas.microsoft.com/office/powerpoint/2010/main" val="215795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933C-DBCC-C727-4F50-82538CEAC52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8354202-E113-0A66-CF4A-7A1F6F45C38E}"/>
              </a:ext>
            </a:extLst>
          </p:cNvPr>
          <p:cNvSpPr>
            <a:spLocks noGrp="1"/>
          </p:cNvSpPr>
          <p:nvPr>
            <p:ph idx="1"/>
          </p:nvPr>
        </p:nvSpPr>
        <p:spPr/>
        <p:txBody>
          <a:bodyPr>
            <a:normAutofit fontScale="92500" lnSpcReduction="20000"/>
          </a:bodyPr>
          <a:lstStyle/>
          <a:p>
            <a:r>
              <a:rPr lang="en-CA" b="1" dirty="0">
                <a:solidFill>
                  <a:srgbClr val="FF0000"/>
                </a:solidFill>
              </a:rPr>
              <a:t>workers’ sensitivity to survivors’ needs in light of system constraints.</a:t>
            </a:r>
          </a:p>
          <a:p>
            <a:endParaRPr lang="en-CA" dirty="0"/>
          </a:p>
          <a:p>
            <a:r>
              <a:rPr lang="en-CA" dirty="0"/>
              <a:t>detectives, prosecutors, counselors, and advocates expressed genuine concern for homicide survivors’ long and difficult road to recovery, desire for detailed information about the murder, and demand for a trial in the case. </a:t>
            </a:r>
          </a:p>
          <a:p>
            <a:endParaRPr lang="en-CA" dirty="0"/>
          </a:p>
          <a:p>
            <a:r>
              <a:rPr lang="en-CA" dirty="0"/>
              <a:t>Yet they struggled to find the balance between what victims wanted and what their jobs and the law allowed. Some homicide survivors’ requests interfered with criminal justice system goals (e.g., strong investigation, preservation of crime scene evidence, conviction)</a:t>
            </a:r>
          </a:p>
        </p:txBody>
      </p:sp>
    </p:spTree>
    <p:extLst>
      <p:ext uri="{BB962C8B-B14F-4D97-AF65-F5344CB8AC3E}">
        <p14:creationId xmlns:p14="http://schemas.microsoft.com/office/powerpoint/2010/main" val="179148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075C7-C7C9-2ABD-CAF6-A5C7C14708A7}"/>
              </a:ext>
            </a:extLst>
          </p:cNvPr>
          <p:cNvSpPr>
            <a:spLocks noGrp="1"/>
          </p:cNvSpPr>
          <p:nvPr>
            <p:ph type="title"/>
          </p:nvPr>
        </p:nvSpPr>
        <p:spPr>
          <a:xfrm>
            <a:off x="838200" y="365125"/>
            <a:ext cx="10515600" cy="569823"/>
          </a:xfrm>
        </p:spPr>
        <p:txBody>
          <a:bodyPr>
            <a:normAutofit fontScale="90000"/>
          </a:bodyPr>
          <a:lstStyle/>
          <a:p>
            <a:r>
              <a:rPr lang="en-CA" dirty="0"/>
              <a:t>African-American experience of homicide in the US.</a:t>
            </a:r>
          </a:p>
        </p:txBody>
      </p:sp>
      <p:pic>
        <p:nvPicPr>
          <p:cNvPr id="7" name="Picture 6" descr="A screenshot of a computer&#10;&#10;Description automatically generated">
            <a:extLst>
              <a:ext uri="{FF2B5EF4-FFF2-40B4-BE49-F238E27FC236}">
                <a16:creationId xmlns:a16="http://schemas.microsoft.com/office/drawing/2014/main" id="{07624786-8394-3EF6-AD48-320516D40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415" y="934948"/>
            <a:ext cx="7969169" cy="5741706"/>
          </a:xfrm>
          <a:prstGeom prst="rect">
            <a:avLst/>
          </a:prstGeom>
        </p:spPr>
      </p:pic>
    </p:spTree>
    <p:extLst>
      <p:ext uri="{BB962C8B-B14F-4D97-AF65-F5344CB8AC3E}">
        <p14:creationId xmlns:p14="http://schemas.microsoft.com/office/powerpoint/2010/main" val="1314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5152</TotalTime>
  <Words>1145</Words>
  <Application>Microsoft Office PowerPoint</Application>
  <PresentationFormat>宽屏</PresentationFormat>
  <Paragraphs>59</Paragraphs>
  <Slides>19</Slides>
  <Notes>0</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Office Theme</vt:lpstr>
      <vt:lpstr>Homicide</vt:lpstr>
      <vt:lpstr>PowerPoint 演示文稿</vt:lpstr>
      <vt:lpstr>PowerPoint 演示文稿</vt:lpstr>
      <vt:lpstr>Homicide overview con’td</vt:lpstr>
      <vt:lpstr>PowerPoint 演示文稿</vt:lpstr>
      <vt:lpstr>Self-solvers versus ‘whodunnits’</vt:lpstr>
      <vt:lpstr>Homicide disproportionately affects some communities more than others (Canada)</vt:lpstr>
      <vt:lpstr>Homicide survivors: Finding out</vt:lpstr>
      <vt:lpstr>How victims’ families found out (from Sarah Goodrum’s (2020) study of homicide victims)</vt:lpstr>
      <vt:lpstr>Death notifications</vt:lpstr>
      <vt:lpstr>“After Homicide” – Sarah Goodrum (2020)</vt:lpstr>
      <vt:lpstr>Common immediate responses to the trauma of losing a loved one to homicide (Rock 1998)</vt:lpstr>
      <vt:lpstr>Long-term responses to the murder of a loved one (Armour 2002)</vt:lpstr>
      <vt:lpstr>Armour’s (2002) study of homicide survivors</vt:lpstr>
      <vt:lpstr>Problems victims’ families have with ‘the system’ (Goodrum 2020)</vt:lpstr>
      <vt:lpstr>PowerPoint 演示文稿</vt:lpstr>
      <vt:lpstr>PowerPoint 演示文稿</vt:lpstr>
      <vt:lpstr>African-American experience of homicide in the US.</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of Victimization</dc:title>
  <dc:creator>Laura Huey</dc:creator>
  <cp:lastModifiedBy>Laura Huey</cp:lastModifiedBy>
  <cp:revision>34</cp:revision>
  <dcterms:created xsi:type="dcterms:W3CDTF">2024-03-19T21:50:09Z</dcterms:created>
  <dcterms:modified xsi:type="dcterms:W3CDTF">2026-04-01T22:14:03Z</dcterms:modified>
</cp:coreProperties>
</file>