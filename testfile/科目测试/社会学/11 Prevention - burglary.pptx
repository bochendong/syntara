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2" r:id="rId17"/>
    <p:sldId id="271" r:id="rId18"/>
    <p:sldId id="273" r:id="rId19"/>
    <p:sldId id="274" r:id="rId20"/>
    <p:sldId id="275" r:id="rId21"/>
    <p:sldId id="34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4660"/>
  </p:normalViewPr>
  <p:slideViewPr>
    <p:cSldViewPr snapToGrid="0">
      <p:cViewPr varScale="1">
        <p:scale>
          <a:sx n="62" d="100"/>
          <a:sy n="62" d="100"/>
        </p:scale>
        <p:origin x="8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51191-646A-3892-DFEE-5C01A83020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F884EE0-FAA0-DF69-C246-C9FE9276FD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68301E6-12CE-73EE-5DE5-3243B61A0059}"/>
              </a:ext>
            </a:extLst>
          </p:cNvPr>
          <p:cNvSpPr>
            <a:spLocks noGrp="1"/>
          </p:cNvSpPr>
          <p:nvPr>
            <p:ph type="dt" sz="half" idx="10"/>
          </p:nvPr>
        </p:nvSpPr>
        <p:spPr/>
        <p:txBody>
          <a:bodyPr/>
          <a:lstStyle/>
          <a:p>
            <a:fld id="{3E67CC85-8DF7-4561-A51A-67542A5B5731}" type="datetimeFigureOut">
              <a:rPr lang="en-CA" smtClean="0"/>
              <a:t>2026-04-01</a:t>
            </a:fld>
            <a:endParaRPr lang="en-CA"/>
          </a:p>
        </p:txBody>
      </p:sp>
      <p:sp>
        <p:nvSpPr>
          <p:cNvPr id="5" name="Footer Placeholder 4">
            <a:extLst>
              <a:ext uri="{FF2B5EF4-FFF2-40B4-BE49-F238E27FC236}">
                <a16:creationId xmlns:a16="http://schemas.microsoft.com/office/drawing/2014/main" id="{C875EFFB-D550-FF2A-D319-B7C3ED39E30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07BA4FD-29F5-84FB-57FC-3BF367E8D4CA}"/>
              </a:ext>
            </a:extLst>
          </p:cNvPr>
          <p:cNvSpPr>
            <a:spLocks noGrp="1"/>
          </p:cNvSpPr>
          <p:nvPr>
            <p:ph type="sldNum" sz="quarter" idx="12"/>
          </p:nvPr>
        </p:nvSpPr>
        <p:spPr/>
        <p:txBody>
          <a:bodyPr/>
          <a:lstStyle/>
          <a:p>
            <a:fld id="{2E13F55A-4C3A-46A1-9621-A7AB3A55BEAA}" type="slidenum">
              <a:rPr lang="en-CA" smtClean="0"/>
              <a:t>‹#›</a:t>
            </a:fld>
            <a:endParaRPr lang="en-CA"/>
          </a:p>
        </p:txBody>
      </p:sp>
    </p:spTree>
    <p:extLst>
      <p:ext uri="{BB962C8B-B14F-4D97-AF65-F5344CB8AC3E}">
        <p14:creationId xmlns:p14="http://schemas.microsoft.com/office/powerpoint/2010/main" val="2654485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F06A1-600D-477D-D220-10DD1B71E42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095F40E-9218-028D-B036-1FB05909C2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57651A1-4025-514D-FD46-97280DFD5A3C}"/>
              </a:ext>
            </a:extLst>
          </p:cNvPr>
          <p:cNvSpPr>
            <a:spLocks noGrp="1"/>
          </p:cNvSpPr>
          <p:nvPr>
            <p:ph type="dt" sz="half" idx="10"/>
          </p:nvPr>
        </p:nvSpPr>
        <p:spPr/>
        <p:txBody>
          <a:bodyPr/>
          <a:lstStyle/>
          <a:p>
            <a:fld id="{3E67CC85-8DF7-4561-A51A-67542A5B5731}" type="datetimeFigureOut">
              <a:rPr lang="en-CA" smtClean="0"/>
              <a:t>2026-04-01</a:t>
            </a:fld>
            <a:endParaRPr lang="en-CA"/>
          </a:p>
        </p:txBody>
      </p:sp>
      <p:sp>
        <p:nvSpPr>
          <p:cNvPr id="5" name="Footer Placeholder 4">
            <a:extLst>
              <a:ext uri="{FF2B5EF4-FFF2-40B4-BE49-F238E27FC236}">
                <a16:creationId xmlns:a16="http://schemas.microsoft.com/office/drawing/2014/main" id="{631BDA4A-207A-511A-1D71-A050C104F65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51C86B7-0216-4290-326B-75C98D98AA65}"/>
              </a:ext>
            </a:extLst>
          </p:cNvPr>
          <p:cNvSpPr>
            <a:spLocks noGrp="1"/>
          </p:cNvSpPr>
          <p:nvPr>
            <p:ph type="sldNum" sz="quarter" idx="12"/>
          </p:nvPr>
        </p:nvSpPr>
        <p:spPr/>
        <p:txBody>
          <a:bodyPr/>
          <a:lstStyle/>
          <a:p>
            <a:fld id="{2E13F55A-4C3A-46A1-9621-A7AB3A55BEAA}" type="slidenum">
              <a:rPr lang="en-CA" smtClean="0"/>
              <a:t>‹#›</a:t>
            </a:fld>
            <a:endParaRPr lang="en-CA"/>
          </a:p>
        </p:txBody>
      </p:sp>
    </p:spTree>
    <p:extLst>
      <p:ext uri="{BB962C8B-B14F-4D97-AF65-F5344CB8AC3E}">
        <p14:creationId xmlns:p14="http://schemas.microsoft.com/office/powerpoint/2010/main" val="3648432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7E145-1EA1-17A4-24CA-72A5320CFB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B1E5B103-85F5-2A4D-9033-345E8C7692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3DD1CD-49E1-2BB1-5409-CC5268167A6F}"/>
              </a:ext>
            </a:extLst>
          </p:cNvPr>
          <p:cNvSpPr>
            <a:spLocks noGrp="1"/>
          </p:cNvSpPr>
          <p:nvPr>
            <p:ph type="dt" sz="half" idx="10"/>
          </p:nvPr>
        </p:nvSpPr>
        <p:spPr/>
        <p:txBody>
          <a:bodyPr/>
          <a:lstStyle/>
          <a:p>
            <a:fld id="{3E67CC85-8DF7-4561-A51A-67542A5B5731}" type="datetimeFigureOut">
              <a:rPr lang="en-CA" smtClean="0"/>
              <a:t>2026-04-01</a:t>
            </a:fld>
            <a:endParaRPr lang="en-CA"/>
          </a:p>
        </p:txBody>
      </p:sp>
      <p:sp>
        <p:nvSpPr>
          <p:cNvPr id="5" name="Footer Placeholder 4">
            <a:extLst>
              <a:ext uri="{FF2B5EF4-FFF2-40B4-BE49-F238E27FC236}">
                <a16:creationId xmlns:a16="http://schemas.microsoft.com/office/drawing/2014/main" id="{35EC8D9E-CAF0-803E-0632-0A491484366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F44320C-7FA3-D835-D91B-E40FBF9A7BA4}"/>
              </a:ext>
            </a:extLst>
          </p:cNvPr>
          <p:cNvSpPr>
            <a:spLocks noGrp="1"/>
          </p:cNvSpPr>
          <p:nvPr>
            <p:ph type="sldNum" sz="quarter" idx="12"/>
          </p:nvPr>
        </p:nvSpPr>
        <p:spPr/>
        <p:txBody>
          <a:bodyPr/>
          <a:lstStyle/>
          <a:p>
            <a:fld id="{2E13F55A-4C3A-46A1-9621-A7AB3A55BEAA}" type="slidenum">
              <a:rPr lang="en-CA" smtClean="0"/>
              <a:t>‹#›</a:t>
            </a:fld>
            <a:endParaRPr lang="en-CA"/>
          </a:p>
        </p:txBody>
      </p:sp>
    </p:spTree>
    <p:extLst>
      <p:ext uri="{BB962C8B-B14F-4D97-AF65-F5344CB8AC3E}">
        <p14:creationId xmlns:p14="http://schemas.microsoft.com/office/powerpoint/2010/main" val="4115218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F1B27-2529-77AB-8819-62B87688E67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82271C0-51D2-B518-CAC4-0EDCA07C80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94BCC56-FD63-D437-03C7-D2006F6FEA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C2E7F57E-5AFA-5E65-4699-78650EDEA266}"/>
              </a:ext>
            </a:extLst>
          </p:cNvPr>
          <p:cNvSpPr>
            <a:spLocks noGrp="1"/>
          </p:cNvSpPr>
          <p:nvPr>
            <p:ph type="dt" sz="half" idx="10"/>
          </p:nvPr>
        </p:nvSpPr>
        <p:spPr/>
        <p:txBody>
          <a:bodyPr/>
          <a:lstStyle/>
          <a:p>
            <a:fld id="{3E67CC85-8DF7-4561-A51A-67542A5B5731}" type="datetimeFigureOut">
              <a:rPr lang="en-CA" smtClean="0"/>
              <a:t>2026-04-01</a:t>
            </a:fld>
            <a:endParaRPr lang="en-CA"/>
          </a:p>
        </p:txBody>
      </p:sp>
      <p:sp>
        <p:nvSpPr>
          <p:cNvPr id="6" name="Footer Placeholder 5">
            <a:extLst>
              <a:ext uri="{FF2B5EF4-FFF2-40B4-BE49-F238E27FC236}">
                <a16:creationId xmlns:a16="http://schemas.microsoft.com/office/drawing/2014/main" id="{F7013C70-8C8C-F796-7DD8-2438C2A6072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FC3AA48-E17C-1C39-314E-0CD81122DD89}"/>
              </a:ext>
            </a:extLst>
          </p:cNvPr>
          <p:cNvSpPr>
            <a:spLocks noGrp="1"/>
          </p:cNvSpPr>
          <p:nvPr>
            <p:ph type="sldNum" sz="quarter" idx="12"/>
          </p:nvPr>
        </p:nvSpPr>
        <p:spPr/>
        <p:txBody>
          <a:bodyPr/>
          <a:lstStyle/>
          <a:p>
            <a:fld id="{2E13F55A-4C3A-46A1-9621-A7AB3A55BEAA}" type="slidenum">
              <a:rPr lang="en-CA" smtClean="0"/>
              <a:t>‹#›</a:t>
            </a:fld>
            <a:endParaRPr lang="en-CA"/>
          </a:p>
        </p:txBody>
      </p:sp>
    </p:spTree>
    <p:extLst>
      <p:ext uri="{BB962C8B-B14F-4D97-AF65-F5344CB8AC3E}">
        <p14:creationId xmlns:p14="http://schemas.microsoft.com/office/powerpoint/2010/main" val="1941422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2D67-3683-8DD7-B5CB-4501C63E1CFF}"/>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E036D1F-E14C-D4C0-538F-A41430DC1A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C56F31-EF0E-33F8-3C27-6564336848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86F2338-477A-457B-6A85-FD0B7A1936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72F0A4-246C-BE19-783A-31E2B5832F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E9E2C3CE-D2F9-5DD9-0812-9E33DAA5FCBB}"/>
              </a:ext>
            </a:extLst>
          </p:cNvPr>
          <p:cNvSpPr>
            <a:spLocks noGrp="1"/>
          </p:cNvSpPr>
          <p:nvPr>
            <p:ph type="dt" sz="half" idx="10"/>
          </p:nvPr>
        </p:nvSpPr>
        <p:spPr/>
        <p:txBody>
          <a:bodyPr/>
          <a:lstStyle/>
          <a:p>
            <a:fld id="{3E67CC85-8DF7-4561-A51A-67542A5B5731}" type="datetimeFigureOut">
              <a:rPr lang="en-CA" smtClean="0"/>
              <a:t>2026-04-01</a:t>
            </a:fld>
            <a:endParaRPr lang="en-CA"/>
          </a:p>
        </p:txBody>
      </p:sp>
      <p:sp>
        <p:nvSpPr>
          <p:cNvPr id="8" name="Footer Placeholder 7">
            <a:extLst>
              <a:ext uri="{FF2B5EF4-FFF2-40B4-BE49-F238E27FC236}">
                <a16:creationId xmlns:a16="http://schemas.microsoft.com/office/drawing/2014/main" id="{93799255-D6D6-E814-B584-7D33DCC2F3B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51B3A1B5-B16F-18A9-EBF0-9C11B4DF2BBF}"/>
              </a:ext>
            </a:extLst>
          </p:cNvPr>
          <p:cNvSpPr>
            <a:spLocks noGrp="1"/>
          </p:cNvSpPr>
          <p:nvPr>
            <p:ph type="sldNum" sz="quarter" idx="12"/>
          </p:nvPr>
        </p:nvSpPr>
        <p:spPr/>
        <p:txBody>
          <a:bodyPr/>
          <a:lstStyle/>
          <a:p>
            <a:fld id="{2E13F55A-4C3A-46A1-9621-A7AB3A55BEAA}" type="slidenum">
              <a:rPr lang="en-CA" smtClean="0"/>
              <a:t>‹#›</a:t>
            </a:fld>
            <a:endParaRPr lang="en-CA"/>
          </a:p>
        </p:txBody>
      </p:sp>
    </p:spTree>
    <p:extLst>
      <p:ext uri="{BB962C8B-B14F-4D97-AF65-F5344CB8AC3E}">
        <p14:creationId xmlns:p14="http://schemas.microsoft.com/office/powerpoint/2010/main" val="1850762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7F1B5-A4AD-A425-403B-EF0D44FB5F3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4EAE0FC-B216-236B-FC6F-A54D106D7B1E}"/>
              </a:ext>
            </a:extLst>
          </p:cNvPr>
          <p:cNvSpPr>
            <a:spLocks noGrp="1"/>
          </p:cNvSpPr>
          <p:nvPr>
            <p:ph type="dt" sz="half" idx="10"/>
          </p:nvPr>
        </p:nvSpPr>
        <p:spPr/>
        <p:txBody>
          <a:bodyPr/>
          <a:lstStyle/>
          <a:p>
            <a:fld id="{3E67CC85-8DF7-4561-A51A-67542A5B5731}" type="datetimeFigureOut">
              <a:rPr lang="en-CA" smtClean="0"/>
              <a:t>2026-04-01</a:t>
            </a:fld>
            <a:endParaRPr lang="en-CA"/>
          </a:p>
        </p:txBody>
      </p:sp>
      <p:sp>
        <p:nvSpPr>
          <p:cNvPr id="4" name="Footer Placeholder 3">
            <a:extLst>
              <a:ext uri="{FF2B5EF4-FFF2-40B4-BE49-F238E27FC236}">
                <a16:creationId xmlns:a16="http://schemas.microsoft.com/office/drawing/2014/main" id="{F3855127-D020-8BE6-329C-B5F259A0F37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6451EBE-0ADE-5EA2-2D29-6BACE22ECA97}"/>
              </a:ext>
            </a:extLst>
          </p:cNvPr>
          <p:cNvSpPr>
            <a:spLocks noGrp="1"/>
          </p:cNvSpPr>
          <p:nvPr>
            <p:ph type="sldNum" sz="quarter" idx="12"/>
          </p:nvPr>
        </p:nvSpPr>
        <p:spPr/>
        <p:txBody>
          <a:bodyPr/>
          <a:lstStyle/>
          <a:p>
            <a:fld id="{2E13F55A-4C3A-46A1-9621-A7AB3A55BEAA}" type="slidenum">
              <a:rPr lang="en-CA" smtClean="0"/>
              <a:t>‹#›</a:t>
            </a:fld>
            <a:endParaRPr lang="en-CA"/>
          </a:p>
        </p:txBody>
      </p:sp>
    </p:spTree>
    <p:extLst>
      <p:ext uri="{BB962C8B-B14F-4D97-AF65-F5344CB8AC3E}">
        <p14:creationId xmlns:p14="http://schemas.microsoft.com/office/powerpoint/2010/main" val="3261778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9F4692-8B21-39C1-F816-6E14FDA00416}"/>
              </a:ext>
            </a:extLst>
          </p:cNvPr>
          <p:cNvSpPr>
            <a:spLocks noGrp="1"/>
          </p:cNvSpPr>
          <p:nvPr>
            <p:ph type="dt" sz="half" idx="10"/>
          </p:nvPr>
        </p:nvSpPr>
        <p:spPr/>
        <p:txBody>
          <a:bodyPr/>
          <a:lstStyle/>
          <a:p>
            <a:fld id="{3E67CC85-8DF7-4561-A51A-67542A5B5731}" type="datetimeFigureOut">
              <a:rPr lang="en-CA" smtClean="0"/>
              <a:t>2026-04-01</a:t>
            </a:fld>
            <a:endParaRPr lang="en-CA"/>
          </a:p>
        </p:txBody>
      </p:sp>
      <p:sp>
        <p:nvSpPr>
          <p:cNvPr id="3" name="Footer Placeholder 2">
            <a:extLst>
              <a:ext uri="{FF2B5EF4-FFF2-40B4-BE49-F238E27FC236}">
                <a16:creationId xmlns:a16="http://schemas.microsoft.com/office/drawing/2014/main" id="{E843475E-A985-44B8-9257-6EF4C2BF4EB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3D123FE2-5D65-9363-DBCE-E6292B75F414}"/>
              </a:ext>
            </a:extLst>
          </p:cNvPr>
          <p:cNvSpPr>
            <a:spLocks noGrp="1"/>
          </p:cNvSpPr>
          <p:nvPr>
            <p:ph type="sldNum" sz="quarter" idx="12"/>
          </p:nvPr>
        </p:nvSpPr>
        <p:spPr/>
        <p:txBody>
          <a:bodyPr/>
          <a:lstStyle/>
          <a:p>
            <a:fld id="{2E13F55A-4C3A-46A1-9621-A7AB3A55BEAA}" type="slidenum">
              <a:rPr lang="en-CA" smtClean="0"/>
              <a:t>‹#›</a:t>
            </a:fld>
            <a:endParaRPr lang="en-CA"/>
          </a:p>
        </p:txBody>
      </p:sp>
    </p:spTree>
    <p:extLst>
      <p:ext uri="{BB962C8B-B14F-4D97-AF65-F5344CB8AC3E}">
        <p14:creationId xmlns:p14="http://schemas.microsoft.com/office/powerpoint/2010/main" val="583353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87ED1-8219-378F-E8CD-A047F09C19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B59F4E3C-A29A-6303-B456-F65FC735BB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F39E38E-6242-9241-BD33-1A5F3FDB10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14CC8C-B3A9-0D52-2AD8-10C7093D5545}"/>
              </a:ext>
            </a:extLst>
          </p:cNvPr>
          <p:cNvSpPr>
            <a:spLocks noGrp="1"/>
          </p:cNvSpPr>
          <p:nvPr>
            <p:ph type="dt" sz="half" idx="10"/>
          </p:nvPr>
        </p:nvSpPr>
        <p:spPr/>
        <p:txBody>
          <a:bodyPr/>
          <a:lstStyle/>
          <a:p>
            <a:fld id="{3E67CC85-8DF7-4561-A51A-67542A5B5731}" type="datetimeFigureOut">
              <a:rPr lang="en-CA" smtClean="0"/>
              <a:t>2026-04-01</a:t>
            </a:fld>
            <a:endParaRPr lang="en-CA"/>
          </a:p>
        </p:txBody>
      </p:sp>
      <p:sp>
        <p:nvSpPr>
          <p:cNvPr id="6" name="Footer Placeholder 5">
            <a:extLst>
              <a:ext uri="{FF2B5EF4-FFF2-40B4-BE49-F238E27FC236}">
                <a16:creationId xmlns:a16="http://schemas.microsoft.com/office/drawing/2014/main" id="{61F231C2-2D7C-A47F-32C9-7A3A611798B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551FE48-9D35-D469-E845-B89BDFF96350}"/>
              </a:ext>
            </a:extLst>
          </p:cNvPr>
          <p:cNvSpPr>
            <a:spLocks noGrp="1"/>
          </p:cNvSpPr>
          <p:nvPr>
            <p:ph type="sldNum" sz="quarter" idx="12"/>
          </p:nvPr>
        </p:nvSpPr>
        <p:spPr/>
        <p:txBody>
          <a:bodyPr/>
          <a:lstStyle/>
          <a:p>
            <a:fld id="{2E13F55A-4C3A-46A1-9621-A7AB3A55BEAA}" type="slidenum">
              <a:rPr lang="en-CA" smtClean="0"/>
              <a:t>‹#›</a:t>
            </a:fld>
            <a:endParaRPr lang="en-CA"/>
          </a:p>
        </p:txBody>
      </p:sp>
    </p:spTree>
    <p:extLst>
      <p:ext uri="{BB962C8B-B14F-4D97-AF65-F5344CB8AC3E}">
        <p14:creationId xmlns:p14="http://schemas.microsoft.com/office/powerpoint/2010/main" val="471519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2F820-06F6-3040-6A78-B6FE381F62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6A8E3BA0-7CBB-B6A5-A1CE-8752B9DB22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B725577-7518-084E-7081-969EA8BB24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F6A35F-35C3-622F-CC00-58C6BBC6F2EC}"/>
              </a:ext>
            </a:extLst>
          </p:cNvPr>
          <p:cNvSpPr>
            <a:spLocks noGrp="1"/>
          </p:cNvSpPr>
          <p:nvPr>
            <p:ph type="dt" sz="half" idx="10"/>
          </p:nvPr>
        </p:nvSpPr>
        <p:spPr/>
        <p:txBody>
          <a:bodyPr/>
          <a:lstStyle/>
          <a:p>
            <a:fld id="{3E67CC85-8DF7-4561-A51A-67542A5B5731}" type="datetimeFigureOut">
              <a:rPr lang="en-CA" smtClean="0"/>
              <a:t>2026-04-01</a:t>
            </a:fld>
            <a:endParaRPr lang="en-CA"/>
          </a:p>
        </p:txBody>
      </p:sp>
      <p:sp>
        <p:nvSpPr>
          <p:cNvPr id="6" name="Footer Placeholder 5">
            <a:extLst>
              <a:ext uri="{FF2B5EF4-FFF2-40B4-BE49-F238E27FC236}">
                <a16:creationId xmlns:a16="http://schemas.microsoft.com/office/drawing/2014/main" id="{834A87B5-F689-8083-9872-54CDE2307AA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BCDCE04-E526-A148-1CE1-AC46E27C7A1F}"/>
              </a:ext>
            </a:extLst>
          </p:cNvPr>
          <p:cNvSpPr>
            <a:spLocks noGrp="1"/>
          </p:cNvSpPr>
          <p:nvPr>
            <p:ph type="sldNum" sz="quarter" idx="12"/>
          </p:nvPr>
        </p:nvSpPr>
        <p:spPr/>
        <p:txBody>
          <a:bodyPr/>
          <a:lstStyle/>
          <a:p>
            <a:fld id="{2E13F55A-4C3A-46A1-9621-A7AB3A55BEAA}" type="slidenum">
              <a:rPr lang="en-CA" smtClean="0"/>
              <a:t>‹#›</a:t>
            </a:fld>
            <a:endParaRPr lang="en-CA"/>
          </a:p>
        </p:txBody>
      </p:sp>
    </p:spTree>
    <p:extLst>
      <p:ext uri="{BB962C8B-B14F-4D97-AF65-F5344CB8AC3E}">
        <p14:creationId xmlns:p14="http://schemas.microsoft.com/office/powerpoint/2010/main" val="1530945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F075E-5381-2C5C-C959-8B214F5C89A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D024342-C6FB-DACA-539D-F0ECACF3EA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8F23524-1D5D-AA17-7553-5AC84873390E}"/>
              </a:ext>
            </a:extLst>
          </p:cNvPr>
          <p:cNvSpPr>
            <a:spLocks noGrp="1"/>
          </p:cNvSpPr>
          <p:nvPr>
            <p:ph type="dt" sz="half" idx="10"/>
          </p:nvPr>
        </p:nvSpPr>
        <p:spPr/>
        <p:txBody>
          <a:bodyPr/>
          <a:lstStyle/>
          <a:p>
            <a:fld id="{3E67CC85-8DF7-4561-A51A-67542A5B5731}" type="datetimeFigureOut">
              <a:rPr lang="en-CA" smtClean="0"/>
              <a:t>2026-04-01</a:t>
            </a:fld>
            <a:endParaRPr lang="en-CA"/>
          </a:p>
        </p:txBody>
      </p:sp>
      <p:sp>
        <p:nvSpPr>
          <p:cNvPr id="5" name="Footer Placeholder 4">
            <a:extLst>
              <a:ext uri="{FF2B5EF4-FFF2-40B4-BE49-F238E27FC236}">
                <a16:creationId xmlns:a16="http://schemas.microsoft.com/office/drawing/2014/main" id="{5395F00F-CBE7-3007-2805-760A10E3DDC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E49263A-03A0-0FEA-4A48-5EF79271A02D}"/>
              </a:ext>
            </a:extLst>
          </p:cNvPr>
          <p:cNvSpPr>
            <a:spLocks noGrp="1"/>
          </p:cNvSpPr>
          <p:nvPr>
            <p:ph type="sldNum" sz="quarter" idx="12"/>
          </p:nvPr>
        </p:nvSpPr>
        <p:spPr/>
        <p:txBody>
          <a:bodyPr/>
          <a:lstStyle/>
          <a:p>
            <a:fld id="{2E13F55A-4C3A-46A1-9621-A7AB3A55BEAA}" type="slidenum">
              <a:rPr lang="en-CA" smtClean="0"/>
              <a:t>‹#›</a:t>
            </a:fld>
            <a:endParaRPr lang="en-CA"/>
          </a:p>
        </p:txBody>
      </p:sp>
    </p:spTree>
    <p:extLst>
      <p:ext uri="{BB962C8B-B14F-4D97-AF65-F5344CB8AC3E}">
        <p14:creationId xmlns:p14="http://schemas.microsoft.com/office/powerpoint/2010/main" val="3733178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3FF1C0-2AB4-0AF1-7F1B-32B297AC82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80046F21-49BB-4608-17CB-92056EC697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9C74899-6E5E-8380-6C96-31C4B3537DAD}"/>
              </a:ext>
            </a:extLst>
          </p:cNvPr>
          <p:cNvSpPr>
            <a:spLocks noGrp="1"/>
          </p:cNvSpPr>
          <p:nvPr>
            <p:ph type="dt" sz="half" idx="10"/>
          </p:nvPr>
        </p:nvSpPr>
        <p:spPr/>
        <p:txBody>
          <a:bodyPr/>
          <a:lstStyle/>
          <a:p>
            <a:fld id="{3E67CC85-8DF7-4561-A51A-67542A5B5731}" type="datetimeFigureOut">
              <a:rPr lang="en-CA" smtClean="0"/>
              <a:t>2026-04-01</a:t>
            </a:fld>
            <a:endParaRPr lang="en-CA"/>
          </a:p>
        </p:txBody>
      </p:sp>
      <p:sp>
        <p:nvSpPr>
          <p:cNvPr id="5" name="Footer Placeholder 4">
            <a:extLst>
              <a:ext uri="{FF2B5EF4-FFF2-40B4-BE49-F238E27FC236}">
                <a16:creationId xmlns:a16="http://schemas.microsoft.com/office/drawing/2014/main" id="{61B19BAB-261B-4CA6-5D1C-20DDC378B1A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340E760-C7D6-58F0-0BF3-7D23B883564A}"/>
              </a:ext>
            </a:extLst>
          </p:cNvPr>
          <p:cNvSpPr>
            <a:spLocks noGrp="1"/>
          </p:cNvSpPr>
          <p:nvPr>
            <p:ph type="sldNum" sz="quarter" idx="12"/>
          </p:nvPr>
        </p:nvSpPr>
        <p:spPr/>
        <p:txBody>
          <a:bodyPr/>
          <a:lstStyle/>
          <a:p>
            <a:fld id="{2E13F55A-4C3A-46A1-9621-A7AB3A55BEAA}" type="slidenum">
              <a:rPr lang="en-CA" smtClean="0"/>
              <a:t>‹#›</a:t>
            </a:fld>
            <a:endParaRPr lang="en-CA"/>
          </a:p>
        </p:txBody>
      </p:sp>
    </p:spTree>
    <p:extLst>
      <p:ext uri="{BB962C8B-B14F-4D97-AF65-F5344CB8AC3E}">
        <p14:creationId xmlns:p14="http://schemas.microsoft.com/office/powerpoint/2010/main" val="3611691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EC4C4-418C-F8A2-E2B3-9D14F69873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8E73B75-28F9-D5B3-4CBC-232FB9F75D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6F603B9-754C-77B9-3C7E-49F677E83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67CC85-8DF7-4561-A51A-67542A5B5731}" type="datetimeFigureOut">
              <a:rPr lang="en-CA" smtClean="0"/>
              <a:t>2026-04-01</a:t>
            </a:fld>
            <a:endParaRPr lang="en-CA"/>
          </a:p>
        </p:txBody>
      </p:sp>
      <p:sp>
        <p:nvSpPr>
          <p:cNvPr id="5" name="Footer Placeholder 4">
            <a:extLst>
              <a:ext uri="{FF2B5EF4-FFF2-40B4-BE49-F238E27FC236}">
                <a16:creationId xmlns:a16="http://schemas.microsoft.com/office/drawing/2014/main" id="{8800DB62-99E7-1297-44F9-26F5E43913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66C4CD55-0C7E-1EB2-AE83-1878352218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13F55A-4C3A-46A1-9621-A7AB3A55BEAA}" type="slidenum">
              <a:rPr lang="en-CA" smtClean="0"/>
              <a:t>‹#›</a:t>
            </a:fld>
            <a:endParaRPr lang="en-CA"/>
          </a:p>
        </p:txBody>
      </p:sp>
    </p:spTree>
    <p:extLst>
      <p:ext uri="{BB962C8B-B14F-4D97-AF65-F5344CB8AC3E}">
        <p14:creationId xmlns:p14="http://schemas.microsoft.com/office/powerpoint/2010/main" val="38156873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D0841-9EDF-7330-AF26-3B401FE5CF6C}"/>
              </a:ext>
            </a:extLst>
          </p:cNvPr>
          <p:cNvSpPr>
            <a:spLocks noGrp="1"/>
          </p:cNvSpPr>
          <p:nvPr>
            <p:ph type="ctrTitle"/>
          </p:nvPr>
        </p:nvSpPr>
        <p:spPr/>
        <p:txBody>
          <a:bodyPr/>
          <a:lstStyle/>
          <a:p>
            <a:r>
              <a:rPr lang="en-CA" dirty="0"/>
              <a:t>Preventing victimization - I</a:t>
            </a:r>
          </a:p>
        </p:txBody>
      </p:sp>
      <p:sp>
        <p:nvSpPr>
          <p:cNvPr id="3" name="Subtitle 2">
            <a:extLst>
              <a:ext uri="{FF2B5EF4-FFF2-40B4-BE49-F238E27FC236}">
                <a16:creationId xmlns:a16="http://schemas.microsoft.com/office/drawing/2014/main" id="{E32A85CD-404D-F55F-E500-5B5E672FAF6F}"/>
              </a:ext>
            </a:extLst>
          </p:cNvPr>
          <p:cNvSpPr>
            <a:spLocks noGrp="1"/>
          </p:cNvSpPr>
          <p:nvPr>
            <p:ph type="subTitle" idx="1"/>
          </p:nvPr>
        </p:nvSpPr>
        <p:spPr/>
        <p:txBody>
          <a:bodyPr/>
          <a:lstStyle/>
          <a:p>
            <a:r>
              <a:rPr lang="en-CA" dirty="0"/>
              <a:t>Some tips and tricks to reduce the chances of different forms of victimization</a:t>
            </a:r>
          </a:p>
        </p:txBody>
      </p:sp>
    </p:spTree>
    <p:extLst>
      <p:ext uri="{BB962C8B-B14F-4D97-AF65-F5344CB8AC3E}">
        <p14:creationId xmlns:p14="http://schemas.microsoft.com/office/powerpoint/2010/main" val="402783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14855"/>
            <a:ext cx="9144000" cy="819807"/>
          </a:xfrm>
        </p:spPr>
        <p:txBody>
          <a:bodyPr>
            <a:normAutofit fontScale="90000"/>
          </a:bodyPr>
          <a:lstStyle/>
          <a:p>
            <a:r>
              <a:rPr lang="en-US" b="1" dirty="0"/>
              <a:t>Burglary</a:t>
            </a:r>
          </a:p>
        </p:txBody>
      </p:sp>
      <p:sp>
        <p:nvSpPr>
          <p:cNvPr id="3" name="Subtitle 2"/>
          <p:cNvSpPr>
            <a:spLocks noGrp="1"/>
          </p:cNvSpPr>
          <p:nvPr>
            <p:ph type="subTitle" idx="1"/>
          </p:nvPr>
        </p:nvSpPr>
        <p:spPr>
          <a:xfrm>
            <a:off x="5039711" y="7212341"/>
            <a:ext cx="9144000" cy="1655762"/>
          </a:xfrm>
        </p:spPr>
        <p:txBody>
          <a:bodyPr/>
          <a:lstStyle/>
          <a:p>
            <a:endParaRPr lang="en-US" dirty="0"/>
          </a:p>
        </p:txBody>
      </p:sp>
      <p:pic>
        <p:nvPicPr>
          <p:cNvPr id="1028" name="Picture 4" descr="http://www.woodlandsmonocle.com/wp-content/uploads/2015/07/Home-Burglary-in-The-Woodlands-Woodlands-Monoc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9027" y="1671740"/>
            <a:ext cx="6869666" cy="4267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8928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Definition</a:t>
            </a:r>
          </a:p>
        </p:txBody>
      </p:sp>
      <p:sp>
        <p:nvSpPr>
          <p:cNvPr id="3" name="Content Placeholder 2"/>
          <p:cNvSpPr>
            <a:spLocks noGrp="1"/>
          </p:cNvSpPr>
          <p:nvPr>
            <p:ph idx="1"/>
          </p:nvPr>
        </p:nvSpPr>
        <p:spPr/>
        <p:txBody>
          <a:bodyPr>
            <a:normAutofit/>
          </a:bodyPr>
          <a:lstStyle/>
          <a:p>
            <a:r>
              <a:rPr lang="en-US" b="1" dirty="0"/>
              <a:t>Burglary</a:t>
            </a:r>
            <a:r>
              <a:rPr lang="en-US" dirty="0"/>
              <a:t> is the crime that occurs when an offender breaks into and enters a home, place of business or other building or structure for the purpose of committing a criminal offence. Typical offences associated with burglary include: theft, robbery and sexual assault. </a:t>
            </a:r>
          </a:p>
          <a:p>
            <a:pPr marL="0" indent="0">
              <a:buNone/>
            </a:pPr>
            <a:r>
              <a:rPr lang="en-US" dirty="0"/>
              <a:t> </a:t>
            </a:r>
          </a:p>
          <a:p>
            <a:r>
              <a:rPr lang="en-US" dirty="0"/>
              <a:t>In Canada, the Criminal Code provisions for burglary have been replaced by the offence of ‘</a:t>
            </a:r>
            <a:r>
              <a:rPr lang="en-US" b="1" dirty="0"/>
              <a:t>break and enter</a:t>
            </a:r>
            <a:r>
              <a:rPr lang="en-US" dirty="0"/>
              <a:t>.’ However, the term ‘burglary’ remains in use in jurisdictions in the U.S. and elsewhere. </a:t>
            </a:r>
          </a:p>
        </p:txBody>
      </p:sp>
    </p:spTree>
    <p:extLst>
      <p:ext uri="{BB962C8B-B14F-4D97-AF65-F5344CB8AC3E}">
        <p14:creationId xmlns:p14="http://schemas.microsoft.com/office/powerpoint/2010/main" val="4152607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Stats and facts:</a:t>
            </a:r>
          </a:p>
        </p:txBody>
      </p:sp>
      <p:sp>
        <p:nvSpPr>
          <p:cNvPr id="3" name="Content Placeholder 2"/>
          <p:cNvSpPr>
            <a:spLocks noGrp="1"/>
          </p:cNvSpPr>
          <p:nvPr>
            <p:ph idx="1"/>
          </p:nvPr>
        </p:nvSpPr>
        <p:spPr/>
        <p:txBody>
          <a:bodyPr/>
          <a:lstStyle/>
          <a:p>
            <a:r>
              <a:rPr lang="en-US" dirty="0"/>
              <a:t>Because ‘break and enter’ (‘B and E’) is most commonly associated with property theft, it is treated as a property crime in Canadian criminal justice statistics. </a:t>
            </a:r>
          </a:p>
          <a:p>
            <a:endParaRPr lang="en-US" dirty="0"/>
          </a:p>
          <a:p>
            <a:r>
              <a:rPr lang="en-US" dirty="0"/>
              <a:t>The most recent Canadian crime statistics (2015) reveal that police reported ‘B and Es’ (151,900 break-ins in 2014) accounted for 14% of all property-related offences. Since 2003, rates of B and E have been declining in Canada.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2684" y="4806213"/>
            <a:ext cx="3666632" cy="2384669"/>
          </a:xfrm>
          <a:prstGeom prst="rect">
            <a:avLst/>
          </a:prstGeom>
        </p:spPr>
      </p:pic>
    </p:spTree>
    <p:extLst>
      <p:ext uri="{BB962C8B-B14F-4D97-AF65-F5344CB8AC3E}">
        <p14:creationId xmlns:p14="http://schemas.microsoft.com/office/powerpoint/2010/main" val="471656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4497" y="614855"/>
            <a:ext cx="10594427" cy="819807"/>
          </a:xfrm>
        </p:spPr>
        <p:txBody>
          <a:bodyPr>
            <a:normAutofit fontScale="90000"/>
          </a:bodyPr>
          <a:lstStyle/>
          <a:p>
            <a:r>
              <a:rPr lang="en-US" b="1" dirty="0"/>
              <a:t>What do we know about burglary?</a:t>
            </a:r>
          </a:p>
        </p:txBody>
      </p:sp>
      <p:sp>
        <p:nvSpPr>
          <p:cNvPr id="3" name="Subtitle 2"/>
          <p:cNvSpPr>
            <a:spLocks noGrp="1"/>
          </p:cNvSpPr>
          <p:nvPr>
            <p:ph type="subTitle" idx="1"/>
          </p:nvPr>
        </p:nvSpPr>
        <p:spPr>
          <a:xfrm>
            <a:off x="5039711" y="7212341"/>
            <a:ext cx="9144000" cy="1655762"/>
          </a:xfrm>
        </p:spPr>
        <p:txBody>
          <a:bodyPr/>
          <a:lstStyle/>
          <a:p>
            <a:endParaRPr lang="en-US" dirty="0"/>
          </a:p>
        </p:txBody>
      </p:sp>
      <p:pic>
        <p:nvPicPr>
          <p:cNvPr id="2050" name="Picture 2" descr="http://i.cbc.ca/1.2837963.1416252336%21/fileImage/httpImage/image.png_gen/derivatives/16x9_620/hamilton-police-service-crime-mapping-too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5641" y="1716183"/>
            <a:ext cx="7646275" cy="4305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5683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483" y="365126"/>
            <a:ext cx="11634951" cy="785758"/>
          </a:xfrm>
        </p:spPr>
        <p:txBody>
          <a:bodyPr>
            <a:normAutofit fontScale="90000"/>
          </a:bodyPr>
          <a:lstStyle/>
          <a:p>
            <a:pPr algn="ctr"/>
            <a:r>
              <a:rPr lang="en-US" sz="4000" b="1" dirty="0"/>
              <a:t>Research on burglary has focused largely on 5 factors:</a:t>
            </a:r>
          </a:p>
        </p:txBody>
      </p:sp>
      <p:sp>
        <p:nvSpPr>
          <p:cNvPr id="3" name="Content Placeholder 2"/>
          <p:cNvSpPr>
            <a:spLocks noGrp="1"/>
          </p:cNvSpPr>
          <p:nvPr>
            <p:ph idx="1"/>
          </p:nvPr>
        </p:nvSpPr>
        <p:spPr>
          <a:xfrm>
            <a:off x="633248" y="1150884"/>
            <a:ext cx="10515600" cy="4710770"/>
          </a:xfrm>
        </p:spPr>
        <p:txBody>
          <a:bodyPr>
            <a:normAutofit/>
          </a:bodyPr>
          <a:lstStyle/>
          <a:p>
            <a:pPr marL="0" indent="0">
              <a:lnSpc>
                <a:spcPct val="150000"/>
              </a:lnSpc>
              <a:spcBef>
                <a:spcPts val="0"/>
              </a:spcBef>
              <a:buNone/>
            </a:pPr>
            <a:r>
              <a:rPr lang="en-US" dirty="0"/>
              <a:t>1. offender motives and types – perhaps not surprisingly, research into offender motives suggests that many offenders are driven by a desire for quick, easy cash in support of an already criminal lifestyle (usually associated with drugs and alcohol). Some researchers, notably Fox and Farrington (2012) have developed typologies of burglary offenders based on crime scene behaviour and demographic characteristics of offenders in solved cases.   </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0730" y="5092262"/>
            <a:ext cx="2998076" cy="1884801"/>
          </a:xfrm>
          <a:prstGeom prst="rect">
            <a:avLst/>
          </a:prstGeom>
        </p:spPr>
      </p:pic>
    </p:spTree>
    <p:extLst>
      <p:ext uri="{BB962C8B-B14F-4D97-AF65-F5344CB8AC3E}">
        <p14:creationId xmlns:p14="http://schemas.microsoft.com/office/powerpoint/2010/main" val="4094590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4"/>
            <a:ext cx="10418379" cy="297027"/>
          </a:xfrm>
        </p:spPr>
        <p:txBody>
          <a:bodyPr>
            <a:normAutofit fontScale="90000"/>
          </a:bodyPr>
          <a:lstStyle/>
          <a:p>
            <a:r>
              <a:rPr lang="en-US" dirty="0"/>
              <a:t>                                            </a:t>
            </a:r>
          </a:p>
        </p:txBody>
      </p:sp>
      <p:sp>
        <p:nvSpPr>
          <p:cNvPr id="3" name="Content Placeholder 2"/>
          <p:cNvSpPr>
            <a:spLocks noGrp="1"/>
          </p:cNvSpPr>
          <p:nvPr>
            <p:ph idx="1"/>
          </p:nvPr>
        </p:nvSpPr>
        <p:spPr>
          <a:xfrm>
            <a:off x="425669" y="662151"/>
            <a:ext cx="11366938" cy="5514813"/>
          </a:xfrm>
        </p:spPr>
        <p:txBody>
          <a:bodyPr/>
          <a:lstStyle/>
          <a:p>
            <a:pPr marL="0" indent="0">
              <a:lnSpc>
                <a:spcPct val="150000"/>
              </a:lnSpc>
              <a:spcBef>
                <a:spcPts val="0"/>
              </a:spcBef>
              <a:buNone/>
            </a:pPr>
            <a:r>
              <a:rPr lang="en-US" dirty="0"/>
              <a:t>2. familiarity – offenders typically select targets within neighbourhoods they know, because increased familiarity with a space means they will better understand where there are more vulnerable and more protected spaces, places to hide and exit and entrance routes into the area, among others. As a result, most offenders do not travel very far to commit their offences (</a:t>
            </a:r>
            <a:r>
              <a:rPr lang="en-US" dirty="0" err="1"/>
              <a:t>Brantingham</a:t>
            </a:r>
            <a:r>
              <a:rPr lang="en-US" dirty="0"/>
              <a:t> and </a:t>
            </a:r>
            <a:r>
              <a:rPr lang="en-US" dirty="0" err="1"/>
              <a:t>Brantingham</a:t>
            </a:r>
            <a:r>
              <a:rPr lang="en-US" dirty="0"/>
              <a:t> 1981).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5383" y="4048539"/>
            <a:ext cx="4959568" cy="3719676"/>
          </a:xfrm>
          <a:prstGeom prst="rect">
            <a:avLst/>
          </a:prstGeom>
        </p:spPr>
      </p:pic>
    </p:spTree>
    <p:extLst>
      <p:ext uri="{BB962C8B-B14F-4D97-AF65-F5344CB8AC3E}">
        <p14:creationId xmlns:p14="http://schemas.microsoft.com/office/powerpoint/2010/main" val="3698494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70903"/>
          </a:xfrm>
        </p:spPr>
        <p:txBody>
          <a:bodyPr>
            <a:normAutofit fontScale="90000"/>
          </a:bodyPr>
          <a:lstStyle/>
          <a:p>
            <a:r>
              <a:rPr lang="en-US" dirty="0"/>
              <a:t>                        </a:t>
            </a:r>
          </a:p>
        </p:txBody>
      </p:sp>
      <p:sp>
        <p:nvSpPr>
          <p:cNvPr id="3" name="Content Placeholder 2"/>
          <p:cNvSpPr>
            <a:spLocks noGrp="1"/>
          </p:cNvSpPr>
          <p:nvPr>
            <p:ph idx="1"/>
          </p:nvPr>
        </p:nvSpPr>
        <p:spPr>
          <a:xfrm>
            <a:off x="838200" y="2934755"/>
            <a:ext cx="10515600" cy="3242208"/>
          </a:xfrm>
        </p:spPr>
        <p:txBody>
          <a:bodyPr>
            <a:normAutofit lnSpcReduction="10000"/>
          </a:bodyPr>
          <a:lstStyle/>
          <a:p>
            <a:pPr marL="0" indent="0">
              <a:lnSpc>
                <a:spcPct val="150000"/>
              </a:lnSpc>
              <a:spcBef>
                <a:spcPts val="0"/>
              </a:spcBef>
              <a:buNone/>
            </a:pPr>
            <a:r>
              <a:rPr lang="en-US" dirty="0"/>
              <a:t>3. occupancy – with the exception of sexual burglaries and home invasions (breaking into someone’s house in order to rob them), most burglars prefer unoccupied targets. Before attempting to break in, burglars will check for signs that someone is home (lights, noises, parked cars in the drive way, human silhouettes).  </a:t>
            </a:r>
          </a:p>
          <a:p>
            <a:pPr marL="0" indent="0">
              <a:lnSpc>
                <a:spcPct val="150000"/>
              </a:lnSpc>
              <a:spcBef>
                <a:spcPts val="0"/>
              </a:spcBef>
              <a:buNone/>
            </a:pPr>
            <a:endParaRPr lang="en-US" dirty="0"/>
          </a:p>
          <a:p>
            <a:pPr marL="0" indent="0">
              <a:lnSpc>
                <a:spcPct val="150000"/>
              </a:lnSpc>
              <a:spcBef>
                <a:spcPts val="0"/>
              </a:spcBef>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2298" y="-1"/>
            <a:ext cx="4399984" cy="2934755"/>
          </a:xfrm>
          <a:prstGeom prst="rect">
            <a:avLst/>
          </a:prstGeom>
        </p:spPr>
      </p:pic>
    </p:spTree>
    <p:extLst>
      <p:ext uri="{BB962C8B-B14F-4D97-AF65-F5344CB8AC3E}">
        <p14:creationId xmlns:p14="http://schemas.microsoft.com/office/powerpoint/2010/main" val="441527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7327"/>
          </a:xfrm>
        </p:spPr>
        <p:txBody>
          <a:bodyPr>
            <a:normAutofit fontScale="90000"/>
          </a:bodyPr>
          <a:lstStyle/>
          <a:p>
            <a:r>
              <a:rPr lang="en-US" dirty="0"/>
              <a:t>                                                      </a:t>
            </a:r>
          </a:p>
        </p:txBody>
      </p:sp>
      <p:sp>
        <p:nvSpPr>
          <p:cNvPr id="3" name="Content Placeholder 2"/>
          <p:cNvSpPr>
            <a:spLocks noGrp="1"/>
          </p:cNvSpPr>
          <p:nvPr>
            <p:ph idx="1"/>
          </p:nvPr>
        </p:nvSpPr>
        <p:spPr>
          <a:xfrm>
            <a:off x="838200" y="365126"/>
            <a:ext cx="10515600" cy="5811838"/>
          </a:xfrm>
        </p:spPr>
        <p:txBody>
          <a:bodyPr/>
          <a:lstStyle/>
          <a:p>
            <a:pPr>
              <a:lnSpc>
                <a:spcPct val="150000"/>
              </a:lnSpc>
              <a:spcBef>
                <a:spcPts val="0"/>
              </a:spcBef>
            </a:pPr>
            <a:r>
              <a:rPr lang="en-US" dirty="0"/>
              <a:t>4. signs of potential rewards: since the motivation for most burglars is financial, an important aspect of target selection is the possibility of being able to steal items of high value. Thus, offenders look for signs that a potential target will yield financial rewards.</a:t>
            </a:r>
          </a:p>
          <a:p>
            <a:endParaRPr lang="en-US" dirty="0"/>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9554" y="3476206"/>
            <a:ext cx="4854245" cy="338179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3476207"/>
            <a:ext cx="4947746" cy="3381794"/>
          </a:xfrm>
          <a:prstGeom prst="rect">
            <a:avLst/>
          </a:prstGeom>
        </p:spPr>
      </p:pic>
    </p:spTree>
    <p:extLst>
      <p:ext uri="{BB962C8B-B14F-4D97-AF65-F5344CB8AC3E}">
        <p14:creationId xmlns:p14="http://schemas.microsoft.com/office/powerpoint/2010/main" val="1708655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75853"/>
          </a:xfrm>
        </p:spPr>
        <p:txBody>
          <a:bodyPr>
            <a:normAutofit fontScale="90000"/>
          </a:bodyPr>
          <a:lstStyle/>
          <a:p>
            <a:r>
              <a:rPr lang="en-US" dirty="0"/>
              <a:t>                                                         </a:t>
            </a:r>
          </a:p>
        </p:txBody>
      </p:sp>
      <p:sp>
        <p:nvSpPr>
          <p:cNvPr id="3" name="Content Placeholder 2"/>
          <p:cNvSpPr>
            <a:spLocks noGrp="1"/>
          </p:cNvSpPr>
          <p:nvPr>
            <p:ph idx="1"/>
          </p:nvPr>
        </p:nvSpPr>
        <p:spPr>
          <a:xfrm>
            <a:off x="838200" y="365126"/>
            <a:ext cx="10515600" cy="5811837"/>
          </a:xfrm>
        </p:spPr>
        <p:txBody>
          <a:bodyPr>
            <a:normAutofit fontScale="92500" lnSpcReduction="10000"/>
          </a:bodyPr>
          <a:lstStyle/>
          <a:p>
            <a:pPr marL="0" indent="0">
              <a:lnSpc>
                <a:spcPct val="150000"/>
              </a:lnSpc>
              <a:spcBef>
                <a:spcPts val="0"/>
              </a:spcBef>
              <a:buNone/>
            </a:pPr>
            <a:r>
              <a:rPr lang="en-US" dirty="0"/>
              <a:t>5. the built environment: often found in discussions of Crime Prevention Through Environment Design (CPTED), this is a term used to describe those features of an area that are designed and built by humans. In relation to burglary, the built environment typically refers to those features of a neighbourhood or community that can increase or decrease communal safety. </a:t>
            </a:r>
          </a:p>
          <a:p>
            <a:pPr marL="0" indent="0">
              <a:lnSpc>
                <a:spcPct val="150000"/>
              </a:lnSpc>
              <a:spcBef>
                <a:spcPts val="0"/>
              </a:spcBef>
              <a:buNone/>
            </a:pPr>
            <a:r>
              <a:rPr lang="en-US" dirty="0"/>
              <a:t>An excellent example of how a built environment can potentially deter burglary is the gated community, which controls access to the homes within through the use of deterrent fencing, guards, CCTV cameras and remote control access.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1545" y="5388474"/>
            <a:ext cx="1863011" cy="1271650"/>
          </a:xfrm>
          <a:prstGeom prst="rect">
            <a:avLst/>
          </a:prstGeom>
        </p:spPr>
      </p:pic>
    </p:spTree>
    <p:extLst>
      <p:ext uri="{BB962C8B-B14F-4D97-AF65-F5344CB8AC3E}">
        <p14:creationId xmlns:p14="http://schemas.microsoft.com/office/powerpoint/2010/main" val="647649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6572"/>
          </a:xfrm>
        </p:spPr>
        <p:txBody>
          <a:bodyPr>
            <a:normAutofit fontScale="90000"/>
          </a:bodyPr>
          <a:lstStyle/>
          <a:p>
            <a:pPr algn="ctr"/>
            <a:r>
              <a:rPr lang="en-US" b="1" dirty="0"/>
              <a:t>More on familiarity</a:t>
            </a:r>
          </a:p>
        </p:txBody>
      </p:sp>
      <p:sp>
        <p:nvSpPr>
          <p:cNvPr id="3" name="Content Placeholder 2"/>
          <p:cNvSpPr>
            <a:spLocks noGrp="1"/>
          </p:cNvSpPr>
          <p:nvPr>
            <p:ph idx="1"/>
          </p:nvPr>
        </p:nvSpPr>
        <p:spPr>
          <a:xfrm>
            <a:off x="838200" y="1213945"/>
            <a:ext cx="10515600" cy="4963018"/>
          </a:xfrm>
        </p:spPr>
        <p:txBody>
          <a:bodyPr>
            <a:normAutofit fontScale="85000" lnSpcReduction="10000"/>
          </a:bodyPr>
          <a:lstStyle/>
          <a:p>
            <a:pPr marL="0" indent="0">
              <a:lnSpc>
                <a:spcPct val="150000"/>
              </a:lnSpc>
              <a:spcBef>
                <a:spcPts val="0"/>
              </a:spcBef>
              <a:buNone/>
            </a:pPr>
            <a:r>
              <a:rPr lang="en-US" b="1" dirty="0"/>
              <a:t>repeat victimization </a:t>
            </a:r>
            <a:r>
              <a:rPr lang="en-US" dirty="0"/>
              <a:t>– several studies suggest that once an address has been victimized, it can be further re-victimized multiple times. This is because it is easier for offenders to repeat a crime where they have already been successful than to identify a new target (Pease 1998). </a:t>
            </a:r>
          </a:p>
          <a:p>
            <a:pPr marL="0" indent="0">
              <a:lnSpc>
                <a:spcPct val="150000"/>
              </a:lnSpc>
              <a:spcBef>
                <a:spcPts val="0"/>
              </a:spcBef>
              <a:buNone/>
            </a:pPr>
            <a:endParaRPr lang="en-US" dirty="0"/>
          </a:p>
          <a:p>
            <a:pPr marL="0" indent="0">
              <a:lnSpc>
                <a:spcPct val="150000"/>
              </a:lnSpc>
              <a:spcBef>
                <a:spcPts val="0"/>
              </a:spcBef>
              <a:buNone/>
            </a:pPr>
            <a:r>
              <a:rPr lang="en-US" dirty="0"/>
              <a:t>In a study by Ericsson (1997), 76% of burglars interviewed stated they had gone back to previously targeted houses to re-burgle them after a period of time (during which the owners would likely purchase new items). Some offenders advised they had burgled the same house between 2 and 5 times.</a:t>
            </a:r>
          </a:p>
          <a:p>
            <a:endParaRPr lang="en-US" dirty="0"/>
          </a:p>
        </p:txBody>
      </p:sp>
    </p:spTree>
    <p:extLst>
      <p:ext uri="{BB962C8B-B14F-4D97-AF65-F5344CB8AC3E}">
        <p14:creationId xmlns:p14="http://schemas.microsoft.com/office/powerpoint/2010/main" val="1453100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9634"/>
          </a:xfrm>
        </p:spPr>
        <p:txBody>
          <a:bodyPr>
            <a:normAutofit fontScale="90000"/>
          </a:bodyPr>
          <a:lstStyle/>
          <a:p>
            <a:pPr algn="ctr"/>
            <a:r>
              <a:rPr lang="en-US" b="1" dirty="0"/>
              <a:t>Familiarity continued:</a:t>
            </a:r>
          </a:p>
        </p:txBody>
      </p:sp>
      <p:sp>
        <p:nvSpPr>
          <p:cNvPr id="3" name="Content Placeholder 2"/>
          <p:cNvSpPr>
            <a:spLocks noGrp="1"/>
          </p:cNvSpPr>
          <p:nvPr>
            <p:ph idx="1"/>
          </p:nvPr>
        </p:nvSpPr>
        <p:spPr>
          <a:xfrm>
            <a:off x="838200" y="1150883"/>
            <a:ext cx="10515600" cy="5344509"/>
          </a:xfrm>
        </p:spPr>
        <p:txBody>
          <a:bodyPr>
            <a:normAutofit fontScale="92500" lnSpcReduction="10000"/>
          </a:bodyPr>
          <a:lstStyle/>
          <a:p>
            <a:r>
              <a:rPr lang="en-US" dirty="0"/>
              <a:t>Not all homes or businesses are at equal risk of being re-victimized.</a:t>
            </a:r>
          </a:p>
          <a:p>
            <a:pPr marL="0" indent="0">
              <a:buNone/>
            </a:pPr>
            <a:endParaRPr lang="en-US" dirty="0"/>
          </a:p>
          <a:p>
            <a:r>
              <a:rPr lang="en-US" dirty="0"/>
              <a:t> Homes in higher-income neighbourhoods are typically re-burgled less frequently. </a:t>
            </a:r>
          </a:p>
          <a:p>
            <a:pPr marL="0" indent="0">
              <a:buNone/>
            </a:pPr>
            <a:endParaRPr lang="en-US" dirty="0"/>
          </a:p>
          <a:p>
            <a:r>
              <a:rPr lang="en-US" dirty="0"/>
              <a:t>One explanation is that, once victimized, home owners spend money installing and upgrading security features.</a:t>
            </a:r>
          </a:p>
          <a:p>
            <a:pPr marL="0" indent="0">
              <a:buNone/>
            </a:pPr>
            <a:r>
              <a:rPr lang="en-US" dirty="0"/>
              <a:t> </a:t>
            </a:r>
          </a:p>
          <a:p>
            <a:r>
              <a:rPr lang="en-US" dirty="0"/>
              <a:t>Another explanation is that burglary in affluent neighbourhoods typically requires some planning and travel, making repeats less likely, whereas burglary in lower-income neighbourhoods, where burglars likely live, can be more random and opportunistic (Bowers and Johnson 2005).           </a:t>
            </a:r>
          </a:p>
          <a:p>
            <a:endParaRPr lang="en-US" dirty="0"/>
          </a:p>
        </p:txBody>
      </p:sp>
    </p:spTree>
    <p:extLst>
      <p:ext uri="{BB962C8B-B14F-4D97-AF65-F5344CB8AC3E}">
        <p14:creationId xmlns:p14="http://schemas.microsoft.com/office/powerpoint/2010/main" val="4173576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2337"/>
          </a:xfrm>
        </p:spPr>
        <p:txBody>
          <a:bodyPr>
            <a:normAutofit fontScale="90000"/>
          </a:bodyPr>
          <a:lstStyle/>
          <a:p>
            <a:pPr algn="ctr"/>
            <a:r>
              <a:rPr lang="en-US" b="1" dirty="0"/>
              <a:t>Familiarity continued:</a:t>
            </a:r>
          </a:p>
        </p:txBody>
      </p:sp>
      <p:sp>
        <p:nvSpPr>
          <p:cNvPr id="3" name="Content Placeholder 2"/>
          <p:cNvSpPr>
            <a:spLocks noGrp="1"/>
          </p:cNvSpPr>
          <p:nvPr>
            <p:ph idx="1"/>
          </p:nvPr>
        </p:nvSpPr>
        <p:spPr>
          <a:xfrm>
            <a:off x="838200" y="1119352"/>
            <a:ext cx="10515600" cy="5376041"/>
          </a:xfrm>
        </p:spPr>
        <p:txBody>
          <a:bodyPr>
            <a:normAutofit/>
          </a:bodyPr>
          <a:lstStyle/>
          <a:p>
            <a:pPr>
              <a:lnSpc>
                <a:spcPct val="100000"/>
              </a:lnSpc>
              <a:spcBef>
                <a:spcPts val="0"/>
              </a:spcBef>
            </a:pPr>
            <a:r>
              <a:rPr lang="en-US" dirty="0"/>
              <a:t>near repeats – once a home or apartment in an area has been burglarized, nearby residences or structures are at increased risk of becoming victimized because it signals to the offender that this is a ‘safe’ neighbourhood within which to commit further offences. Once a home in a neighbourhood has been victimized, subsequent victims in the area are termed a ‘near repeat’ (Morgan 2000).  </a:t>
            </a:r>
          </a:p>
          <a:p>
            <a:pPr>
              <a:lnSpc>
                <a:spcPct val="100000"/>
              </a:lnSpc>
              <a:spcBef>
                <a:spcPts val="0"/>
              </a:spcBef>
            </a:pPr>
            <a:endParaRPr lang="en-US" dirty="0"/>
          </a:p>
          <a:p>
            <a:pPr marL="0" indent="0">
              <a:buNone/>
            </a:pPr>
            <a:endParaRPr lang="en-US" dirty="0"/>
          </a:p>
        </p:txBody>
      </p:sp>
      <p:pic>
        <p:nvPicPr>
          <p:cNvPr id="4" name="Picture 2" descr="http://kfmb.images.worldnow.com/images/8266919_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7337" y="3807372"/>
            <a:ext cx="5312980" cy="2988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539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lstStyle/>
          <a:p>
            <a:pPr algn="ctr"/>
            <a:r>
              <a:rPr lang="en-US" b="1" dirty="0"/>
              <a:t>More on occupancy – day-time burglary</a:t>
            </a:r>
          </a:p>
        </p:txBody>
      </p:sp>
      <p:sp>
        <p:nvSpPr>
          <p:cNvPr id="3" name="Content Placeholder 2"/>
          <p:cNvSpPr>
            <a:spLocks noGrp="1"/>
          </p:cNvSpPr>
          <p:nvPr>
            <p:ph idx="1"/>
          </p:nvPr>
        </p:nvSpPr>
        <p:spPr>
          <a:xfrm>
            <a:off x="838200" y="1497724"/>
            <a:ext cx="10515600" cy="4679239"/>
          </a:xfrm>
        </p:spPr>
        <p:txBody>
          <a:bodyPr>
            <a:normAutofit lnSpcReduction="10000"/>
          </a:bodyPr>
          <a:lstStyle/>
          <a:p>
            <a:pPr>
              <a:lnSpc>
                <a:spcPct val="110000"/>
              </a:lnSpc>
              <a:spcBef>
                <a:spcPts val="0"/>
              </a:spcBef>
            </a:pPr>
            <a:r>
              <a:rPr lang="en-US" dirty="0"/>
              <a:t>Daytime burglaries are often committed by younger, less experienced offenders, often in pairs and on foot. </a:t>
            </a:r>
            <a:r>
              <a:rPr lang="en-US" dirty="0" err="1"/>
              <a:t>Ie</a:t>
            </a:r>
            <a:r>
              <a:rPr lang="en-US" dirty="0"/>
              <a:t>. amateurs</a:t>
            </a:r>
          </a:p>
          <a:p>
            <a:pPr marL="0" indent="0">
              <a:lnSpc>
                <a:spcPct val="110000"/>
              </a:lnSpc>
              <a:spcBef>
                <a:spcPts val="0"/>
              </a:spcBef>
              <a:buNone/>
            </a:pPr>
            <a:endParaRPr lang="en-US" dirty="0"/>
          </a:p>
          <a:p>
            <a:pPr>
              <a:lnSpc>
                <a:spcPct val="110000"/>
              </a:lnSpc>
              <a:spcBef>
                <a:spcPts val="0"/>
              </a:spcBef>
            </a:pPr>
            <a:r>
              <a:rPr lang="en-US" dirty="0"/>
              <a:t>While being on foot exposes them to increased risks of being seen, many select low-density, less secure homes with vegetation or other cover to reduce their visibility. </a:t>
            </a:r>
          </a:p>
          <a:p>
            <a:pPr marL="0" indent="0">
              <a:lnSpc>
                <a:spcPct val="110000"/>
              </a:lnSpc>
              <a:spcBef>
                <a:spcPts val="0"/>
              </a:spcBef>
              <a:buNone/>
            </a:pPr>
            <a:endParaRPr lang="en-US" dirty="0"/>
          </a:p>
          <a:p>
            <a:pPr>
              <a:lnSpc>
                <a:spcPct val="110000"/>
              </a:lnSpc>
              <a:spcBef>
                <a:spcPts val="0"/>
              </a:spcBef>
            </a:pPr>
            <a:r>
              <a:rPr lang="en-US" dirty="0"/>
              <a:t>Daytime is also more opportune for avoiding </a:t>
            </a:r>
          </a:p>
          <a:p>
            <a:pPr marL="0" indent="0">
              <a:lnSpc>
                <a:spcPct val="110000"/>
              </a:lnSpc>
              <a:spcBef>
                <a:spcPts val="0"/>
              </a:spcBef>
              <a:buNone/>
            </a:pPr>
            <a:r>
              <a:rPr lang="en-US" dirty="0"/>
              <a:t>home owners; younger offenders are less willing to </a:t>
            </a:r>
          </a:p>
          <a:p>
            <a:pPr marL="0" indent="0">
              <a:lnSpc>
                <a:spcPct val="110000"/>
              </a:lnSpc>
              <a:spcBef>
                <a:spcPts val="0"/>
              </a:spcBef>
              <a:buNone/>
            </a:pPr>
            <a:r>
              <a:rPr lang="en-US" dirty="0"/>
              <a:t>risk encountering victims directly (Montoya et al. 2015).   </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1050" y="3677471"/>
            <a:ext cx="2952750" cy="1552575"/>
          </a:xfrm>
          <a:prstGeom prst="rect">
            <a:avLst/>
          </a:prstGeom>
        </p:spPr>
      </p:pic>
    </p:spTree>
    <p:extLst>
      <p:ext uri="{BB962C8B-B14F-4D97-AF65-F5344CB8AC3E}">
        <p14:creationId xmlns:p14="http://schemas.microsoft.com/office/powerpoint/2010/main" val="3828490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More on occupancy – night-time burglary</a:t>
            </a:r>
          </a:p>
        </p:txBody>
      </p:sp>
      <p:sp>
        <p:nvSpPr>
          <p:cNvPr id="3" name="Content Placeholder 2"/>
          <p:cNvSpPr>
            <a:spLocks noGrp="1"/>
          </p:cNvSpPr>
          <p:nvPr>
            <p:ph idx="1"/>
          </p:nvPr>
        </p:nvSpPr>
        <p:spPr/>
        <p:txBody>
          <a:bodyPr/>
          <a:lstStyle/>
          <a:p>
            <a:r>
              <a:rPr lang="en-US" dirty="0"/>
              <a:t>Night-time burglaries are more frequently committed by older, more experienced offenders, working alone, and usually closer to home. </a:t>
            </a:r>
            <a:r>
              <a:rPr lang="en-US" dirty="0" err="1"/>
              <a:t>Ie</a:t>
            </a:r>
            <a:r>
              <a:rPr lang="en-US" dirty="0"/>
              <a:t>. professionals</a:t>
            </a:r>
          </a:p>
          <a:p>
            <a:pPr marL="0" indent="0">
              <a:buNone/>
            </a:pPr>
            <a:endParaRPr lang="en-US" dirty="0"/>
          </a:p>
          <a:p>
            <a:pPr marL="0" indent="0">
              <a:buNone/>
            </a:pPr>
            <a:endParaRPr lang="en-US" dirty="0"/>
          </a:p>
          <a:p>
            <a:pPr marL="0" indent="0">
              <a:buNone/>
            </a:pPr>
            <a:endParaRPr lang="en-US" dirty="0"/>
          </a:p>
          <a:p>
            <a:r>
              <a:rPr lang="en-US" dirty="0"/>
              <a:t> Working at night increases the risk of encountering a victim, as does the fact they may select more heavily guarded structures (Coupe &amp; Blake, 2006).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4193" y="2758965"/>
            <a:ext cx="3163614" cy="1742089"/>
          </a:xfrm>
          <a:prstGeom prst="rect">
            <a:avLst/>
          </a:prstGeom>
        </p:spPr>
      </p:pic>
    </p:spTree>
    <p:extLst>
      <p:ext uri="{BB962C8B-B14F-4D97-AF65-F5344CB8AC3E}">
        <p14:creationId xmlns:p14="http://schemas.microsoft.com/office/powerpoint/2010/main" val="1152934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3780"/>
            <a:ext cx="9144000" cy="839134"/>
          </a:xfrm>
        </p:spPr>
        <p:txBody>
          <a:bodyPr>
            <a:normAutofit fontScale="90000"/>
          </a:bodyPr>
          <a:lstStyle/>
          <a:p>
            <a:r>
              <a:rPr lang="en-US" b="1" dirty="0"/>
              <a:t>Crime prevention</a:t>
            </a:r>
          </a:p>
        </p:txBody>
      </p:sp>
      <p:sp>
        <p:nvSpPr>
          <p:cNvPr id="3" name="Subtitle 2"/>
          <p:cNvSpPr>
            <a:spLocks noGrp="1"/>
          </p:cNvSpPr>
          <p:nvPr>
            <p:ph type="subTitle" idx="1"/>
          </p:nvPr>
        </p:nvSpPr>
        <p:spPr>
          <a:xfrm>
            <a:off x="5039711" y="7212341"/>
            <a:ext cx="9144000" cy="1655762"/>
          </a:xfrm>
        </p:spPr>
        <p:txBody>
          <a:bodyPr/>
          <a:lstStyle/>
          <a:p>
            <a:endParaRPr lang="en-US" dirty="0"/>
          </a:p>
        </p:txBody>
      </p:sp>
      <p:pic>
        <p:nvPicPr>
          <p:cNvPr id="7170" name="Picture 2" descr="http://cdnmo.coveritlive.com/media/image/201412/thumb900_phpmynjrhleaflet_fron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1738" y="1291602"/>
            <a:ext cx="4497053" cy="575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7541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 key concept in burglary prevention:</a:t>
            </a:r>
          </a:p>
        </p:txBody>
      </p:sp>
      <p:sp>
        <p:nvSpPr>
          <p:cNvPr id="3" name="Content Placeholder 2"/>
          <p:cNvSpPr>
            <a:spLocks noGrp="1"/>
          </p:cNvSpPr>
          <p:nvPr>
            <p:ph idx="1"/>
          </p:nvPr>
        </p:nvSpPr>
        <p:spPr/>
        <p:txBody>
          <a:bodyPr/>
          <a:lstStyle/>
          <a:p>
            <a:pPr marL="0" indent="0">
              <a:buNone/>
            </a:pPr>
            <a:r>
              <a:rPr lang="en-US" b="1" dirty="0"/>
              <a:t>target hardening</a:t>
            </a:r>
            <a:r>
              <a:rPr lang="en-US" dirty="0"/>
              <a:t> –  making a home or other structure less attractive by</a:t>
            </a:r>
          </a:p>
          <a:p>
            <a:pPr marL="514350" indent="-514350">
              <a:buAutoNum type="alphaLcPeriod"/>
            </a:pPr>
            <a:r>
              <a:rPr lang="en-US" dirty="0"/>
              <a:t>decreasing the odds of successful entry and/or </a:t>
            </a:r>
          </a:p>
          <a:p>
            <a:pPr marL="514350" indent="-514350">
              <a:buAutoNum type="alphaLcPeriod"/>
            </a:pPr>
            <a:r>
              <a:rPr lang="en-US" dirty="0"/>
              <a:t>increasing the risk of the perpetrator getting caught.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7058" y="3481032"/>
            <a:ext cx="6028722" cy="3014361"/>
          </a:xfrm>
          <a:prstGeom prst="rect">
            <a:avLst/>
          </a:prstGeom>
        </p:spPr>
      </p:pic>
    </p:spTree>
    <p:extLst>
      <p:ext uri="{BB962C8B-B14F-4D97-AF65-F5344CB8AC3E}">
        <p14:creationId xmlns:p14="http://schemas.microsoft.com/office/powerpoint/2010/main" val="3574083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What works to deter day-time burglaries?</a:t>
            </a:r>
          </a:p>
        </p:txBody>
      </p:sp>
      <p:sp>
        <p:nvSpPr>
          <p:cNvPr id="3" name="Content Placeholder 2"/>
          <p:cNvSpPr>
            <a:spLocks noGrp="1"/>
          </p:cNvSpPr>
          <p:nvPr>
            <p:ph idx="1"/>
          </p:nvPr>
        </p:nvSpPr>
        <p:spPr>
          <a:xfrm>
            <a:off x="838200" y="1825624"/>
            <a:ext cx="10515600" cy="4764361"/>
          </a:xfrm>
        </p:spPr>
        <p:txBody>
          <a:bodyPr/>
          <a:lstStyle/>
          <a:p>
            <a:pPr marL="0" indent="0">
              <a:buNone/>
            </a:pPr>
            <a:r>
              <a:rPr lang="en-US" dirty="0"/>
              <a:t>In a study by Montoya and others (2015), houses were less likely to be victimized by day-time offenders when they:</a:t>
            </a:r>
          </a:p>
          <a:p>
            <a:pPr marL="0" indent="0">
              <a:buNone/>
            </a:pPr>
            <a:endParaRPr lang="en-US" dirty="0"/>
          </a:p>
          <a:p>
            <a:pPr lvl="0"/>
            <a:r>
              <a:rPr lang="en-US" dirty="0"/>
              <a:t>Had a front yard or front garden</a:t>
            </a:r>
          </a:p>
          <a:p>
            <a:pPr lvl="0"/>
            <a:r>
              <a:rPr lang="en-US" dirty="0"/>
              <a:t> Were attached or semi-detached dwellings (they were more likely to be victimized if on a corner lot).</a:t>
            </a:r>
          </a:p>
          <a:p>
            <a:pPr lvl="0"/>
            <a:r>
              <a:rPr lang="en-US" dirty="0"/>
              <a:t>Were located within a stable neighbourhood</a:t>
            </a:r>
          </a:p>
          <a:p>
            <a:pPr lvl="0"/>
            <a:r>
              <a:rPr lang="en-US" dirty="0"/>
              <a:t>Were close to commercial establishments</a:t>
            </a:r>
          </a:p>
          <a:p>
            <a:pPr lvl="0"/>
            <a:r>
              <a:rPr lang="en-US" dirty="0"/>
              <a:t>Had window screening</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70631" y="4207804"/>
            <a:ext cx="3125514" cy="2261262"/>
          </a:xfrm>
          <a:prstGeom prst="rect">
            <a:avLst/>
          </a:prstGeom>
        </p:spPr>
      </p:pic>
    </p:spTree>
    <p:extLst>
      <p:ext uri="{BB962C8B-B14F-4D97-AF65-F5344CB8AC3E}">
        <p14:creationId xmlns:p14="http://schemas.microsoft.com/office/powerpoint/2010/main" val="4136294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What works to deter night-time burglaries?</a:t>
            </a:r>
            <a:endParaRPr lang="en-US" dirty="0"/>
          </a:p>
        </p:txBody>
      </p:sp>
      <p:sp>
        <p:nvSpPr>
          <p:cNvPr id="3" name="Content Placeholder 2"/>
          <p:cNvSpPr>
            <a:spLocks noGrp="1"/>
          </p:cNvSpPr>
          <p:nvPr>
            <p:ph idx="1"/>
          </p:nvPr>
        </p:nvSpPr>
        <p:spPr/>
        <p:txBody>
          <a:bodyPr/>
          <a:lstStyle/>
          <a:p>
            <a:r>
              <a:rPr lang="en-US" dirty="0"/>
              <a:t>Houses were less likely to be victimized by night-time offenders when:</a:t>
            </a:r>
          </a:p>
          <a:p>
            <a:pPr marL="0" indent="0">
              <a:buNone/>
            </a:pPr>
            <a:r>
              <a:rPr lang="en-US" dirty="0"/>
              <a:t> </a:t>
            </a:r>
          </a:p>
          <a:p>
            <a:pPr lvl="0"/>
            <a:r>
              <a:rPr lang="en-US" dirty="0"/>
              <a:t>they were undetached</a:t>
            </a:r>
          </a:p>
          <a:p>
            <a:pPr lvl="0"/>
            <a:r>
              <a:rPr lang="en-US" dirty="0"/>
              <a:t>they had window screening</a:t>
            </a:r>
          </a:p>
          <a:p>
            <a:pPr lvl="0"/>
            <a:r>
              <a:rPr lang="en-US" dirty="0"/>
              <a:t>there were signs of a dog present</a:t>
            </a:r>
          </a:p>
          <a:p>
            <a:pPr lvl="0"/>
            <a:r>
              <a:rPr lang="en-US" dirty="0"/>
              <a:t>there was visibility into the back yard or garden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7119" y="2343451"/>
            <a:ext cx="3136681" cy="4186672"/>
          </a:xfrm>
          <a:prstGeom prst="rect">
            <a:avLst/>
          </a:prstGeom>
        </p:spPr>
      </p:pic>
    </p:spTree>
    <p:extLst>
      <p:ext uri="{BB962C8B-B14F-4D97-AF65-F5344CB8AC3E}">
        <p14:creationId xmlns:p14="http://schemas.microsoft.com/office/powerpoint/2010/main" val="3254923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Target hardening &amp; displacement effects</a:t>
            </a:r>
          </a:p>
        </p:txBody>
      </p:sp>
      <p:sp>
        <p:nvSpPr>
          <p:cNvPr id="3" name="Content Placeholder 2"/>
          <p:cNvSpPr>
            <a:spLocks noGrp="1"/>
          </p:cNvSpPr>
          <p:nvPr>
            <p:ph idx="1"/>
          </p:nvPr>
        </p:nvSpPr>
        <p:spPr/>
        <p:txBody>
          <a:bodyPr/>
          <a:lstStyle/>
          <a:p>
            <a:r>
              <a:rPr lang="en-US" dirty="0"/>
              <a:t>Target hardening efforts can produce a </a:t>
            </a:r>
            <a:r>
              <a:rPr lang="en-US" b="1" dirty="0"/>
              <a:t>displacement effect</a:t>
            </a:r>
            <a:r>
              <a:rPr lang="en-US" dirty="0"/>
              <a:t> by making nearby homes without security measures more attractive to offenders. </a:t>
            </a:r>
          </a:p>
          <a:p>
            <a:endParaRPr lang="en-US" dirty="0"/>
          </a:p>
          <a:p>
            <a:r>
              <a:rPr lang="en-US" dirty="0"/>
              <a:t>Research by Bowers and Johnson (2005) found that near-repeats were more likely in wealthier neighbourhoods, where the original victim could afford to install security measures (by way of contrast, repeat burglaries of the same dwelling more common in low income housing). </a:t>
            </a:r>
          </a:p>
          <a:p>
            <a:endParaRPr lang="en-US" dirty="0"/>
          </a:p>
        </p:txBody>
      </p:sp>
    </p:spTree>
    <p:extLst>
      <p:ext uri="{BB962C8B-B14F-4D97-AF65-F5344CB8AC3E}">
        <p14:creationId xmlns:p14="http://schemas.microsoft.com/office/powerpoint/2010/main" val="3939355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3024-259D-486A-B437-25C9A24673CC}"/>
              </a:ext>
            </a:extLst>
          </p:cNvPr>
          <p:cNvSpPr>
            <a:spLocks noGrp="1"/>
          </p:cNvSpPr>
          <p:nvPr>
            <p:ph type="title"/>
          </p:nvPr>
        </p:nvSpPr>
        <p:spPr/>
        <p:txBody>
          <a:bodyPr/>
          <a:lstStyle/>
          <a:p>
            <a:pPr algn="ctr"/>
            <a:r>
              <a:rPr lang="en-CA" b="1" dirty="0"/>
              <a:t>*all done!*</a:t>
            </a:r>
          </a:p>
        </p:txBody>
      </p:sp>
      <p:pic>
        <p:nvPicPr>
          <p:cNvPr id="5" name="Content Placeholder 4">
            <a:extLst>
              <a:ext uri="{FF2B5EF4-FFF2-40B4-BE49-F238E27FC236}">
                <a16:creationId xmlns:a16="http://schemas.microsoft.com/office/drawing/2014/main" id="{5926F011-9408-41AF-A555-85D493F200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1141" y="1825625"/>
            <a:ext cx="3729718" cy="4351338"/>
          </a:xfrm>
        </p:spPr>
      </p:pic>
    </p:spTree>
    <p:extLst>
      <p:ext uri="{BB962C8B-B14F-4D97-AF65-F5344CB8AC3E}">
        <p14:creationId xmlns:p14="http://schemas.microsoft.com/office/powerpoint/2010/main" val="847448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1221</Words>
  <Application>Microsoft Office PowerPoint</Application>
  <PresentationFormat>宽屏</PresentationFormat>
  <Paragraphs>76</Paragraphs>
  <Slides>21</Slides>
  <Notes>0</Notes>
  <HiddenSlides>0</HiddenSlides>
  <MMClips>0</MMClips>
  <ScaleCrop>false</ScaleCrop>
  <HeadingPairs>
    <vt:vector size="4" baseType="variant">
      <vt:variant>
        <vt:lpstr>主题</vt:lpstr>
      </vt:variant>
      <vt:variant>
        <vt:i4>1</vt:i4>
      </vt:variant>
      <vt:variant>
        <vt:lpstr>幻灯片标题</vt:lpstr>
      </vt:variant>
      <vt:variant>
        <vt:i4>21</vt:i4>
      </vt:variant>
    </vt:vector>
  </HeadingPairs>
  <TitlesOfParts>
    <vt:vector size="22" baseType="lpstr">
      <vt:lpstr>Office Theme</vt:lpstr>
      <vt:lpstr>Preventing victimization - I</vt:lpstr>
      <vt:lpstr>Burglary</vt:lpstr>
      <vt:lpstr>Definition</vt:lpstr>
      <vt:lpstr>Stats and facts:</vt:lpstr>
      <vt:lpstr>What do we know about burglary?</vt:lpstr>
      <vt:lpstr>Research on burglary has focused largely on 5 factors:</vt:lpstr>
      <vt:lpstr>                                            </vt:lpstr>
      <vt:lpstr>                        </vt:lpstr>
      <vt:lpstr>                                                      </vt:lpstr>
      <vt:lpstr>                                                         </vt:lpstr>
      <vt:lpstr>More on familiarity</vt:lpstr>
      <vt:lpstr>Familiarity continued:</vt:lpstr>
      <vt:lpstr>Familiarity continued:</vt:lpstr>
      <vt:lpstr>More on occupancy – day-time burglary</vt:lpstr>
      <vt:lpstr>More on occupancy – night-time burglary</vt:lpstr>
      <vt:lpstr>Crime prevention</vt:lpstr>
      <vt:lpstr>A key concept in burglary prevention:</vt:lpstr>
      <vt:lpstr>What works to deter day-time burglaries?</vt:lpstr>
      <vt:lpstr>What works to deter night-time burglaries?</vt:lpstr>
      <vt:lpstr>Target hardening &amp; displacement effects</vt:lpstr>
      <vt:lpstr>*all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Preventing victimization</dc:title>
  <dc:creator>Laura Huey</dc:creator>
  <cp:lastModifiedBy>Laura Huey</cp:lastModifiedBy>
  <cp:revision>3</cp:revision>
  <dcterms:created xsi:type="dcterms:W3CDTF">2024-03-19T21:43:51Z</dcterms:created>
  <dcterms:modified xsi:type="dcterms:W3CDTF">2026-04-01T22:17:01Z</dcterms:modified>
</cp:coreProperties>
</file>