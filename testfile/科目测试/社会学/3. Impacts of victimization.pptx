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4" r:id="rId3"/>
    <p:sldId id="259" r:id="rId4"/>
    <p:sldId id="260" r:id="rId5"/>
    <p:sldId id="257" r:id="rId6"/>
    <p:sldId id="258" r:id="rId7"/>
    <p:sldId id="267" r:id="rId8"/>
    <p:sldId id="261" r:id="rId9"/>
    <p:sldId id="262" r:id="rId10"/>
    <p:sldId id="266" r:id="rId11"/>
    <p:sldId id="263" r:id="rId12"/>
    <p:sldId id="264" r:id="rId13"/>
    <p:sldId id="268" r:id="rId14"/>
    <p:sldId id="265" r:id="rId15"/>
    <p:sldId id="272" r:id="rId16"/>
    <p:sldId id="269" r:id="rId17"/>
    <p:sldId id="270" r:id="rId18"/>
    <p:sldId id="275" r:id="rId19"/>
    <p:sldId id="271" r:id="rId20"/>
    <p:sldId id="273" r:id="rId21"/>
    <p:sldId id="274" r:id="rId22"/>
    <p:sldId id="34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84"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479D4-3DB6-233F-1336-31397F05E5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66425A96-07E1-7018-8AF1-6262840699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934867C6-8FCD-E5C2-C286-557F525A3E53}"/>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5" name="Footer Placeholder 4">
            <a:extLst>
              <a:ext uri="{FF2B5EF4-FFF2-40B4-BE49-F238E27FC236}">
                <a16:creationId xmlns:a16="http://schemas.microsoft.com/office/drawing/2014/main" id="{E76E3C33-4C26-18BD-DA95-BF7EB75A10B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4F1B6BE-8C83-8FEF-6250-7C8CC1984EDF}"/>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93649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5312-40DE-B921-76F2-C42EAAF30BF0}"/>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E41E338-371A-FDDD-3E66-B67BB58F41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97103A8-F4E4-2E47-EBF3-A4A40AA4D548}"/>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5" name="Footer Placeholder 4">
            <a:extLst>
              <a:ext uri="{FF2B5EF4-FFF2-40B4-BE49-F238E27FC236}">
                <a16:creationId xmlns:a16="http://schemas.microsoft.com/office/drawing/2014/main" id="{2BAF49CC-E40C-5133-9BC8-C4FC5AEEDAB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F313DC6-C69E-81A8-05A5-5D1A7342F7D7}"/>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2233825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D1E60-DA69-6BF1-3566-FB50435D7E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C8709DFB-657A-27A5-CA0E-0381DD0FB6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8A8208-3D34-2731-D3AD-10A4BB528160}"/>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5" name="Footer Placeholder 4">
            <a:extLst>
              <a:ext uri="{FF2B5EF4-FFF2-40B4-BE49-F238E27FC236}">
                <a16:creationId xmlns:a16="http://schemas.microsoft.com/office/drawing/2014/main" id="{E11FB5BD-CF01-B98F-07C3-DF94C50154B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D88774A-A174-3773-66B4-6E669216F962}"/>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4042713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DCDBD-1B4D-9D34-8FD6-CFB341ED8FF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88DF70C-1D80-80F5-93CF-1C749CF7A4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9C122741-8388-8FA1-A5D4-B8DD6EA71F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8AD0AC0F-39E7-8E6F-FD33-B50EBCDC9D7F}"/>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6" name="Footer Placeholder 5">
            <a:extLst>
              <a:ext uri="{FF2B5EF4-FFF2-40B4-BE49-F238E27FC236}">
                <a16:creationId xmlns:a16="http://schemas.microsoft.com/office/drawing/2014/main" id="{9ACE06D7-B536-8A54-3192-E3823371198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3A20091-337B-1AB5-AD57-E3DCAB25CA92}"/>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3644622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7F157-40C7-83B8-18F3-2912F5E62FFF}"/>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6559A3D-AB14-5ACB-F9D7-966A6E50F9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671DCB-31E8-EE50-941B-2559F20F14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18C6484C-6C1E-C715-C359-A0D81DDEE9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C54616-7BA1-730C-177A-820691D7F9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4A0AC0DB-A101-848E-7EC9-2682DB71E2E1}"/>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8" name="Footer Placeholder 7">
            <a:extLst>
              <a:ext uri="{FF2B5EF4-FFF2-40B4-BE49-F238E27FC236}">
                <a16:creationId xmlns:a16="http://schemas.microsoft.com/office/drawing/2014/main" id="{876A9D86-33F7-D98F-9A42-58430DB4AE7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3A722632-0EFD-B3F7-E84E-6C469D407419}"/>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2311593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70A2D-3EFB-D3DA-1C28-CB9E87EC77C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9CB61E45-3FFB-5B5A-01F2-E1D4E548C3E0}"/>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4" name="Footer Placeholder 3">
            <a:extLst>
              <a:ext uri="{FF2B5EF4-FFF2-40B4-BE49-F238E27FC236}">
                <a16:creationId xmlns:a16="http://schemas.microsoft.com/office/drawing/2014/main" id="{97E3D24A-3358-3640-F802-A9D39663B7AD}"/>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25DCF901-DDC7-A135-4CE8-FC6ECDB5DAA2}"/>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2239278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6D671A-16A7-ACAF-208F-A42B71C399FF}"/>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3" name="Footer Placeholder 2">
            <a:extLst>
              <a:ext uri="{FF2B5EF4-FFF2-40B4-BE49-F238E27FC236}">
                <a16:creationId xmlns:a16="http://schemas.microsoft.com/office/drawing/2014/main" id="{7C98B097-3117-3057-331D-369AB68EF935}"/>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7F7D43C2-A04A-F6A8-1064-D592C5039C1E}"/>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2927443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B5E07-A0CB-41DA-B150-20EC75848F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61893907-815C-CA54-9333-D59A5B8EAE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C49FAA06-CEDC-8E0D-B075-B1E53B3CD0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0DEBD1-F16D-6225-676D-8CADC2C2342D}"/>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6" name="Footer Placeholder 5">
            <a:extLst>
              <a:ext uri="{FF2B5EF4-FFF2-40B4-BE49-F238E27FC236}">
                <a16:creationId xmlns:a16="http://schemas.microsoft.com/office/drawing/2014/main" id="{9F0CCC09-F8B5-220C-1E3C-E0BAB35C21E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0B5C793-E616-0943-A2C9-CD191F7138A9}"/>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1074737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681C6-54EF-382E-1CA1-394660B74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7E408A91-1960-85E8-FF59-4D27AD9F8A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DBC57E32-0EA7-00E4-9F54-D80B3B859B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E23A70-AE33-08E4-1B46-29D613AB28B6}"/>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6" name="Footer Placeholder 5">
            <a:extLst>
              <a:ext uri="{FF2B5EF4-FFF2-40B4-BE49-F238E27FC236}">
                <a16:creationId xmlns:a16="http://schemas.microsoft.com/office/drawing/2014/main" id="{05CD6245-0AB4-BBB4-1CDC-CED35ED0CFE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37B2C9F-BE5E-7525-E6E8-A5C9E018FB8A}"/>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1913816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76CFA-4454-C13D-7242-F8E0635DF07F}"/>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8343AE7-C514-FFA8-207E-687BC1BF92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D470D93-EFD0-2E8B-4555-EBFAECB3B96E}"/>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5" name="Footer Placeholder 4">
            <a:extLst>
              <a:ext uri="{FF2B5EF4-FFF2-40B4-BE49-F238E27FC236}">
                <a16:creationId xmlns:a16="http://schemas.microsoft.com/office/drawing/2014/main" id="{DA15F93E-37DB-A47E-E7AE-D04A1171FB2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AF99A97-8786-937C-0506-DF4264A6C509}"/>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4157410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463C24-3F85-8F8E-3BEC-34119E1A2D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1D39F99-396E-934F-2107-E703F014CC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50F2A70-E38C-5F7D-6B8E-A4A9B602F1CB}"/>
              </a:ext>
            </a:extLst>
          </p:cNvPr>
          <p:cNvSpPr>
            <a:spLocks noGrp="1"/>
          </p:cNvSpPr>
          <p:nvPr>
            <p:ph type="dt" sz="half" idx="10"/>
          </p:nvPr>
        </p:nvSpPr>
        <p:spPr/>
        <p:txBody>
          <a:bodyPr/>
          <a:lstStyle/>
          <a:p>
            <a:fld id="{7CFD99F3-8658-45F3-8ECC-CDC19411C74D}" type="datetimeFigureOut">
              <a:rPr lang="en-CA" smtClean="0"/>
              <a:t>2026-04-01</a:t>
            </a:fld>
            <a:endParaRPr lang="en-CA"/>
          </a:p>
        </p:txBody>
      </p:sp>
      <p:sp>
        <p:nvSpPr>
          <p:cNvPr id="5" name="Footer Placeholder 4">
            <a:extLst>
              <a:ext uri="{FF2B5EF4-FFF2-40B4-BE49-F238E27FC236}">
                <a16:creationId xmlns:a16="http://schemas.microsoft.com/office/drawing/2014/main" id="{29A7F15D-550E-CA57-2D47-81A75919744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6758AFF-D963-6435-9F53-36BA2B520CEC}"/>
              </a:ext>
            </a:extLst>
          </p:cNvPr>
          <p:cNvSpPr>
            <a:spLocks noGrp="1"/>
          </p:cNvSpPr>
          <p:nvPr>
            <p:ph type="sldNum" sz="quarter" idx="12"/>
          </p:nvPr>
        </p:nvSpPr>
        <p:spPr/>
        <p:txBody>
          <a:bodyPr/>
          <a:lstStyle/>
          <a:p>
            <a:fld id="{91EDEB99-FB56-4F45-B0A6-92B1F62C12EC}" type="slidenum">
              <a:rPr lang="en-CA" smtClean="0"/>
              <a:t>‹#›</a:t>
            </a:fld>
            <a:endParaRPr lang="en-CA"/>
          </a:p>
        </p:txBody>
      </p:sp>
    </p:spTree>
    <p:extLst>
      <p:ext uri="{BB962C8B-B14F-4D97-AF65-F5344CB8AC3E}">
        <p14:creationId xmlns:p14="http://schemas.microsoft.com/office/powerpoint/2010/main" val="1490794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A95C4C-BDF3-524B-8EEC-142C34A271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8AE0A81-7747-BD63-8BC0-20EA265092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B8DFB0B-4E11-7D5F-004E-744BC140EE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CFD99F3-8658-45F3-8ECC-CDC19411C74D}" type="datetimeFigureOut">
              <a:rPr lang="en-CA" smtClean="0"/>
              <a:t>2026-04-01</a:t>
            </a:fld>
            <a:endParaRPr lang="en-CA"/>
          </a:p>
        </p:txBody>
      </p:sp>
      <p:sp>
        <p:nvSpPr>
          <p:cNvPr id="5" name="Footer Placeholder 4">
            <a:extLst>
              <a:ext uri="{FF2B5EF4-FFF2-40B4-BE49-F238E27FC236}">
                <a16:creationId xmlns:a16="http://schemas.microsoft.com/office/drawing/2014/main" id="{C162EF36-4946-EB73-F7D2-840BB65A37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E728375C-1FB5-428F-7433-9D8D9CE230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EDEB99-FB56-4F45-B0A6-92B1F62C12EC}" type="slidenum">
              <a:rPr lang="en-CA" smtClean="0"/>
              <a:t>‹#›</a:t>
            </a:fld>
            <a:endParaRPr lang="en-CA"/>
          </a:p>
        </p:txBody>
      </p:sp>
    </p:spTree>
    <p:extLst>
      <p:ext uri="{BB962C8B-B14F-4D97-AF65-F5344CB8AC3E}">
        <p14:creationId xmlns:p14="http://schemas.microsoft.com/office/powerpoint/2010/main" val="2666627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instagram.com/reel/C8UVfAxAigv/?igsh=MWliN2FtMHdiMjZlOA%3D%3D"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B131F-B5A1-3A70-E38D-C2D5FFFD9D21}"/>
              </a:ext>
            </a:extLst>
          </p:cNvPr>
          <p:cNvSpPr>
            <a:spLocks noGrp="1"/>
          </p:cNvSpPr>
          <p:nvPr>
            <p:ph type="ctrTitle"/>
          </p:nvPr>
        </p:nvSpPr>
        <p:spPr>
          <a:xfrm>
            <a:off x="1524000" y="512085"/>
            <a:ext cx="9144000" cy="1088115"/>
          </a:xfrm>
        </p:spPr>
        <p:txBody>
          <a:bodyPr/>
          <a:lstStyle/>
          <a:p>
            <a:r>
              <a:rPr lang="en-CA" dirty="0"/>
              <a:t>Impacts of Victimization</a:t>
            </a:r>
          </a:p>
        </p:txBody>
      </p:sp>
      <p:sp>
        <p:nvSpPr>
          <p:cNvPr id="3" name="Subtitle 2">
            <a:extLst>
              <a:ext uri="{FF2B5EF4-FFF2-40B4-BE49-F238E27FC236}">
                <a16:creationId xmlns:a16="http://schemas.microsoft.com/office/drawing/2014/main" id="{0E824C7F-1501-AAD7-8AF6-27A093C7DFBA}"/>
              </a:ext>
            </a:extLst>
          </p:cNvPr>
          <p:cNvSpPr>
            <a:spLocks noGrp="1"/>
          </p:cNvSpPr>
          <p:nvPr>
            <p:ph type="subTitle" idx="1"/>
          </p:nvPr>
        </p:nvSpPr>
        <p:spPr/>
        <p:txBody>
          <a:bodyPr/>
          <a:lstStyle/>
          <a:p>
            <a:endParaRPr lang="en-CA"/>
          </a:p>
        </p:txBody>
      </p:sp>
      <p:pic>
        <p:nvPicPr>
          <p:cNvPr id="5" name="Picture 4" descr="A person holding up their hand&#10;&#10;Description automatically generated">
            <a:extLst>
              <a:ext uri="{FF2B5EF4-FFF2-40B4-BE49-F238E27FC236}">
                <a16:creationId xmlns:a16="http://schemas.microsoft.com/office/drawing/2014/main" id="{89F724F6-3BA1-F413-37A8-079F00E24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8197" y="2002953"/>
            <a:ext cx="6580718" cy="4199124"/>
          </a:xfrm>
          <a:prstGeom prst="rect">
            <a:avLst/>
          </a:prstGeom>
        </p:spPr>
      </p:pic>
    </p:spTree>
    <p:extLst>
      <p:ext uri="{BB962C8B-B14F-4D97-AF65-F5344CB8AC3E}">
        <p14:creationId xmlns:p14="http://schemas.microsoft.com/office/powerpoint/2010/main" val="1323749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2946-7BE7-A018-7894-78007BA2DB2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4C215694-72BC-1197-B472-05337F31B038}"/>
              </a:ext>
            </a:extLst>
          </p:cNvPr>
          <p:cNvSpPr>
            <a:spLocks noGrp="1"/>
          </p:cNvSpPr>
          <p:nvPr>
            <p:ph idx="1"/>
          </p:nvPr>
        </p:nvSpPr>
        <p:spPr/>
        <p:txBody>
          <a:bodyPr/>
          <a:lstStyle/>
          <a:p>
            <a:r>
              <a:rPr lang="en-CA" dirty="0">
                <a:hlinkClick r:id="rId2"/>
              </a:rPr>
              <a:t>https://www.instagram.com/reel/C8UVfAxAigv/?igsh=MWliN2FtMHdiMjZlOA%3D%3D</a:t>
            </a:r>
            <a:endParaRPr lang="en-CA" dirty="0"/>
          </a:p>
          <a:p>
            <a:endParaRPr lang="en-CA" dirty="0"/>
          </a:p>
        </p:txBody>
      </p:sp>
    </p:spTree>
    <p:extLst>
      <p:ext uri="{BB962C8B-B14F-4D97-AF65-F5344CB8AC3E}">
        <p14:creationId xmlns:p14="http://schemas.microsoft.com/office/powerpoint/2010/main" val="1277791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31537-C4D2-0E68-F54A-188F88B2F884}"/>
              </a:ext>
            </a:extLst>
          </p:cNvPr>
          <p:cNvSpPr>
            <a:spLocks noGrp="1"/>
          </p:cNvSpPr>
          <p:nvPr>
            <p:ph type="title"/>
          </p:nvPr>
        </p:nvSpPr>
        <p:spPr/>
        <p:txBody>
          <a:bodyPr/>
          <a:lstStyle/>
          <a:p>
            <a:pPr algn="ctr"/>
            <a:r>
              <a:rPr lang="en-CA" dirty="0" err="1"/>
              <a:t>Turanovic</a:t>
            </a:r>
            <a:r>
              <a:rPr lang="en-CA" dirty="0"/>
              <a:t> and Pratt:</a:t>
            </a:r>
          </a:p>
        </p:txBody>
      </p:sp>
      <p:pic>
        <p:nvPicPr>
          <p:cNvPr id="5" name="Content Placeholder 4" descr="A tree with roots and leaves&#10;&#10;Description automatically generated">
            <a:extLst>
              <a:ext uri="{FF2B5EF4-FFF2-40B4-BE49-F238E27FC236}">
                <a16:creationId xmlns:a16="http://schemas.microsoft.com/office/drawing/2014/main" id="{EE8C5712-7595-1108-4A2F-CD209B89836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50040" y="1243173"/>
            <a:ext cx="7335749" cy="5556460"/>
          </a:xfrm>
        </p:spPr>
      </p:pic>
    </p:spTree>
    <p:extLst>
      <p:ext uri="{BB962C8B-B14F-4D97-AF65-F5344CB8AC3E}">
        <p14:creationId xmlns:p14="http://schemas.microsoft.com/office/powerpoint/2010/main" val="2741633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77981-FCF0-2C47-AD18-F11B5F8DEABB}"/>
              </a:ext>
            </a:extLst>
          </p:cNvPr>
          <p:cNvSpPr>
            <a:spLocks noGrp="1"/>
          </p:cNvSpPr>
          <p:nvPr>
            <p:ph type="title"/>
          </p:nvPr>
        </p:nvSpPr>
        <p:spPr>
          <a:xfrm>
            <a:off x="838200" y="1"/>
            <a:ext cx="10515600" cy="1119882"/>
          </a:xfrm>
        </p:spPr>
        <p:txBody>
          <a:bodyPr/>
          <a:lstStyle/>
          <a:p>
            <a:pPr algn="ctr"/>
            <a:r>
              <a:rPr lang="en-CA" dirty="0"/>
              <a:t>ACE (Adverse Childhood experiences)</a:t>
            </a:r>
          </a:p>
        </p:txBody>
      </p:sp>
      <p:sp>
        <p:nvSpPr>
          <p:cNvPr id="3" name="Content Placeholder 2">
            <a:extLst>
              <a:ext uri="{FF2B5EF4-FFF2-40B4-BE49-F238E27FC236}">
                <a16:creationId xmlns:a16="http://schemas.microsoft.com/office/drawing/2014/main" id="{23BB4CC4-C64E-8326-DDD9-AE75033AB5FA}"/>
              </a:ext>
            </a:extLst>
          </p:cNvPr>
          <p:cNvSpPr>
            <a:spLocks noGrp="1"/>
          </p:cNvSpPr>
          <p:nvPr>
            <p:ph idx="1"/>
          </p:nvPr>
        </p:nvSpPr>
        <p:spPr>
          <a:xfrm>
            <a:off x="297951" y="1037690"/>
            <a:ext cx="11055849" cy="5139273"/>
          </a:xfrm>
        </p:spPr>
        <p:txBody>
          <a:bodyPr/>
          <a:lstStyle/>
          <a:p>
            <a:r>
              <a:rPr lang="en-CA" dirty="0"/>
              <a:t>“Adverse childhood experiences (ACEs) can have a tremendous impact on future violence victimization and perpetration, and lifelong health and opportunity.” – CDC 2024</a:t>
            </a:r>
          </a:p>
          <a:p>
            <a:pPr>
              <a:buFont typeface="Arial" panose="020B0604020202020204" pitchFamily="34" charset="0"/>
              <a:buChar char="•"/>
            </a:pPr>
            <a:r>
              <a:rPr lang="en-CA" dirty="0"/>
              <a:t>Examples: experiencing violence, abuse, or neglect; witnessing violence in the home or community; having a family member attempt or die by suicide</a:t>
            </a:r>
          </a:p>
          <a:p>
            <a:endParaRPr lang="en-CA" dirty="0"/>
          </a:p>
        </p:txBody>
      </p:sp>
      <p:pic>
        <p:nvPicPr>
          <p:cNvPr id="5" name="Picture 4" descr="A chart of different types of diseases&#10;&#10;Description automatically generated with medium confidence">
            <a:extLst>
              <a:ext uri="{FF2B5EF4-FFF2-40B4-BE49-F238E27FC236}">
                <a16:creationId xmlns:a16="http://schemas.microsoft.com/office/drawing/2014/main" id="{4CEB339B-5044-2B1E-B0FA-69A7E5669C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5133" y="3293592"/>
            <a:ext cx="4746660" cy="3564407"/>
          </a:xfrm>
          <a:prstGeom prst="rect">
            <a:avLst/>
          </a:prstGeom>
        </p:spPr>
      </p:pic>
    </p:spTree>
    <p:extLst>
      <p:ext uri="{BB962C8B-B14F-4D97-AF65-F5344CB8AC3E}">
        <p14:creationId xmlns:p14="http://schemas.microsoft.com/office/powerpoint/2010/main" val="1481143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EBAE1-044D-FFE3-5A32-275F6CB175E3}"/>
              </a:ext>
            </a:extLst>
          </p:cNvPr>
          <p:cNvSpPr>
            <a:spLocks noGrp="1"/>
          </p:cNvSpPr>
          <p:nvPr>
            <p:ph type="title"/>
          </p:nvPr>
        </p:nvSpPr>
        <p:spPr>
          <a:xfrm>
            <a:off x="1818526" y="365125"/>
            <a:ext cx="9965932" cy="1325563"/>
          </a:xfrm>
        </p:spPr>
        <p:txBody>
          <a:bodyPr/>
          <a:lstStyle/>
          <a:p>
            <a:r>
              <a:rPr lang="en-CA" dirty="0"/>
              <a:t>Lifelong impacts of child abuse</a:t>
            </a:r>
          </a:p>
        </p:txBody>
      </p:sp>
      <p:pic>
        <p:nvPicPr>
          <p:cNvPr id="9" name="Content Placeholder 8" descr="A list of health issues&#10;&#10;Description automatically generated">
            <a:extLst>
              <a:ext uri="{FF2B5EF4-FFF2-40B4-BE49-F238E27FC236}">
                <a16:creationId xmlns:a16="http://schemas.microsoft.com/office/drawing/2014/main" id="{6FB943D9-A96E-15AA-52AF-769FD4EDE9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52783" y="1690688"/>
            <a:ext cx="7717392" cy="4930073"/>
          </a:xfrm>
        </p:spPr>
      </p:pic>
    </p:spTree>
    <p:extLst>
      <p:ext uri="{BB962C8B-B14F-4D97-AF65-F5344CB8AC3E}">
        <p14:creationId xmlns:p14="http://schemas.microsoft.com/office/powerpoint/2010/main" val="106596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EDFD7-D6B6-B540-CBFF-9E094DF60896}"/>
              </a:ext>
            </a:extLst>
          </p:cNvPr>
          <p:cNvSpPr>
            <a:spLocks noGrp="1"/>
          </p:cNvSpPr>
          <p:nvPr>
            <p:ph type="title"/>
          </p:nvPr>
        </p:nvSpPr>
        <p:spPr/>
        <p:txBody>
          <a:bodyPr/>
          <a:lstStyle/>
          <a:p>
            <a:endParaRPr lang="en-CA"/>
          </a:p>
        </p:txBody>
      </p:sp>
      <p:pic>
        <p:nvPicPr>
          <p:cNvPr id="5" name="Content Placeholder 4" descr="A table with words on it&#10;&#10;Description automatically generated">
            <a:extLst>
              <a:ext uri="{FF2B5EF4-FFF2-40B4-BE49-F238E27FC236}">
                <a16:creationId xmlns:a16="http://schemas.microsoft.com/office/drawing/2014/main" id="{EFC80616-3D6E-6201-526B-9B9D1D1406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3593" y="196139"/>
            <a:ext cx="8188502" cy="6167349"/>
          </a:xfrm>
        </p:spPr>
      </p:pic>
    </p:spTree>
    <p:extLst>
      <p:ext uri="{BB962C8B-B14F-4D97-AF65-F5344CB8AC3E}">
        <p14:creationId xmlns:p14="http://schemas.microsoft.com/office/powerpoint/2010/main" val="3378302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B92D7-30B6-2362-ACF0-7644BF6457D1}"/>
              </a:ext>
            </a:extLst>
          </p:cNvPr>
          <p:cNvSpPr>
            <a:spLocks noGrp="1"/>
          </p:cNvSpPr>
          <p:nvPr>
            <p:ph type="title"/>
          </p:nvPr>
        </p:nvSpPr>
        <p:spPr/>
        <p:txBody>
          <a:bodyPr/>
          <a:lstStyle/>
          <a:p>
            <a:r>
              <a:rPr lang="en-CA" dirty="0"/>
              <a:t>Trauma responses to victimization</a:t>
            </a:r>
          </a:p>
        </p:txBody>
      </p:sp>
      <p:sp>
        <p:nvSpPr>
          <p:cNvPr id="3" name="Content Placeholder 2">
            <a:extLst>
              <a:ext uri="{FF2B5EF4-FFF2-40B4-BE49-F238E27FC236}">
                <a16:creationId xmlns:a16="http://schemas.microsoft.com/office/drawing/2014/main" id="{2A6913FD-1013-DEBC-409B-50F4987A26DC}"/>
              </a:ext>
            </a:extLst>
          </p:cNvPr>
          <p:cNvSpPr>
            <a:spLocks noGrp="1"/>
          </p:cNvSpPr>
          <p:nvPr>
            <p:ph idx="1"/>
          </p:nvPr>
        </p:nvSpPr>
        <p:spPr/>
        <p:txBody>
          <a:bodyPr/>
          <a:lstStyle/>
          <a:p>
            <a:r>
              <a:rPr lang="en-CA" dirty="0"/>
              <a:t>PTSD</a:t>
            </a:r>
          </a:p>
          <a:p>
            <a:r>
              <a:rPr lang="en-CA" dirty="0"/>
              <a:t>Anxiety</a:t>
            </a:r>
          </a:p>
          <a:p>
            <a:r>
              <a:rPr lang="en-CA" dirty="0"/>
              <a:t>Depression</a:t>
            </a:r>
          </a:p>
          <a:p>
            <a:r>
              <a:rPr lang="en-CA" dirty="0"/>
              <a:t>Substance abuse and related addiction disorders</a:t>
            </a:r>
          </a:p>
          <a:p>
            <a:r>
              <a:rPr lang="en-CA" dirty="0"/>
              <a:t>Self-harming behaviours</a:t>
            </a:r>
          </a:p>
          <a:p>
            <a:r>
              <a:rPr lang="en-CA" dirty="0"/>
              <a:t>(among others)</a:t>
            </a:r>
          </a:p>
        </p:txBody>
      </p:sp>
      <p:pic>
        <p:nvPicPr>
          <p:cNvPr id="5" name="Picture 4" descr="A cartoon of a person biting her nails&#10;&#10;Description automatically generated">
            <a:extLst>
              <a:ext uri="{FF2B5EF4-FFF2-40B4-BE49-F238E27FC236}">
                <a16:creationId xmlns:a16="http://schemas.microsoft.com/office/drawing/2014/main" id="{3D421484-93A8-6E19-867B-D87350D491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9911" y="1322541"/>
            <a:ext cx="2248214" cy="3658111"/>
          </a:xfrm>
          <a:prstGeom prst="rect">
            <a:avLst/>
          </a:prstGeom>
        </p:spPr>
      </p:pic>
    </p:spTree>
    <p:extLst>
      <p:ext uri="{BB962C8B-B14F-4D97-AF65-F5344CB8AC3E}">
        <p14:creationId xmlns:p14="http://schemas.microsoft.com/office/powerpoint/2010/main" val="677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9E659-58A2-3A87-A130-308BC56730D7}"/>
              </a:ext>
            </a:extLst>
          </p:cNvPr>
          <p:cNvSpPr>
            <a:spLocks noGrp="1"/>
          </p:cNvSpPr>
          <p:nvPr>
            <p:ph type="title"/>
          </p:nvPr>
        </p:nvSpPr>
        <p:spPr/>
        <p:txBody>
          <a:bodyPr>
            <a:normAutofit fontScale="90000"/>
          </a:bodyPr>
          <a:lstStyle/>
          <a:p>
            <a:r>
              <a:rPr lang="en-CA" dirty="0"/>
              <a:t>Why does victimization elicit a trauma response for some people, but not all? (</a:t>
            </a:r>
            <a:r>
              <a:rPr lang="en-CA" dirty="0" err="1"/>
              <a:t>Turanovic</a:t>
            </a:r>
            <a:r>
              <a:rPr lang="en-CA" dirty="0"/>
              <a:t> &amp; Pratt)</a:t>
            </a:r>
          </a:p>
        </p:txBody>
      </p:sp>
      <p:sp>
        <p:nvSpPr>
          <p:cNvPr id="3" name="Content Placeholder 2">
            <a:extLst>
              <a:ext uri="{FF2B5EF4-FFF2-40B4-BE49-F238E27FC236}">
                <a16:creationId xmlns:a16="http://schemas.microsoft.com/office/drawing/2014/main" id="{D0F3C699-A9B6-0FA2-CD6B-DC1171F12D2D}"/>
              </a:ext>
            </a:extLst>
          </p:cNvPr>
          <p:cNvSpPr>
            <a:spLocks noGrp="1"/>
          </p:cNvSpPr>
          <p:nvPr>
            <p:ph idx="1"/>
          </p:nvPr>
        </p:nvSpPr>
        <p:spPr>
          <a:xfrm>
            <a:off x="838200" y="2219217"/>
            <a:ext cx="10515600" cy="3957745"/>
          </a:xfrm>
        </p:spPr>
        <p:txBody>
          <a:bodyPr>
            <a:normAutofit/>
          </a:bodyPr>
          <a:lstStyle/>
          <a:p>
            <a:pPr>
              <a:lnSpc>
                <a:spcPct val="107000"/>
              </a:lnSpc>
              <a:spcAft>
                <a:spcPts val="800"/>
              </a:spcAft>
            </a:pPr>
            <a:r>
              <a:rPr lang="en-CA" sz="2400" kern="100" dirty="0">
                <a:latin typeface="Times New Roman" panose="02020603050405020304" pitchFamily="18" charset="0"/>
                <a:ea typeface="Aptos" panose="020B0004020202020204" pitchFamily="34" charset="0"/>
                <a:cs typeface="Times New Roman" panose="02020603050405020304" pitchFamily="18" charset="0"/>
              </a:rPr>
              <a:t>Pa</a:t>
            </a:r>
            <a:r>
              <a:rPr lang="en-CA" sz="2400" kern="100" dirty="0">
                <a:effectLst/>
                <a:latin typeface="Times New Roman" panose="02020603050405020304" pitchFamily="18" charset="0"/>
                <a:ea typeface="Aptos" panose="020B0004020202020204" pitchFamily="34" charset="0"/>
                <a:cs typeface="Times New Roman" panose="02020603050405020304" pitchFamily="18" charset="0"/>
              </a:rPr>
              <a:t>rt of the reason why this happens has to do with how victims cope with their experiences. Victimization elicits strong negative emotions (e.g., anxiety, depression, anger, and </a:t>
            </a:r>
            <a:r>
              <a:rPr lang="en-CA" sz="2400" dirty="0">
                <a:effectLst/>
                <a:latin typeface="Times New Roman" panose="02020603050405020304" pitchFamily="18" charset="0"/>
                <a:ea typeface="Aptos" panose="020B0004020202020204" pitchFamily="34" charset="0"/>
              </a:rPr>
              <a:t>frustration)</a:t>
            </a:r>
          </a:p>
          <a:p>
            <a:pPr>
              <a:lnSpc>
                <a:spcPct val="107000"/>
              </a:lnSpc>
              <a:spcAft>
                <a:spcPts val="800"/>
              </a:spcAft>
            </a:pPr>
            <a:r>
              <a:rPr lang="en-CA" sz="2400" kern="100" dirty="0">
                <a:effectLst/>
                <a:latin typeface="Times New Roman" panose="02020603050405020304" pitchFamily="18" charset="0"/>
                <a:ea typeface="Aptos" panose="020B0004020202020204" pitchFamily="34" charset="0"/>
                <a:cs typeface="Times New Roman" panose="02020603050405020304" pitchFamily="18" charset="0"/>
              </a:rPr>
              <a:t>Victims feel pressured to alleviate these feelings through some form of coping. </a:t>
            </a:r>
          </a:p>
          <a:p>
            <a:pPr>
              <a:lnSpc>
                <a:spcPct val="107000"/>
              </a:lnSpc>
              <a:spcAft>
                <a:spcPts val="800"/>
              </a:spcAft>
            </a:pPr>
            <a:r>
              <a:rPr lang="en-CA" sz="2400" kern="100" dirty="0">
                <a:effectLst/>
                <a:latin typeface="Times New Roman" panose="02020603050405020304" pitchFamily="18" charset="0"/>
                <a:ea typeface="Aptos" panose="020B0004020202020204" pitchFamily="34" charset="0"/>
                <a:cs typeface="Times New Roman" panose="02020603050405020304" pitchFamily="18" charset="0"/>
              </a:rPr>
              <a:t>“Coping” </a:t>
            </a:r>
            <a:r>
              <a:rPr lang="en-CA" sz="2400" kern="100" dirty="0">
                <a:latin typeface="Times New Roman" panose="02020603050405020304" pitchFamily="18" charset="0"/>
                <a:ea typeface="Aptos" panose="020B0004020202020204" pitchFamily="34" charset="0"/>
                <a:cs typeface="Times New Roman" panose="02020603050405020304" pitchFamily="18" charset="0"/>
              </a:rPr>
              <a:t>is defined as the process </a:t>
            </a:r>
            <a:r>
              <a:rPr lang="en-CA" sz="2400" kern="100" dirty="0">
                <a:effectLst/>
                <a:latin typeface="Times New Roman" panose="02020603050405020304" pitchFamily="18" charset="0"/>
                <a:ea typeface="Aptos" panose="020B0004020202020204" pitchFamily="34" charset="0"/>
                <a:cs typeface="Times New Roman" panose="02020603050405020304" pitchFamily="18" charset="0"/>
              </a:rPr>
              <a:t>by which people regulate their behaviors and emotions under conditions of psychological </a:t>
            </a:r>
            <a:r>
              <a:rPr lang="en-CA" sz="2400" dirty="0">
                <a:effectLst/>
                <a:latin typeface="Times New Roman" panose="02020603050405020304" pitchFamily="18" charset="0"/>
                <a:ea typeface="Aptos" panose="020B0004020202020204" pitchFamily="34" charset="0"/>
              </a:rPr>
              <a:t>distress (Agnew, 2006). </a:t>
            </a:r>
            <a:endParaRPr lang="en-CA" sz="2400" dirty="0"/>
          </a:p>
        </p:txBody>
      </p:sp>
    </p:spTree>
    <p:extLst>
      <p:ext uri="{BB962C8B-B14F-4D97-AF65-F5344CB8AC3E}">
        <p14:creationId xmlns:p14="http://schemas.microsoft.com/office/powerpoint/2010/main" val="2745735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2EBFE-DF57-53AE-0973-ADCD35136AAE}"/>
              </a:ext>
            </a:extLst>
          </p:cNvPr>
          <p:cNvSpPr>
            <a:spLocks noGrp="1"/>
          </p:cNvSpPr>
          <p:nvPr>
            <p:ph type="title"/>
          </p:nvPr>
        </p:nvSpPr>
        <p:spPr/>
        <p:txBody>
          <a:bodyPr/>
          <a:lstStyle/>
          <a:p>
            <a:r>
              <a:rPr lang="en-CA" dirty="0"/>
              <a:t>Coping takes two forms</a:t>
            </a:r>
          </a:p>
        </p:txBody>
      </p:sp>
      <p:sp>
        <p:nvSpPr>
          <p:cNvPr id="3" name="Content Placeholder 2">
            <a:extLst>
              <a:ext uri="{FF2B5EF4-FFF2-40B4-BE49-F238E27FC236}">
                <a16:creationId xmlns:a16="http://schemas.microsoft.com/office/drawing/2014/main" id="{FF634C87-8D22-6A40-80B1-FF05E3552B95}"/>
              </a:ext>
            </a:extLst>
          </p:cNvPr>
          <p:cNvSpPr>
            <a:spLocks noGrp="1"/>
          </p:cNvSpPr>
          <p:nvPr>
            <p:ph idx="1"/>
          </p:nvPr>
        </p:nvSpPr>
        <p:spPr>
          <a:xfrm>
            <a:off x="838200" y="2832545"/>
            <a:ext cx="10515600" cy="3344418"/>
          </a:xfrm>
        </p:spPr>
        <p:txBody>
          <a:bodyPr>
            <a:normAutofit/>
          </a:bodyPr>
          <a:lstStyle/>
          <a:p>
            <a:r>
              <a:rPr lang="en-CA" b="1" dirty="0">
                <a:solidFill>
                  <a:srgbClr val="00B050"/>
                </a:solidFill>
              </a:rPr>
              <a:t>Positive</a:t>
            </a:r>
            <a:r>
              <a:rPr lang="en-CA" dirty="0"/>
              <a:t> healthy coping: </a:t>
            </a:r>
          </a:p>
          <a:p>
            <a:pPr marL="0" indent="0">
              <a:buNone/>
            </a:pPr>
            <a:r>
              <a:rPr lang="en-CA" dirty="0"/>
              <a:t>therapy, taking care of one’s self, exercise, community engagement</a:t>
            </a:r>
          </a:p>
          <a:p>
            <a:endParaRPr lang="en-CA" dirty="0"/>
          </a:p>
          <a:p>
            <a:r>
              <a:rPr lang="en-CA" dirty="0"/>
              <a:t>Maladaptive or </a:t>
            </a:r>
            <a:r>
              <a:rPr lang="en-CA" b="1" dirty="0">
                <a:solidFill>
                  <a:srgbClr val="FF0000"/>
                </a:solidFill>
              </a:rPr>
              <a:t>unhealthy</a:t>
            </a:r>
            <a:r>
              <a:rPr lang="en-CA" dirty="0"/>
              <a:t> coping: </a:t>
            </a:r>
          </a:p>
          <a:p>
            <a:pPr marL="0" indent="0">
              <a:buNone/>
            </a:pPr>
            <a:r>
              <a:rPr lang="en-CA" dirty="0"/>
              <a:t>substance use and abuse, venting negative emotion, self-harming behaviors, behavioral disengagement, and workplace deviance</a:t>
            </a:r>
          </a:p>
        </p:txBody>
      </p:sp>
      <p:pic>
        <p:nvPicPr>
          <p:cNvPr id="5" name="Picture 4" descr="A person sitting on the floor with his hands together&#10;&#10;Description automatically generated">
            <a:extLst>
              <a:ext uri="{FF2B5EF4-FFF2-40B4-BE49-F238E27FC236}">
                <a16:creationId xmlns:a16="http://schemas.microsoft.com/office/drawing/2014/main" id="{A2C786E5-76DF-3E53-7855-C7BC8DC4AD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9266" y="246579"/>
            <a:ext cx="4022037" cy="2467420"/>
          </a:xfrm>
          <a:prstGeom prst="rect">
            <a:avLst/>
          </a:prstGeom>
        </p:spPr>
      </p:pic>
    </p:spTree>
    <p:extLst>
      <p:ext uri="{BB962C8B-B14F-4D97-AF65-F5344CB8AC3E}">
        <p14:creationId xmlns:p14="http://schemas.microsoft.com/office/powerpoint/2010/main" val="2376252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E618E-251E-79D5-549B-CDC1D2648DE7}"/>
              </a:ext>
            </a:extLst>
          </p:cNvPr>
          <p:cNvSpPr>
            <a:spLocks noGrp="1"/>
          </p:cNvSpPr>
          <p:nvPr>
            <p:ph type="title"/>
          </p:nvPr>
        </p:nvSpPr>
        <p:spPr/>
        <p:txBody>
          <a:bodyPr/>
          <a:lstStyle/>
          <a:p>
            <a:r>
              <a:rPr lang="en-CA" dirty="0"/>
              <a:t>Additionally, </a:t>
            </a:r>
          </a:p>
        </p:txBody>
      </p:sp>
      <p:sp>
        <p:nvSpPr>
          <p:cNvPr id="3" name="Content Placeholder 2">
            <a:extLst>
              <a:ext uri="{FF2B5EF4-FFF2-40B4-BE49-F238E27FC236}">
                <a16:creationId xmlns:a16="http://schemas.microsoft.com/office/drawing/2014/main" id="{B71B1CD3-26E6-C308-DC6F-8B7611F6E38A}"/>
              </a:ext>
            </a:extLst>
          </p:cNvPr>
          <p:cNvSpPr>
            <a:spLocks noGrp="1"/>
          </p:cNvSpPr>
          <p:nvPr>
            <p:ph idx="1"/>
          </p:nvPr>
        </p:nvSpPr>
        <p:spPr/>
        <p:txBody>
          <a:bodyPr/>
          <a:lstStyle/>
          <a:p>
            <a:pPr>
              <a:lnSpc>
                <a:spcPct val="107000"/>
              </a:lnSpc>
              <a:spcAft>
                <a:spcPts val="800"/>
              </a:spcAft>
            </a:pPr>
            <a:r>
              <a:rPr lang="en-CA" kern="100" dirty="0">
                <a:effectLst/>
                <a:latin typeface="Times New Roman" panose="02020603050405020304" pitchFamily="18" charset="0"/>
                <a:ea typeface="Aptos" panose="020B0004020202020204" pitchFamily="34" charset="0"/>
                <a:cs typeface="Times New Roman" panose="02020603050405020304" pitchFamily="18" charset="0"/>
              </a:rPr>
              <a:t>Coping techniques may be cognitive or behavioral, and they seek to reduce or minimize the various demands of a stressful situation.</a:t>
            </a:r>
          </a:p>
          <a:p>
            <a:pPr>
              <a:lnSpc>
                <a:spcPct val="107000"/>
              </a:lnSpc>
              <a:spcAft>
                <a:spcPts val="800"/>
              </a:spcAft>
            </a:pPr>
            <a:endParaRPr lang="en-CA" kern="100" dirty="0">
              <a:latin typeface="Times New Roman" panose="02020603050405020304" pitchFamily="18" charset="0"/>
              <a:ea typeface="Aptos" panose="020B0004020202020204" pitchFamily="34" charset="0"/>
              <a:cs typeface="Times New Roman" panose="02020603050405020304" pitchFamily="18" charset="0"/>
            </a:endParaRPr>
          </a:p>
          <a:p>
            <a:pPr>
              <a:lnSpc>
                <a:spcPct val="107000"/>
              </a:lnSpc>
              <a:spcAft>
                <a:spcPts val="800"/>
              </a:spcAft>
            </a:pPr>
            <a:r>
              <a:rPr lang="en-CA" kern="100" dirty="0">
                <a:effectLst/>
                <a:latin typeface="Times New Roman" panose="02020603050405020304" pitchFamily="18" charset="0"/>
                <a:ea typeface="Aptos" panose="020B0004020202020204" pitchFamily="34" charset="0"/>
                <a:cs typeface="Times New Roman" panose="02020603050405020304" pitchFamily="18" charset="0"/>
              </a:rPr>
              <a:t>Here’s one of mine: “when feeling stressed over having to do something, I ask myself ‘do I need to do this right now?’ If the answer is no, then I make a plan to put it to a day/time when I can do the task more easily. </a:t>
            </a:r>
            <a:r>
              <a:rPr lang="en-CA" kern="100" dirty="0">
                <a:effectLst/>
                <a:latin typeface="Times New Roman" panose="02020603050405020304" pitchFamily="18" charset="0"/>
                <a:ea typeface="Aptos" panose="020B0004020202020204" pitchFamily="34" charset="0"/>
                <a:cs typeface="Times New Roman" panose="02020603050405020304" pitchFamily="18" charset="0"/>
                <a:sym typeface="Wingdings" panose="05000000000000000000" pitchFamily="2" charset="2"/>
              </a:rPr>
              <a:t> not same as </a:t>
            </a:r>
            <a:r>
              <a:rPr lang="en-CA" kern="100" dirty="0" err="1">
                <a:effectLst/>
                <a:latin typeface="Times New Roman" panose="02020603050405020304" pitchFamily="18" charset="0"/>
                <a:ea typeface="Aptos" panose="020B0004020202020204" pitchFamily="34" charset="0"/>
                <a:cs typeface="Times New Roman" panose="02020603050405020304" pitchFamily="18" charset="0"/>
                <a:sym typeface="Wingdings" panose="05000000000000000000" pitchFamily="2" charset="2"/>
              </a:rPr>
              <a:t>procratinating</a:t>
            </a:r>
            <a:endParaRPr lang="en-CA"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CA" dirty="0"/>
          </a:p>
        </p:txBody>
      </p:sp>
    </p:spTree>
    <p:extLst>
      <p:ext uri="{BB962C8B-B14F-4D97-AF65-F5344CB8AC3E}">
        <p14:creationId xmlns:p14="http://schemas.microsoft.com/office/powerpoint/2010/main" val="956613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5FAF-AE98-88FA-BBD8-67C2123F650A}"/>
              </a:ext>
            </a:extLst>
          </p:cNvPr>
          <p:cNvSpPr>
            <a:spLocks noGrp="1"/>
          </p:cNvSpPr>
          <p:nvPr>
            <p:ph type="title"/>
          </p:nvPr>
        </p:nvSpPr>
        <p:spPr/>
        <p:txBody>
          <a:bodyPr/>
          <a:lstStyle/>
          <a:p>
            <a:pPr algn="ctr"/>
            <a:r>
              <a:rPr lang="en-CA" dirty="0"/>
              <a:t>Threat Appraisal and Coping Theory (Lazarus &amp; Folkman 1984) </a:t>
            </a:r>
          </a:p>
        </p:txBody>
      </p:sp>
      <p:sp>
        <p:nvSpPr>
          <p:cNvPr id="3" name="Content Placeholder 2">
            <a:extLst>
              <a:ext uri="{FF2B5EF4-FFF2-40B4-BE49-F238E27FC236}">
                <a16:creationId xmlns:a16="http://schemas.microsoft.com/office/drawing/2014/main" id="{A36F42D7-80BE-CC02-78E4-973BD36404C8}"/>
              </a:ext>
            </a:extLst>
          </p:cNvPr>
          <p:cNvSpPr>
            <a:spLocks noGrp="1"/>
          </p:cNvSpPr>
          <p:nvPr>
            <p:ph idx="1"/>
          </p:nvPr>
        </p:nvSpPr>
        <p:spPr>
          <a:xfrm>
            <a:off x="838200" y="2147300"/>
            <a:ext cx="10515600" cy="4019390"/>
          </a:xfrm>
        </p:spPr>
        <p:txBody>
          <a:bodyPr>
            <a:normAutofit/>
          </a:bodyPr>
          <a:lstStyle/>
          <a:p>
            <a:pPr>
              <a:lnSpc>
                <a:spcPct val="200000"/>
              </a:lnSpc>
            </a:pPr>
            <a:r>
              <a:rPr lang="en-CA" b="1" dirty="0"/>
              <a:t>This theory suggests that individuals experiencing stress engage in a cognitive  appraisal of their current situation, and then evaluate their own ability to respond to their situation before deciding how to react. </a:t>
            </a:r>
          </a:p>
        </p:txBody>
      </p:sp>
      <p:pic>
        <p:nvPicPr>
          <p:cNvPr id="5" name="Picture 4" descr="A brain with a red triangle sign&#10;&#10;Description automatically generated">
            <a:extLst>
              <a:ext uri="{FF2B5EF4-FFF2-40B4-BE49-F238E27FC236}">
                <a16:creationId xmlns:a16="http://schemas.microsoft.com/office/drawing/2014/main" id="{C3B76CED-C852-017C-89E7-7CC63C484A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3815" y="4635582"/>
            <a:ext cx="3352355" cy="2222418"/>
          </a:xfrm>
          <a:prstGeom prst="rect">
            <a:avLst/>
          </a:prstGeom>
        </p:spPr>
      </p:pic>
    </p:spTree>
    <p:extLst>
      <p:ext uri="{BB962C8B-B14F-4D97-AF65-F5344CB8AC3E}">
        <p14:creationId xmlns:p14="http://schemas.microsoft.com/office/powerpoint/2010/main" val="877217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93C96-A2CA-0878-A2FC-105670BB74D3}"/>
              </a:ext>
            </a:extLst>
          </p:cNvPr>
          <p:cNvSpPr>
            <a:spLocks noGrp="1"/>
          </p:cNvSpPr>
          <p:nvPr>
            <p:ph type="title"/>
          </p:nvPr>
        </p:nvSpPr>
        <p:spPr>
          <a:xfrm>
            <a:off x="838200" y="365126"/>
            <a:ext cx="10515600" cy="713662"/>
          </a:xfrm>
        </p:spPr>
        <p:txBody>
          <a:bodyPr/>
          <a:lstStyle/>
          <a:p>
            <a:pPr algn="ctr"/>
            <a:r>
              <a:rPr lang="en-CA" dirty="0"/>
              <a:t>Cont’d</a:t>
            </a:r>
          </a:p>
        </p:txBody>
      </p:sp>
      <p:sp>
        <p:nvSpPr>
          <p:cNvPr id="3" name="Content Placeholder 2">
            <a:extLst>
              <a:ext uri="{FF2B5EF4-FFF2-40B4-BE49-F238E27FC236}">
                <a16:creationId xmlns:a16="http://schemas.microsoft.com/office/drawing/2014/main" id="{EBB8E474-7A9D-B5D3-4E8C-865298AA71DD}"/>
              </a:ext>
            </a:extLst>
          </p:cNvPr>
          <p:cNvSpPr>
            <a:spLocks noGrp="1"/>
          </p:cNvSpPr>
          <p:nvPr>
            <p:ph idx="1"/>
          </p:nvPr>
        </p:nvSpPr>
        <p:spPr>
          <a:xfrm>
            <a:off x="838200" y="1797978"/>
            <a:ext cx="10515600" cy="4378985"/>
          </a:xfrm>
        </p:spPr>
        <p:txBody>
          <a:bodyPr>
            <a:normAutofit lnSpcReduction="10000"/>
          </a:bodyPr>
          <a:lstStyle/>
          <a:p>
            <a:r>
              <a:rPr lang="en-CA" b="1" dirty="0"/>
              <a:t>The appraisal of the distressing situation strongly predicts the subsequent type of coping strategy employed. Thus, the assessment of the situation largely determines whether the individual will use </a:t>
            </a:r>
            <a:r>
              <a:rPr lang="en-CA" b="1" dirty="0">
                <a:solidFill>
                  <a:schemeClr val="accent6">
                    <a:lumMod val="75000"/>
                  </a:schemeClr>
                </a:solidFill>
              </a:rPr>
              <a:t>positive</a:t>
            </a:r>
            <a:r>
              <a:rPr lang="en-CA" b="1" dirty="0"/>
              <a:t>, problem-focused coping (coping aimed at directly managing what is causing distress) </a:t>
            </a:r>
          </a:p>
          <a:p>
            <a:endParaRPr lang="en-CA" b="1" dirty="0"/>
          </a:p>
          <a:p>
            <a:r>
              <a:rPr lang="en-CA" b="1" dirty="0"/>
              <a:t>Or </a:t>
            </a:r>
            <a:r>
              <a:rPr lang="en-CA" b="1" dirty="0">
                <a:solidFill>
                  <a:srgbClr val="FF0000"/>
                </a:solidFill>
              </a:rPr>
              <a:t>negative</a:t>
            </a:r>
            <a:r>
              <a:rPr lang="en-CA" b="1" dirty="0"/>
              <a:t> emotion-focused coping (coping aimed at regulating the associated emotions). </a:t>
            </a:r>
          </a:p>
          <a:p>
            <a:endParaRPr lang="en-CA" b="1" dirty="0"/>
          </a:p>
          <a:p>
            <a:r>
              <a:rPr lang="en-CA" b="1" dirty="0"/>
              <a:t>We used this to understand why some people ‘go missing’ (Huey and Ferguson 2023). </a:t>
            </a:r>
          </a:p>
          <a:p>
            <a:endParaRPr lang="en-CA" dirty="0"/>
          </a:p>
        </p:txBody>
      </p:sp>
    </p:spTree>
    <p:extLst>
      <p:ext uri="{BB962C8B-B14F-4D97-AF65-F5344CB8AC3E}">
        <p14:creationId xmlns:p14="http://schemas.microsoft.com/office/powerpoint/2010/main" val="205243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CF953-FD68-AF0A-86B2-BC40B35414C0}"/>
              </a:ext>
            </a:extLst>
          </p:cNvPr>
          <p:cNvSpPr>
            <a:spLocks noGrp="1"/>
          </p:cNvSpPr>
          <p:nvPr>
            <p:ph type="title"/>
          </p:nvPr>
        </p:nvSpPr>
        <p:spPr/>
        <p:txBody>
          <a:bodyPr/>
          <a:lstStyle/>
          <a:p>
            <a:pPr algn="ctr"/>
            <a:r>
              <a:rPr lang="en-CA" dirty="0"/>
              <a:t>Social stress framework</a:t>
            </a:r>
          </a:p>
        </p:txBody>
      </p:sp>
      <p:sp>
        <p:nvSpPr>
          <p:cNvPr id="3" name="Content Placeholder 2">
            <a:extLst>
              <a:ext uri="{FF2B5EF4-FFF2-40B4-BE49-F238E27FC236}">
                <a16:creationId xmlns:a16="http://schemas.microsoft.com/office/drawing/2014/main" id="{6A2DA5A6-7772-D0C3-82CC-7C2F128A247F}"/>
              </a:ext>
            </a:extLst>
          </p:cNvPr>
          <p:cNvSpPr>
            <a:spLocks noGrp="1"/>
          </p:cNvSpPr>
          <p:nvPr>
            <p:ph idx="1"/>
          </p:nvPr>
        </p:nvSpPr>
        <p:spPr/>
        <p:txBody>
          <a:bodyPr/>
          <a:lstStyle/>
          <a:p>
            <a:r>
              <a:rPr lang="en-CA" dirty="0"/>
              <a:t>Does everyone evaluate a situation similarly? Nope. </a:t>
            </a:r>
          </a:p>
          <a:p>
            <a:r>
              <a:rPr lang="en-CA" dirty="0"/>
              <a:t>An additional factor we have to consider is that some people are additionally disadvantaged by their circumstances. </a:t>
            </a:r>
          </a:p>
          <a:p>
            <a:r>
              <a:rPr lang="en-CA" dirty="0"/>
              <a:t>E.g. If I am victimized, I have health insurance that provides the ability to go to a therapist. If I was a minimum wage worker without benefits, going to a therapist would not be possible. I would have to find other ways to try to cope. </a:t>
            </a:r>
          </a:p>
          <a:p>
            <a:r>
              <a:rPr lang="en-CA" dirty="0"/>
              <a:t>This is where Tyler et al.’s social stress framework comes in …</a:t>
            </a:r>
          </a:p>
        </p:txBody>
      </p:sp>
    </p:spTree>
    <p:extLst>
      <p:ext uri="{BB962C8B-B14F-4D97-AF65-F5344CB8AC3E}">
        <p14:creationId xmlns:p14="http://schemas.microsoft.com/office/powerpoint/2010/main" val="2285987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11454-DC03-4F68-5EA9-89D883792302}"/>
              </a:ext>
            </a:extLst>
          </p:cNvPr>
          <p:cNvSpPr>
            <a:spLocks noGrp="1"/>
          </p:cNvSpPr>
          <p:nvPr>
            <p:ph type="title"/>
          </p:nvPr>
        </p:nvSpPr>
        <p:spPr/>
        <p:txBody>
          <a:bodyPr/>
          <a:lstStyle/>
          <a:p>
            <a:r>
              <a:rPr lang="en-CA" dirty="0"/>
              <a:t>As Tyler and colleagues note …</a:t>
            </a:r>
          </a:p>
        </p:txBody>
      </p:sp>
      <p:sp>
        <p:nvSpPr>
          <p:cNvPr id="3" name="Content Placeholder 2">
            <a:extLst>
              <a:ext uri="{FF2B5EF4-FFF2-40B4-BE49-F238E27FC236}">
                <a16:creationId xmlns:a16="http://schemas.microsoft.com/office/drawing/2014/main" id="{2F79337C-643D-247A-71C0-7D85B19B67EF}"/>
              </a:ext>
            </a:extLst>
          </p:cNvPr>
          <p:cNvSpPr>
            <a:spLocks noGrp="1"/>
          </p:cNvSpPr>
          <p:nvPr>
            <p:ph idx="1"/>
          </p:nvPr>
        </p:nvSpPr>
        <p:spPr/>
        <p:txBody>
          <a:bodyPr/>
          <a:lstStyle/>
          <a:p>
            <a:r>
              <a:rPr lang="en-CA" dirty="0"/>
              <a:t>Additional stressors can include:</a:t>
            </a:r>
          </a:p>
          <a:p>
            <a:pPr marL="0" indent="0">
              <a:buNone/>
            </a:pPr>
            <a:endParaRPr lang="en-CA" dirty="0"/>
          </a:p>
          <a:p>
            <a:r>
              <a:rPr lang="en-CA" dirty="0"/>
              <a:t>Being without employment </a:t>
            </a:r>
          </a:p>
          <a:p>
            <a:r>
              <a:rPr lang="en-CA" dirty="0"/>
              <a:t>Being unhoused </a:t>
            </a:r>
          </a:p>
          <a:p>
            <a:r>
              <a:rPr lang="en-CA" dirty="0"/>
              <a:t>Living with economic or other insecurity</a:t>
            </a:r>
          </a:p>
          <a:p>
            <a:r>
              <a:rPr lang="en-CA" dirty="0"/>
              <a:t>Being in constant fear of an abusive partner or family member</a:t>
            </a:r>
          </a:p>
          <a:p>
            <a:r>
              <a:rPr lang="en-CA" dirty="0"/>
              <a:t>Lack of family or other emotional supports</a:t>
            </a:r>
          </a:p>
          <a:p>
            <a:r>
              <a:rPr lang="en-CA" dirty="0"/>
              <a:t>Living with a stigmatized or marginalized social status</a:t>
            </a:r>
          </a:p>
          <a:p>
            <a:endParaRPr lang="en-CA" dirty="0"/>
          </a:p>
        </p:txBody>
      </p:sp>
      <p:pic>
        <p:nvPicPr>
          <p:cNvPr id="5" name="Picture 4" descr="A person sitting on the sidewalk&#10;&#10;Description automatically generated">
            <a:extLst>
              <a:ext uri="{FF2B5EF4-FFF2-40B4-BE49-F238E27FC236}">
                <a16:creationId xmlns:a16="http://schemas.microsoft.com/office/drawing/2014/main" id="{AA48CC53-5FB2-7EFD-2BF1-26767C5455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2378" y="1494203"/>
            <a:ext cx="3743851" cy="2498220"/>
          </a:xfrm>
          <a:prstGeom prst="rect">
            <a:avLst/>
          </a:prstGeom>
        </p:spPr>
      </p:pic>
    </p:spTree>
    <p:extLst>
      <p:ext uri="{BB962C8B-B14F-4D97-AF65-F5344CB8AC3E}">
        <p14:creationId xmlns:p14="http://schemas.microsoft.com/office/powerpoint/2010/main" val="1965227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1FE19-DBE4-A3ED-AC7E-7141D321B7EF}"/>
              </a:ext>
            </a:extLst>
          </p:cNvPr>
          <p:cNvSpPr>
            <a:spLocks noGrp="1"/>
          </p:cNvSpPr>
          <p:nvPr>
            <p:ph type="title"/>
          </p:nvPr>
        </p:nvSpPr>
        <p:spPr/>
        <p:txBody>
          <a:bodyPr/>
          <a:lstStyle/>
          <a:p>
            <a:r>
              <a:rPr lang="en-CA" dirty="0"/>
              <a:t>Social stress framework and self-injuring (Huey et al. 2014)</a:t>
            </a:r>
          </a:p>
        </p:txBody>
      </p:sp>
      <p:sp>
        <p:nvSpPr>
          <p:cNvPr id="3" name="Content Placeholder 2">
            <a:extLst>
              <a:ext uri="{FF2B5EF4-FFF2-40B4-BE49-F238E27FC236}">
                <a16:creationId xmlns:a16="http://schemas.microsoft.com/office/drawing/2014/main" id="{5B81C59B-FB42-40E8-0B87-CB21ECE658BC}"/>
              </a:ext>
            </a:extLst>
          </p:cNvPr>
          <p:cNvSpPr>
            <a:spLocks noGrp="1"/>
          </p:cNvSpPr>
          <p:nvPr>
            <p:ph idx="1"/>
          </p:nvPr>
        </p:nvSpPr>
        <p:spPr>
          <a:xfrm>
            <a:off x="838200" y="1825624"/>
            <a:ext cx="10515600" cy="4832029"/>
          </a:xfrm>
        </p:spPr>
        <p:txBody>
          <a:bodyPr>
            <a:normAutofit fontScale="92500"/>
          </a:bodyPr>
          <a:lstStyle/>
          <a:p>
            <a:r>
              <a:rPr lang="en-CA" b="1" dirty="0"/>
              <a:t>What is self-injuring?</a:t>
            </a:r>
          </a:p>
          <a:p>
            <a:endParaRPr lang="en-CA" dirty="0"/>
          </a:p>
          <a:p>
            <a:pPr>
              <a:lnSpc>
                <a:spcPct val="200000"/>
              </a:lnSpc>
            </a:pPr>
            <a:r>
              <a:rPr lang="en-CA" sz="2600" b="1" dirty="0">
                <a:effectLst/>
                <a:latin typeface="Times New Roman" panose="02020603050405020304" pitchFamily="18" charset="0"/>
                <a:ea typeface="Calibri" panose="020F0502020204030204" pitchFamily="34" charset="0"/>
              </a:rPr>
              <a:t>a cluster of behaviours that include cutting, </a:t>
            </a:r>
            <a:r>
              <a:rPr lang="en-GB" sz="2600" b="1" dirty="0">
                <a:solidFill>
                  <a:srgbClr val="000000"/>
                </a:solidFill>
                <a:effectLst/>
                <a:latin typeface="Times New Roman" panose="02020603050405020304" pitchFamily="18" charset="0"/>
                <a:ea typeface="Calibri" panose="020F0502020204030204" pitchFamily="34" charset="0"/>
              </a:rPr>
              <a:t>scratching, carving and burning of skin to interfering with wound healing, and includes inserting pins or other objects under the skin, biting one’s self, intentionally damaging bones, banging one’s head against hard surfaces and amputation or removal of body parts, among others (</a:t>
            </a:r>
            <a:r>
              <a:rPr lang="en-GB" sz="2600" b="1" dirty="0" err="1">
                <a:solidFill>
                  <a:srgbClr val="000000"/>
                </a:solidFill>
                <a:effectLst/>
                <a:latin typeface="Times New Roman" panose="02020603050405020304" pitchFamily="18" charset="0"/>
                <a:ea typeface="Calibri" panose="020F0502020204030204" pitchFamily="34" charset="0"/>
              </a:rPr>
              <a:t>Favazza</a:t>
            </a:r>
            <a:r>
              <a:rPr lang="en-GB" sz="2600" b="1" dirty="0">
                <a:solidFill>
                  <a:srgbClr val="000000"/>
                </a:solidFill>
                <a:effectLst/>
                <a:latin typeface="Times New Roman" panose="02020603050405020304" pitchFamily="18" charset="0"/>
                <a:ea typeface="Calibri" panose="020F0502020204030204" pitchFamily="34" charset="0"/>
              </a:rPr>
              <a:t>, 2012). </a:t>
            </a:r>
            <a:endParaRPr lang="en-CA" sz="2600" b="1" dirty="0"/>
          </a:p>
        </p:txBody>
      </p:sp>
    </p:spTree>
    <p:extLst>
      <p:ext uri="{BB962C8B-B14F-4D97-AF65-F5344CB8AC3E}">
        <p14:creationId xmlns:p14="http://schemas.microsoft.com/office/powerpoint/2010/main" val="3000144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F66BD-43F1-CCD8-E994-D6C6548A734B}"/>
              </a:ext>
            </a:extLst>
          </p:cNvPr>
          <p:cNvSpPr>
            <a:spLocks noGrp="1"/>
          </p:cNvSpPr>
          <p:nvPr>
            <p:ph type="title"/>
          </p:nvPr>
        </p:nvSpPr>
        <p:spPr/>
        <p:txBody>
          <a:bodyPr/>
          <a:lstStyle/>
          <a:p>
            <a:r>
              <a:rPr lang="en-CA" dirty="0"/>
              <a:t>Social stress framework and self-injuring (Huey et al. 2014)</a:t>
            </a:r>
          </a:p>
        </p:txBody>
      </p:sp>
      <p:sp>
        <p:nvSpPr>
          <p:cNvPr id="3" name="Content Placeholder 2">
            <a:extLst>
              <a:ext uri="{FF2B5EF4-FFF2-40B4-BE49-F238E27FC236}">
                <a16:creationId xmlns:a16="http://schemas.microsoft.com/office/drawing/2014/main" id="{B75FB8FB-FE5D-37B5-5743-A9F685CABC49}"/>
              </a:ext>
            </a:extLst>
          </p:cNvPr>
          <p:cNvSpPr>
            <a:spLocks noGrp="1"/>
          </p:cNvSpPr>
          <p:nvPr>
            <p:ph idx="1"/>
          </p:nvPr>
        </p:nvSpPr>
        <p:spPr/>
        <p:txBody>
          <a:bodyPr/>
          <a:lstStyle/>
          <a:p>
            <a:r>
              <a:rPr lang="en-CA" dirty="0"/>
              <a:t>Of 55 homeless women in two UK cities, 12 self-identified as self-injurers, we found they were more likely to be dealing with 3 or more significant stressors.</a:t>
            </a:r>
          </a:p>
          <a:p>
            <a:endParaRPr lang="en-CA" dirty="0"/>
          </a:p>
          <a:p>
            <a:endParaRPr lang="en-CA" dirty="0"/>
          </a:p>
          <a:p>
            <a:endParaRPr lang="en-CA" dirty="0"/>
          </a:p>
          <a:p>
            <a:r>
              <a:rPr lang="en-CA" dirty="0"/>
              <a:t>What were these</a:t>
            </a:r>
          </a:p>
          <a:p>
            <a:pPr marL="0" indent="0">
              <a:buNone/>
            </a:pPr>
            <a:r>
              <a:rPr lang="en-CA" dirty="0"/>
              <a:t>stressors? ….</a:t>
            </a:r>
          </a:p>
          <a:p>
            <a:endParaRPr lang="en-CA" dirty="0"/>
          </a:p>
          <a:p>
            <a:endParaRPr lang="en-CA" dirty="0"/>
          </a:p>
        </p:txBody>
      </p:sp>
      <p:pic>
        <p:nvPicPr>
          <p:cNvPr id="5" name="Picture 4" descr="A table with numbers and text&#10;&#10;Description automatically generated">
            <a:extLst>
              <a:ext uri="{FF2B5EF4-FFF2-40B4-BE49-F238E27FC236}">
                <a16:creationId xmlns:a16="http://schemas.microsoft.com/office/drawing/2014/main" id="{5BDF7A46-9EC8-9604-7BC3-9699D50A02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7310" y="3134553"/>
            <a:ext cx="7606383" cy="3723447"/>
          </a:xfrm>
          <a:prstGeom prst="rect">
            <a:avLst/>
          </a:prstGeom>
        </p:spPr>
      </p:pic>
    </p:spTree>
    <p:extLst>
      <p:ext uri="{BB962C8B-B14F-4D97-AF65-F5344CB8AC3E}">
        <p14:creationId xmlns:p14="http://schemas.microsoft.com/office/powerpoint/2010/main" val="3254147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0FB14-2423-F2EE-484E-AB87ECFDFC6B}"/>
              </a:ext>
            </a:extLst>
          </p:cNvPr>
          <p:cNvSpPr>
            <a:spLocks noGrp="1"/>
          </p:cNvSpPr>
          <p:nvPr>
            <p:ph type="title"/>
          </p:nvPr>
        </p:nvSpPr>
        <p:spPr/>
        <p:txBody>
          <a:bodyPr/>
          <a:lstStyle/>
          <a:p>
            <a:endParaRPr lang="en-CA"/>
          </a:p>
        </p:txBody>
      </p:sp>
      <p:pic>
        <p:nvPicPr>
          <p:cNvPr id="5" name="Content Placeholder 4" descr="A white sheet with black text&#10;&#10;Description automatically generated">
            <a:extLst>
              <a:ext uri="{FF2B5EF4-FFF2-40B4-BE49-F238E27FC236}">
                <a16:creationId xmlns:a16="http://schemas.microsoft.com/office/drawing/2014/main" id="{067FD2F2-B2A3-A3D4-9467-336BDFE6B9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31" y="488611"/>
            <a:ext cx="11613320" cy="6107005"/>
          </a:xfrm>
        </p:spPr>
      </p:pic>
    </p:spTree>
    <p:extLst>
      <p:ext uri="{BB962C8B-B14F-4D97-AF65-F5344CB8AC3E}">
        <p14:creationId xmlns:p14="http://schemas.microsoft.com/office/powerpoint/2010/main" val="3626410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24FE7-7720-294C-84A9-99D967ABFB10}"/>
              </a:ext>
            </a:extLst>
          </p:cNvPr>
          <p:cNvSpPr>
            <a:spLocks noGrp="1"/>
          </p:cNvSpPr>
          <p:nvPr>
            <p:ph type="title"/>
          </p:nvPr>
        </p:nvSpPr>
        <p:spPr>
          <a:xfrm>
            <a:off x="554804" y="365125"/>
            <a:ext cx="10798996" cy="1237643"/>
          </a:xfrm>
        </p:spPr>
        <p:txBody>
          <a:bodyPr>
            <a:normAutofit fontScale="90000"/>
          </a:bodyPr>
          <a:lstStyle/>
          <a:p>
            <a:r>
              <a:rPr lang="en-GB" sz="4400" dirty="0">
                <a:latin typeface="Times New Roman" panose="02020603050405020304" pitchFamily="18" charset="0"/>
                <a:ea typeface="Calibri" panose="020F0502020204030204" pitchFamily="34" charset="0"/>
                <a:cs typeface="Times New Roman" panose="02020603050405020304" pitchFamily="18" charset="0"/>
              </a:rPr>
              <a:t>One</a:t>
            </a:r>
            <a:r>
              <a:rPr lang="en-GB" sz="4400" dirty="0">
                <a:effectLst/>
                <a:latin typeface="Times New Roman" panose="02020603050405020304" pitchFamily="18" charset="0"/>
                <a:ea typeface="Calibri" panose="020F0502020204030204" pitchFamily="34" charset="0"/>
                <a:cs typeface="Times New Roman" panose="02020603050405020304" pitchFamily="18" charset="0"/>
              </a:rPr>
              <a:t> young woman from Afghanistan said of herself, “</a:t>
            </a:r>
            <a:r>
              <a:rPr lang="en-GB" dirty="0">
                <a:effectLst/>
                <a:latin typeface="Times New Roman" panose="02020603050405020304" pitchFamily="18" charset="0"/>
                <a:ea typeface="Calibri" panose="020F0502020204030204" pitchFamily="34" charset="0"/>
                <a:cs typeface="Times New Roman" panose="02020603050405020304" pitchFamily="18" charset="0"/>
              </a:rPr>
              <a:t>I used to take beatings from my mom and my family.” </a:t>
            </a:r>
            <a:endParaRPr lang="en-CA" dirty="0"/>
          </a:p>
        </p:txBody>
      </p:sp>
      <p:sp>
        <p:nvSpPr>
          <p:cNvPr id="3" name="Content Placeholder 2">
            <a:extLst>
              <a:ext uri="{FF2B5EF4-FFF2-40B4-BE49-F238E27FC236}">
                <a16:creationId xmlns:a16="http://schemas.microsoft.com/office/drawing/2014/main" id="{68DBDE43-EF28-B722-4DFE-156587D4B9FA}"/>
              </a:ext>
            </a:extLst>
          </p:cNvPr>
          <p:cNvSpPr>
            <a:spLocks noGrp="1"/>
          </p:cNvSpPr>
          <p:nvPr>
            <p:ph idx="1"/>
          </p:nvPr>
        </p:nvSpPr>
        <p:spPr>
          <a:xfrm>
            <a:off x="369869" y="2024009"/>
            <a:ext cx="11322121" cy="4152953"/>
          </a:xfrm>
        </p:spPr>
        <p:txBody>
          <a:bodyPr>
            <a:noAutofit/>
          </a:bodyPr>
          <a:lstStyle/>
          <a:p>
            <a:pPr indent="0" algn="just">
              <a:lnSpc>
                <a:spcPct val="100000"/>
              </a:lnSpc>
              <a:spcBef>
                <a:spcPts val="0"/>
              </a:spcBef>
              <a:spcAft>
                <a:spcPts val="1000"/>
              </a:spcAft>
              <a:buNone/>
            </a:pPr>
            <a:r>
              <a:rPr lang="en-GB" dirty="0">
                <a:effectLst/>
                <a:latin typeface="Times New Roman" panose="02020603050405020304" pitchFamily="18" charset="0"/>
                <a:ea typeface="Calibri" panose="020F0502020204030204" pitchFamily="34" charset="0"/>
                <a:cs typeface="Times New Roman" panose="02020603050405020304" pitchFamily="18" charset="0"/>
              </a:rPr>
              <a:t>She saw her self-harming as an act aimed at hurting not herself, but her mother who had beat her:</a:t>
            </a:r>
            <a:endParaRPr lang="en-CA" dirty="0">
              <a:effectLst/>
              <a:latin typeface="Times New Roman" panose="02020603050405020304" pitchFamily="18" charset="0"/>
              <a:ea typeface="Calibri" panose="020F0502020204030204" pitchFamily="34" charset="0"/>
              <a:cs typeface="Times New Roman" panose="02020603050405020304" pitchFamily="18" charset="0"/>
            </a:endParaRPr>
          </a:p>
          <a:p>
            <a:pPr marR="457200" indent="0" algn="just">
              <a:lnSpc>
                <a:spcPct val="100000"/>
              </a:lnSpc>
              <a:spcBef>
                <a:spcPts val="0"/>
              </a:spcBef>
              <a:spcAft>
                <a:spcPts val="1000"/>
              </a:spcAft>
              <a:buNone/>
            </a:pPr>
            <a:r>
              <a:rPr lang="en-GB" dirty="0">
                <a:effectLst/>
                <a:latin typeface="Times New Roman" panose="02020603050405020304" pitchFamily="18" charset="0"/>
                <a:ea typeface="Calibri" panose="020F0502020204030204" pitchFamily="34" charset="0"/>
                <a:cs typeface="Times New Roman" panose="02020603050405020304" pitchFamily="18" charset="0"/>
              </a:rPr>
              <a:t>“I had a lot of anger and that’s what kind of led me to cutting myself. It was my mom. I have a lot of anger in me and I can’t let it out on her, so I used to hurt myself, thinking that it would affect her.” </a:t>
            </a:r>
            <a:endParaRPr lang="en-CA" dirty="0">
              <a:latin typeface="Times New Roman" panose="02020603050405020304" pitchFamily="18" charset="0"/>
              <a:ea typeface="Calibri" panose="020F0502020204030204" pitchFamily="34" charset="0"/>
              <a:cs typeface="Times New Roman" panose="02020603050405020304" pitchFamily="18" charset="0"/>
            </a:endParaRPr>
          </a:p>
          <a:p>
            <a:pPr marR="457200" indent="0" algn="just">
              <a:lnSpc>
                <a:spcPct val="100000"/>
              </a:lnSpc>
              <a:spcBef>
                <a:spcPts val="0"/>
              </a:spcBef>
              <a:spcAft>
                <a:spcPts val="1000"/>
              </a:spcAft>
              <a:buNone/>
            </a:pPr>
            <a:endParaRPr lang="en-CA"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GB" dirty="0">
                <a:effectLst/>
                <a:latin typeface="Times New Roman" panose="02020603050405020304" pitchFamily="18" charset="0"/>
                <a:ea typeface="Calibri" panose="020F0502020204030204" pitchFamily="34" charset="0"/>
                <a:cs typeface="Times New Roman" panose="02020603050405020304" pitchFamily="18" charset="0"/>
              </a:rPr>
              <a:t>Her self-injuring behaviours began with feelings of agitation that lead to periods where she would “</a:t>
            </a:r>
            <a:r>
              <a:rPr lang="en-GB" dirty="0">
                <a:effectLst/>
                <a:latin typeface="Times New Roman" panose="02020603050405020304" pitchFamily="18" charset="0"/>
                <a:ea typeface="MinionPro-Regular"/>
                <a:cs typeface="Times New Roman" panose="02020603050405020304" pitchFamily="18" charset="0"/>
              </a:rPr>
              <a:t>just start itching myself”. Intense scratching then progressed to cutting, as she sought greater relief from anxiety and anger. </a:t>
            </a:r>
            <a:endParaRPr lang="en-CA"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886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5E61D-B108-3151-4732-32134A82E495}"/>
              </a:ext>
            </a:extLst>
          </p:cNvPr>
          <p:cNvSpPr>
            <a:spLocks noGrp="1"/>
          </p:cNvSpPr>
          <p:nvPr>
            <p:ph type="title"/>
          </p:nvPr>
        </p:nvSpPr>
        <p:spPr/>
        <p:txBody>
          <a:bodyPr/>
          <a:lstStyle/>
          <a:p>
            <a:r>
              <a:rPr lang="en-CA" dirty="0"/>
              <a:t>In another related study, we also found …</a:t>
            </a:r>
          </a:p>
        </p:txBody>
      </p:sp>
      <p:sp>
        <p:nvSpPr>
          <p:cNvPr id="3" name="Content Placeholder 2">
            <a:extLst>
              <a:ext uri="{FF2B5EF4-FFF2-40B4-BE49-F238E27FC236}">
                <a16:creationId xmlns:a16="http://schemas.microsoft.com/office/drawing/2014/main" id="{FFEF515F-758A-4487-C2DC-0D41C5077D39}"/>
              </a:ext>
            </a:extLst>
          </p:cNvPr>
          <p:cNvSpPr>
            <a:spLocks noGrp="1"/>
          </p:cNvSpPr>
          <p:nvPr>
            <p:ph idx="1"/>
          </p:nvPr>
        </p:nvSpPr>
        <p:spPr/>
        <p:txBody>
          <a:bodyPr>
            <a:normAutofit/>
          </a:bodyPr>
          <a:lstStyle/>
          <a:p>
            <a:r>
              <a:rPr lang="en-CA" dirty="0"/>
              <a:t>Drawing on data collected from 269 structured interviews conducted with women using the services of homeless shelters and/or transitional housing in the U.S. and U.K., we discovered that adult victims of stranger-perpetrated physical assault are significantly more likely to be homeless on multiple occasions. </a:t>
            </a:r>
          </a:p>
          <a:p>
            <a:endParaRPr lang="en-CA" dirty="0"/>
          </a:p>
          <a:p>
            <a:r>
              <a:rPr lang="en-CA" dirty="0"/>
              <a:t>In addition, those who experience multiple forms of victimization (e.g., physical and sexual abuse) in childhood, adulthood, and/or across the life course are significantly more likely to experience multiple episodes of homelessness. </a:t>
            </a:r>
          </a:p>
        </p:txBody>
      </p:sp>
    </p:spTree>
    <p:extLst>
      <p:ext uri="{BB962C8B-B14F-4D97-AF65-F5344CB8AC3E}">
        <p14:creationId xmlns:p14="http://schemas.microsoft.com/office/powerpoint/2010/main" val="725107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138DA-C799-DC50-07D6-45FBDFA44096}"/>
              </a:ext>
            </a:extLst>
          </p:cNvPr>
          <p:cNvSpPr>
            <a:spLocks noGrp="1"/>
          </p:cNvSpPr>
          <p:nvPr>
            <p:ph type="title"/>
          </p:nvPr>
        </p:nvSpPr>
        <p:spPr/>
        <p:txBody>
          <a:bodyPr/>
          <a:lstStyle/>
          <a:p>
            <a:r>
              <a:rPr lang="en-CA" dirty="0"/>
              <a:t>And, in line with the social stress framework</a:t>
            </a:r>
          </a:p>
        </p:txBody>
      </p:sp>
      <p:sp>
        <p:nvSpPr>
          <p:cNvPr id="3" name="Content Placeholder 2">
            <a:extLst>
              <a:ext uri="{FF2B5EF4-FFF2-40B4-BE49-F238E27FC236}">
                <a16:creationId xmlns:a16="http://schemas.microsoft.com/office/drawing/2014/main" id="{96986F4D-88DB-4103-87AA-E510500C40EB}"/>
              </a:ext>
            </a:extLst>
          </p:cNvPr>
          <p:cNvSpPr>
            <a:spLocks noGrp="1"/>
          </p:cNvSpPr>
          <p:nvPr>
            <p:ph idx="1"/>
          </p:nvPr>
        </p:nvSpPr>
        <p:spPr/>
        <p:txBody>
          <a:bodyPr>
            <a:normAutofit/>
          </a:bodyPr>
          <a:lstStyle/>
          <a:p>
            <a:r>
              <a:rPr lang="en-CA" sz="3600" dirty="0"/>
              <a:t>It is worth noting that women in the U.S. sample were disproportionately more likely to be Black and have been multiply victimized in child and adulthood. </a:t>
            </a:r>
          </a:p>
        </p:txBody>
      </p:sp>
    </p:spTree>
    <p:extLst>
      <p:ext uri="{BB962C8B-B14F-4D97-AF65-F5344CB8AC3E}">
        <p14:creationId xmlns:p14="http://schemas.microsoft.com/office/powerpoint/2010/main" val="13390302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58333-F839-D2E7-FA0A-4C0F13BCA387}"/>
              </a:ext>
            </a:extLst>
          </p:cNvPr>
          <p:cNvSpPr>
            <a:spLocks noGrp="1"/>
          </p:cNvSpPr>
          <p:nvPr>
            <p:ph type="title"/>
          </p:nvPr>
        </p:nvSpPr>
        <p:spPr/>
        <p:txBody>
          <a:bodyPr/>
          <a:lstStyle/>
          <a:p>
            <a:r>
              <a:rPr lang="en-CA" dirty="0"/>
              <a:t>I also want to note that …</a:t>
            </a:r>
          </a:p>
        </p:txBody>
      </p:sp>
      <p:sp>
        <p:nvSpPr>
          <p:cNvPr id="3" name="Content Placeholder 2">
            <a:extLst>
              <a:ext uri="{FF2B5EF4-FFF2-40B4-BE49-F238E27FC236}">
                <a16:creationId xmlns:a16="http://schemas.microsoft.com/office/drawing/2014/main" id="{4BA84760-83E7-07B7-0E7E-4ACDA79A1A27}"/>
              </a:ext>
            </a:extLst>
          </p:cNvPr>
          <p:cNvSpPr>
            <a:spLocks noGrp="1"/>
          </p:cNvSpPr>
          <p:nvPr>
            <p:ph idx="1"/>
          </p:nvPr>
        </p:nvSpPr>
        <p:spPr/>
        <p:txBody>
          <a:bodyPr/>
          <a:lstStyle/>
          <a:p>
            <a:r>
              <a:rPr lang="en-CA" dirty="0"/>
              <a:t>Not only is there variability in terms of how people will process trauma – based on their life experiences, access to resources and social status – but also that not all forms of victimization run equal risk of causing harm. </a:t>
            </a:r>
          </a:p>
          <a:p>
            <a:r>
              <a:rPr lang="en-CA" dirty="0"/>
              <a:t> </a:t>
            </a:r>
          </a:p>
          <a:p>
            <a:r>
              <a:rPr lang="en-CA" dirty="0"/>
              <a:t>“A recent meta-analysis of prospective studies investigating the prevalence of PTSD in sexual assault survivors reported a prevalence rate of </a:t>
            </a:r>
            <a:r>
              <a:rPr lang="en-CA" b="1" dirty="0"/>
              <a:t>74.6% for PTSD 1-month post-assault</a:t>
            </a:r>
            <a:r>
              <a:rPr lang="en-CA" dirty="0"/>
              <a:t> and a prevalence of </a:t>
            </a:r>
            <a:r>
              <a:rPr lang="en-CA" b="1" dirty="0"/>
              <a:t>41.5% at 12-months post-assault</a:t>
            </a:r>
            <a:r>
              <a:rPr lang="en-CA" dirty="0"/>
              <a:t>” (CDC 2023). </a:t>
            </a:r>
          </a:p>
        </p:txBody>
      </p:sp>
    </p:spTree>
    <p:extLst>
      <p:ext uri="{BB962C8B-B14F-4D97-AF65-F5344CB8AC3E}">
        <p14:creationId xmlns:p14="http://schemas.microsoft.com/office/powerpoint/2010/main" val="1346333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3024-259D-486A-B437-25C9A24673CC}"/>
              </a:ext>
            </a:extLst>
          </p:cNvPr>
          <p:cNvSpPr>
            <a:spLocks noGrp="1"/>
          </p:cNvSpPr>
          <p:nvPr>
            <p:ph type="title"/>
          </p:nvPr>
        </p:nvSpPr>
        <p:spPr/>
        <p:txBody>
          <a:bodyPr/>
          <a:lstStyle/>
          <a:p>
            <a:pPr algn="ctr"/>
            <a:r>
              <a:rPr lang="en-CA" b="1" dirty="0"/>
              <a:t>*all done!*</a:t>
            </a:r>
          </a:p>
        </p:txBody>
      </p:sp>
      <p:pic>
        <p:nvPicPr>
          <p:cNvPr id="5" name="Content Placeholder 4">
            <a:extLst>
              <a:ext uri="{FF2B5EF4-FFF2-40B4-BE49-F238E27FC236}">
                <a16:creationId xmlns:a16="http://schemas.microsoft.com/office/drawing/2014/main" id="{5926F011-9408-41AF-A555-85D493F200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1141" y="1825625"/>
            <a:ext cx="3729718" cy="4351338"/>
          </a:xfrm>
        </p:spPr>
      </p:pic>
    </p:spTree>
    <p:extLst>
      <p:ext uri="{BB962C8B-B14F-4D97-AF65-F5344CB8AC3E}">
        <p14:creationId xmlns:p14="http://schemas.microsoft.com/office/powerpoint/2010/main" val="847448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2544</TotalTime>
  <Words>1103</Words>
  <Application>Microsoft Office PowerPoint</Application>
  <PresentationFormat>宽屏</PresentationFormat>
  <Paragraphs>77</Paragraphs>
  <Slides>22</Slides>
  <Notes>0</Notes>
  <HiddenSlides>0</HiddenSlides>
  <MMClips>0</MMClips>
  <ScaleCrop>false</ScaleCrop>
  <HeadingPairs>
    <vt:vector size="4" baseType="variant">
      <vt:variant>
        <vt:lpstr>主题</vt:lpstr>
      </vt:variant>
      <vt:variant>
        <vt:i4>1</vt:i4>
      </vt:variant>
      <vt:variant>
        <vt:lpstr>幻灯片标题</vt:lpstr>
      </vt:variant>
      <vt:variant>
        <vt:i4>22</vt:i4>
      </vt:variant>
    </vt:vector>
  </HeadingPairs>
  <TitlesOfParts>
    <vt:vector size="23" baseType="lpstr">
      <vt:lpstr>Office Theme</vt:lpstr>
      <vt:lpstr>Impacts of Victimization</vt:lpstr>
      <vt:lpstr>PowerPoint 演示文稿</vt:lpstr>
      <vt:lpstr>Turanovic and Pratt:</vt:lpstr>
      <vt:lpstr>ACE (Adverse Childhood experiences)</vt:lpstr>
      <vt:lpstr>Lifelong impacts of child abuse</vt:lpstr>
      <vt:lpstr>PowerPoint 演示文稿</vt:lpstr>
      <vt:lpstr>Trauma responses to victimization</vt:lpstr>
      <vt:lpstr>Why does victimization elicit a trauma response for some people, but not all? (Turanovic &amp; Pratt)</vt:lpstr>
      <vt:lpstr>Coping takes two forms</vt:lpstr>
      <vt:lpstr>Additionally, </vt:lpstr>
      <vt:lpstr>Threat Appraisal and Coping Theory (Lazarus &amp; Folkman 1984) </vt:lpstr>
      <vt:lpstr>Cont’d</vt:lpstr>
      <vt:lpstr>Social stress framework</vt:lpstr>
      <vt:lpstr>As Tyler and colleagues note …</vt:lpstr>
      <vt:lpstr>Social stress framework and self-injuring (Huey et al. 2014)</vt:lpstr>
      <vt:lpstr>Social stress framework and self-injuring (Huey et al. 2014)</vt:lpstr>
      <vt:lpstr>PowerPoint 演示文稿</vt:lpstr>
      <vt:lpstr>One young woman from Afghanistan said of herself, “I used to take beatings from my mom and my family.” </vt:lpstr>
      <vt:lpstr>In another related study, we also found …</vt:lpstr>
      <vt:lpstr>And, in line with the social stress framework</vt:lpstr>
      <vt:lpstr>I also want to note that …</vt:lpstr>
      <vt:lpstr>*all done!*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Impacts of Victimization</dc:title>
  <dc:creator>Laura Huey</dc:creator>
  <cp:lastModifiedBy>Laura Huey</cp:lastModifiedBy>
  <cp:revision>18</cp:revision>
  <dcterms:created xsi:type="dcterms:W3CDTF">2024-03-19T21:50:09Z</dcterms:created>
  <dcterms:modified xsi:type="dcterms:W3CDTF">2026-04-01T22:13:43Z</dcterms:modified>
</cp:coreProperties>
</file>