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80" r:id="rId4"/>
    <p:sldId id="278" r:id="rId5"/>
    <p:sldId id="257" r:id="rId6"/>
    <p:sldId id="279" r:id="rId7"/>
    <p:sldId id="344" r:id="rId8"/>
    <p:sldId id="345" r:id="rId9"/>
    <p:sldId id="346" r:id="rId10"/>
    <p:sldId id="347" r:id="rId11"/>
    <p:sldId id="272" r:id="rId12"/>
    <p:sldId id="273" r:id="rId13"/>
    <p:sldId id="274" r:id="rId14"/>
    <p:sldId id="275" r:id="rId15"/>
    <p:sldId id="276" r:id="rId16"/>
    <p:sldId id="277" r:id="rId17"/>
    <p:sldId id="34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5A939-26EA-179E-1520-AAD4A1508B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F308090-3B20-4846-9AE2-ED50156F16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1037A64F-3056-0E3B-9AD1-4CF2A970B43E}"/>
              </a:ext>
            </a:extLst>
          </p:cNvPr>
          <p:cNvSpPr>
            <a:spLocks noGrp="1"/>
          </p:cNvSpPr>
          <p:nvPr>
            <p:ph type="dt" sz="half" idx="10"/>
          </p:nvPr>
        </p:nvSpPr>
        <p:spPr/>
        <p:txBody>
          <a:bodyPr/>
          <a:lstStyle/>
          <a:p>
            <a:fld id="{D161E5B2-B8F1-409D-8924-E73601AA15DA}" type="datetimeFigureOut">
              <a:rPr lang="en-CA" smtClean="0"/>
              <a:t>2026-04-01</a:t>
            </a:fld>
            <a:endParaRPr lang="en-CA"/>
          </a:p>
        </p:txBody>
      </p:sp>
      <p:sp>
        <p:nvSpPr>
          <p:cNvPr id="5" name="Footer Placeholder 4">
            <a:extLst>
              <a:ext uri="{FF2B5EF4-FFF2-40B4-BE49-F238E27FC236}">
                <a16:creationId xmlns:a16="http://schemas.microsoft.com/office/drawing/2014/main" id="{3F11854E-79AE-88AA-B3E2-0571EC6842B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1C8DBB8-FBFA-A9C1-7C5E-64F101F0E09E}"/>
              </a:ext>
            </a:extLst>
          </p:cNvPr>
          <p:cNvSpPr>
            <a:spLocks noGrp="1"/>
          </p:cNvSpPr>
          <p:nvPr>
            <p:ph type="sldNum" sz="quarter" idx="12"/>
          </p:nvPr>
        </p:nvSpPr>
        <p:spPr/>
        <p:txBody>
          <a:bodyPr/>
          <a:lstStyle/>
          <a:p>
            <a:fld id="{17D6CCA4-F45C-4CAD-8556-C2F4257F292A}" type="slidenum">
              <a:rPr lang="en-CA" smtClean="0"/>
              <a:t>‹#›</a:t>
            </a:fld>
            <a:endParaRPr lang="en-CA"/>
          </a:p>
        </p:txBody>
      </p:sp>
    </p:spTree>
    <p:extLst>
      <p:ext uri="{BB962C8B-B14F-4D97-AF65-F5344CB8AC3E}">
        <p14:creationId xmlns:p14="http://schemas.microsoft.com/office/powerpoint/2010/main" val="3975798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86FB1-5B34-6261-DEC7-85A74C8C845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8CB5584-EA54-0836-3DCF-6A34DD1BCC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D5BF00B-2BD2-D5EF-ADA5-19B7B3686D0D}"/>
              </a:ext>
            </a:extLst>
          </p:cNvPr>
          <p:cNvSpPr>
            <a:spLocks noGrp="1"/>
          </p:cNvSpPr>
          <p:nvPr>
            <p:ph type="dt" sz="half" idx="10"/>
          </p:nvPr>
        </p:nvSpPr>
        <p:spPr/>
        <p:txBody>
          <a:bodyPr/>
          <a:lstStyle/>
          <a:p>
            <a:fld id="{D161E5B2-B8F1-409D-8924-E73601AA15DA}" type="datetimeFigureOut">
              <a:rPr lang="en-CA" smtClean="0"/>
              <a:t>2026-04-01</a:t>
            </a:fld>
            <a:endParaRPr lang="en-CA"/>
          </a:p>
        </p:txBody>
      </p:sp>
      <p:sp>
        <p:nvSpPr>
          <p:cNvPr id="5" name="Footer Placeholder 4">
            <a:extLst>
              <a:ext uri="{FF2B5EF4-FFF2-40B4-BE49-F238E27FC236}">
                <a16:creationId xmlns:a16="http://schemas.microsoft.com/office/drawing/2014/main" id="{81BEB811-D5B6-7552-0F4B-2C14056F4EF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3B08A91-B9F7-4A88-5086-F3AB699241C5}"/>
              </a:ext>
            </a:extLst>
          </p:cNvPr>
          <p:cNvSpPr>
            <a:spLocks noGrp="1"/>
          </p:cNvSpPr>
          <p:nvPr>
            <p:ph type="sldNum" sz="quarter" idx="12"/>
          </p:nvPr>
        </p:nvSpPr>
        <p:spPr/>
        <p:txBody>
          <a:bodyPr/>
          <a:lstStyle/>
          <a:p>
            <a:fld id="{17D6CCA4-F45C-4CAD-8556-C2F4257F292A}" type="slidenum">
              <a:rPr lang="en-CA" smtClean="0"/>
              <a:t>‹#›</a:t>
            </a:fld>
            <a:endParaRPr lang="en-CA"/>
          </a:p>
        </p:txBody>
      </p:sp>
    </p:spTree>
    <p:extLst>
      <p:ext uri="{BB962C8B-B14F-4D97-AF65-F5344CB8AC3E}">
        <p14:creationId xmlns:p14="http://schemas.microsoft.com/office/powerpoint/2010/main" val="322254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8B0EA-D17D-10EB-2B1B-62C08D702F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802F8AA7-9AB1-6253-AA2E-064FD1F6AA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9BD0FC-32DB-679B-AA23-89DCD321942C}"/>
              </a:ext>
            </a:extLst>
          </p:cNvPr>
          <p:cNvSpPr>
            <a:spLocks noGrp="1"/>
          </p:cNvSpPr>
          <p:nvPr>
            <p:ph type="dt" sz="half" idx="10"/>
          </p:nvPr>
        </p:nvSpPr>
        <p:spPr/>
        <p:txBody>
          <a:bodyPr/>
          <a:lstStyle/>
          <a:p>
            <a:fld id="{D161E5B2-B8F1-409D-8924-E73601AA15DA}" type="datetimeFigureOut">
              <a:rPr lang="en-CA" smtClean="0"/>
              <a:t>2026-04-01</a:t>
            </a:fld>
            <a:endParaRPr lang="en-CA"/>
          </a:p>
        </p:txBody>
      </p:sp>
      <p:sp>
        <p:nvSpPr>
          <p:cNvPr id="5" name="Footer Placeholder 4">
            <a:extLst>
              <a:ext uri="{FF2B5EF4-FFF2-40B4-BE49-F238E27FC236}">
                <a16:creationId xmlns:a16="http://schemas.microsoft.com/office/drawing/2014/main" id="{41F11975-004F-ED41-DF98-DB3C94573F6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BEE08A7-F1F5-A5C3-C34F-55E646710707}"/>
              </a:ext>
            </a:extLst>
          </p:cNvPr>
          <p:cNvSpPr>
            <a:spLocks noGrp="1"/>
          </p:cNvSpPr>
          <p:nvPr>
            <p:ph type="sldNum" sz="quarter" idx="12"/>
          </p:nvPr>
        </p:nvSpPr>
        <p:spPr/>
        <p:txBody>
          <a:bodyPr/>
          <a:lstStyle/>
          <a:p>
            <a:fld id="{17D6CCA4-F45C-4CAD-8556-C2F4257F292A}" type="slidenum">
              <a:rPr lang="en-CA" smtClean="0"/>
              <a:t>‹#›</a:t>
            </a:fld>
            <a:endParaRPr lang="en-CA"/>
          </a:p>
        </p:txBody>
      </p:sp>
    </p:spTree>
    <p:extLst>
      <p:ext uri="{BB962C8B-B14F-4D97-AF65-F5344CB8AC3E}">
        <p14:creationId xmlns:p14="http://schemas.microsoft.com/office/powerpoint/2010/main" val="4100246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4227-B2B6-1A72-69FB-1AE7A077364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D13094C-673E-65BB-71C5-7EF19004BF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D1DF7DFC-7B2B-F4A6-CDD7-CA0FE153A7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65B1105D-01D9-5230-35E5-F6F1CA712553}"/>
              </a:ext>
            </a:extLst>
          </p:cNvPr>
          <p:cNvSpPr>
            <a:spLocks noGrp="1"/>
          </p:cNvSpPr>
          <p:nvPr>
            <p:ph type="dt" sz="half" idx="10"/>
          </p:nvPr>
        </p:nvSpPr>
        <p:spPr/>
        <p:txBody>
          <a:bodyPr/>
          <a:lstStyle/>
          <a:p>
            <a:fld id="{D161E5B2-B8F1-409D-8924-E73601AA15DA}" type="datetimeFigureOut">
              <a:rPr lang="en-CA" smtClean="0"/>
              <a:t>2026-04-01</a:t>
            </a:fld>
            <a:endParaRPr lang="en-CA"/>
          </a:p>
        </p:txBody>
      </p:sp>
      <p:sp>
        <p:nvSpPr>
          <p:cNvPr id="6" name="Footer Placeholder 5">
            <a:extLst>
              <a:ext uri="{FF2B5EF4-FFF2-40B4-BE49-F238E27FC236}">
                <a16:creationId xmlns:a16="http://schemas.microsoft.com/office/drawing/2014/main" id="{38FAE489-E61A-472A-A3B2-2B9E76C498A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1703560-B908-E060-C91B-A951818037D2}"/>
              </a:ext>
            </a:extLst>
          </p:cNvPr>
          <p:cNvSpPr>
            <a:spLocks noGrp="1"/>
          </p:cNvSpPr>
          <p:nvPr>
            <p:ph type="sldNum" sz="quarter" idx="12"/>
          </p:nvPr>
        </p:nvSpPr>
        <p:spPr/>
        <p:txBody>
          <a:bodyPr/>
          <a:lstStyle/>
          <a:p>
            <a:fld id="{17D6CCA4-F45C-4CAD-8556-C2F4257F292A}" type="slidenum">
              <a:rPr lang="en-CA" smtClean="0"/>
              <a:t>‹#›</a:t>
            </a:fld>
            <a:endParaRPr lang="en-CA"/>
          </a:p>
        </p:txBody>
      </p:sp>
    </p:spTree>
    <p:extLst>
      <p:ext uri="{BB962C8B-B14F-4D97-AF65-F5344CB8AC3E}">
        <p14:creationId xmlns:p14="http://schemas.microsoft.com/office/powerpoint/2010/main" val="3607606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3C26-72B4-6C1C-A142-6FCC1B2B36C2}"/>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F81E34F-566A-E37F-E42B-8184A07EFF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132966-9022-8A82-5862-C0593EA19B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9632B5FB-F7C8-D93C-8ABE-79B8BB82AB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F1AFCF-0D0C-2BF6-B254-224337FC7F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77FCB985-4DE8-1B19-4DF3-8E1BCEBD8837}"/>
              </a:ext>
            </a:extLst>
          </p:cNvPr>
          <p:cNvSpPr>
            <a:spLocks noGrp="1"/>
          </p:cNvSpPr>
          <p:nvPr>
            <p:ph type="dt" sz="half" idx="10"/>
          </p:nvPr>
        </p:nvSpPr>
        <p:spPr/>
        <p:txBody>
          <a:bodyPr/>
          <a:lstStyle/>
          <a:p>
            <a:fld id="{D161E5B2-B8F1-409D-8924-E73601AA15DA}" type="datetimeFigureOut">
              <a:rPr lang="en-CA" smtClean="0"/>
              <a:t>2026-04-01</a:t>
            </a:fld>
            <a:endParaRPr lang="en-CA"/>
          </a:p>
        </p:txBody>
      </p:sp>
      <p:sp>
        <p:nvSpPr>
          <p:cNvPr id="8" name="Footer Placeholder 7">
            <a:extLst>
              <a:ext uri="{FF2B5EF4-FFF2-40B4-BE49-F238E27FC236}">
                <a16:creationId xmlns:a16="http://schemas.microsoft.com/office/drawing/2014/main" id="{C4EE43F9-5FA5-600B-5E43-2E47F3C27410}"/>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93E7105A-ADDB-0255-8E3F-0747F273D748}"/>
              </a:ext>
            </a:extLst>
          </p:cNvPr>
          <p:cNvSpPr>
            <a:spLocks noGrp="1"/>
          </p:cNvSpPr>
          <p:nvPr>
            <p:ph type="sldNum" sz="quarter" idx="12"/>
          </p:nvPr>
        </p:nvSpPr>
        <p:spPr/>
        <p:txBody>
          <a:bodyPr/>
          <a:lstStyle/>
          <a:p>
            <a:fld id="{17D6CCA4-F45C-4CAD-8556-C2F4257F292A}" type="slidenum">
              <a:rPr lang="en-CA" smtClean="0"/>
              <a:t>‹#›</a:t>
            </a:fld>
            <a:endParaRPr lang="en-CA"/>
          </a:p>
        </p:txBody>
      </p:sp>
    </p:spTree>
    <p:extLst>
      <p:ext uri="{BB962C8B-B14F-4D97-AF65-F5344CB8AC3E}">
        <p14:creationId xmlns:p14="http://schemas.microsoft.com/office/powerpoint/2010/main" val="258855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EC87E-80A3-8C62-831B-4BFEBA3B7C22}"/>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422F9A6-D06B-0457-D133-F24F5C33787C}"/>
              </a:ext>
            </a:extLst>
          </p:cNvPr>
          <p:cNvSpPr>
            <a:spLocks noGrp="1"/>
          </p:cNvSpPr>
          <p:nvPr>
            <p:ph type="dt" sz="half" idx="10"/>
          </p:nvPr>
        </p:nvSpPr>
        <p:spPr/>
        <p:txBody>
          <a:bodyPr/>
          <a:lstStyle/>
          <a:p>
            <a:fld id="{D161E5B2-B8F1-409D-8924-E73601AA15DA}" type="datetimeFigureOut">
              <a:rPr lang="en-CA" smtClean="0"/>
              <a:t>2026-04-01</a:t>
            </a:fld>
            <a:endParaRPr lang="en-CA"/>
          </a:p>
        </p:txBody>
      </p:sp>
      <p:sp>
        <p:nvSpPr>
          <p:cNvPr id="4" name="Footer Placeholder 3">
            <a:extLst>
              <a:ext uri="{FF2B5EF4-FFF2-40B4-BE49-F238E27FC236}">
                <a16:creationId xmlns:a16="http://schemas.microsoft.com/office/drawing/2014/main" id="{1C54016D-BEC6-26B8-86CC-088604075642}"/>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B561708A-F83B-668B-871F-E910F4B2494E}"/>
              </a:ext>
            </a:extLst>
          </p:cNvPr>
          <p:cNvSpPr>
            <a:spLocks noGrp="1"/>
          </p:cNvSpPr>
          <p:nvPr>
            <p:ph type="sldNum" sz="quarter" idx="12"/>
          </p:nvPr>
        </p:nvSpPr>
        <p:spPr/>
        <p:txBody>
          <a:bodyPr/>
          <a:lstStyle/>
          <a:p>
            <a:fld id="{17D6CCA4-F45C-4CAD-8556-C2F4257F292A}" type="slidenum">
              <a:rPr lang="en-CA" smtClean="0"/>
              <a:t>‹#›</a:t>
            </a:fld>
            <a:endParaRPr lang="en-CA"/>
          </a:p>
        </p:txBody>
      </p:sp>
    </p:spTree>
    <p:extLst>
      <p:ext uri="{BB962C8B-B14F-4D97-AF65-F5344CB8AC3E}">
        <p14:creationId xmlns:p14="http://schemas.microsoft.com/office/powerpoint/2010/main" val="2953351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17CEDB-F8C8-2ED5-2239-BFA1A13AC093}"/>
              </a:ext>
            </a:extLst>
          </p:cNvPr>
          <p:cNvSpPr>
            <a:spLocks noGrp="1"/>
          </p:cNvSpPr>
          <p:nvPr>
            <p:ph type="dt" sz="half" idx="10"/>
          </p:nvPr>
        </p:nvSpPr>
        <p:spPr/>
        <p:txBody>
          <a:bodyPr/>
          <a:lstStyle/>
          <a:p>
            <a:fld id="{D161E5B2-B8F1-409D-8924-E73601AA15DA}" type="datetimeFigureOut">
              <a:rPr lang="en-CA" smtClean="0"/>
              <a:t>2026-04-01</a:t>
            </a:fld>
            <a:endParaRPr lang="en-CA"/>
          </a:p>
        </p:txBody>
      </p:sp>
      <p:sp>
        <p:nvSpPr>
          <p:cNvPr id="3" name="Footer Placeholder 2">
            <a:extLst>
              <a:ext uri="{FF2B5EF4-FFF2-40B4-BE49-F238E27FC236}">
                <a16:creationId xmlns:a16="http://schemas.microsoft.com/office/drawing/2014/main" id="{7C2077BE-94FB-E3D1-3DFB-38EEA021DD1C}"/>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74D851CB-F016-7FA9-FF08-1B7540B47EC2}"/>
              </a:ext>
            </a:extLst>
          </p:cNvPr>
          <p:cNvSpPr>
            <a:spLocks noGrp="1"/>
          </p:cNvSpPr>
          <p:nvPr>
            <p:ph type="sldNum" sz="quarter" idx="12"/>
          </p:nvPr>
        </p:nvSpPr>
        <p:spPr/>
        <p:txBody>
          <a:bodyPr/>
          <a:lstStyle/>
          <a:p>
            <a:fld id="{17D6CCA4-F45C-4CAD-8556-C2F4257F292A}" type="slidenum">
              <a:rPr lang="en-CA" smtClean="0"/>
              <a:t>‹#›</a:t>
            </a:fld>
            <a:endParaRPr lang="en-CA"/>
          </a:p>
        </p:txBody>
      </p:sp>
    </p:spTree>
    <p:extLst>
      <p:ext uri="{BB962C8B-B14F-4D97-AF65-F5344CB8AC3E}">
        <p14:creationId xmlns:p14="http://schemas.microsoft.com/office/powerpoint/2010/main" val="626338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976E3-15EA-0498-AFFD-2B1ECD155D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5B6D8A3-01DD-9184-6AE3-364849F3C1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9BB427C6-9636-B84D-ED4A-388AF94E57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051CC8-175E-7513-6CD8-18C3ABAE0933}"/>
              </a:ext>
            </a:extLst>
          </p:cNvPr>
          <p:cNvSpPr>
            <a:spLocks noGrp="1"/>
          </p:cNvSpPr>
          <p:nvPr>
            <p:ph type="dt" sz="half" idx="10"/>
          </p:nvPr>
        </p:nvSpPr>
        <p:spPr/>
        <p:txBody>
          <a:bodyPr/>
          <a:lstStyle/>
          <a:p>
            <a:fld id="{D161E5B2-B8F1-409D-8924-E73601AA15DA}" type="datetimeFigureOut">
              <a:rPr lang="en-CA" smtClean="0"/>
              <a:t>2026-04-01</a:t>
            </a:fld>
            <a:endParaRPr lang="en-CA"/>
          </a:p>
        </p:txBody>
      </p:sp>
      <p:sp>
        <p:nvSpPr>
          <p:cNvPr id="6" name="Footer Placeholder 5">
            <a:extLst>
              <a:ext uri="{FF2B5EF4-FFF2-40B4-BE49-F238E27FC236}">
                <a16:creationId xmlns:a16="http://schemas.microsoft.com/office/drawing/2014/main" id="{8FCCA3A2-ED6F-5494-88C6-93AFF23B9C6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7ADC89D-71F9-99E0-A34C-ED3CB4E8DCB1}"/>
              </a:ext>
            </a:extLst>
          </p:cNvPr>
          <p:cNvSpPr>
            <a:spLocks noGrp="1"/>
          </p:cNvSpPr>
          <p:nvPr>
            <p:ph type="sldNum" sz="quarter" idx="12"/>
          </p:nvPr>
        </p:nvSpPr>
        <p:spPr/>
        <p:txBody>
          <a:bodyPr/>
          <a:lstStyle/>
          <a:p>
            <a:fld id="{17D6CCA4-F45C-4CAD-8556-C2F4257F292A}" type="slidenum">
              <a:rPr lang="en-CA" smtClean="0"/>
              <a:t>‹#›</a:t>
            </a:fld>
            <a:endParaRPr lang="en-CA"/>
          </a:p>
        </p:txBody>
      </p:sp>
    </p:spTree>
    <p:extLst>
      <p:ext uri="{BB962C8B-B14F-4D97-AF65-F5344CB8AC3E}">
        <p14:creationId xmlns:p14="http://schemas.microsoft.com/office/powerpoint/2010/main" val="4126512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661F4-F21D-BFA6-A15F-0EE4D54151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D6335B95-E9B8-98BA-348C-7A99AD4F64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F1E5BBA-57B3-CC1C-5F1C-9A752F978D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7845E7-67A1-2B46-EEB6-62C0902B994F}"/>
              </a:ext>
            </a:extLst>
          </p:cNvPr>
          <p:cNvSpPr>
            <a:spLocks noGrp="1"/>
          </p:cNvSpPr>
          <p:nvPr>
            <p:ph type="dt" sz="half" idx="10"/>
          </p:nvPr>
        </p:nvSpPr>
        <p:spPr/>
        <p:txBody>
          <a:bodyPr/>
          <a:lstStyle/>
          <a:p>
            <a:fld id="{D161E5B2-B8F1-409D-8924-E73601AA15DA}" type="datetimeFigureOut">
              <a:rPr lang="en-CA" smtClean="0"/>
              <a:t>2026-04-01</a:t>
            </a:fld>
            <a:endParaRPr lang="en-CA"/>
          </a:p>
        </p:txBody>
      </p:sp>
      <p:sp>
        <p:nvSpPr>
          <p:cNvPr id="6" name="Footer Placeholder 5">
            <a:extLst>
              <a:ext uri="{FF2B5EF4-FFF2-40B4-BE49-F238E27FC236}">
                <a16:creationId xmlns:a16="http://schemas.microsoft.com/office/drawing/2014/main" id="{E80CBA63-677B-2707-2680-CB4D9098CD5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270DB1D-AAAD-0532-6A40-5A0B84C05900}"/>
              </a:ext>
            </a:extLst>
          </p:cNvPr>
          <p:cNvSpPr>
            <a:spLocks noGrp="1"/>
          </p:cNvSpPr>
          <p:nvPr>
            <p:ph type="sldNum" sz="quarter" idx="12"/>
          </p:nvPr>
        </p:nvSpPr>
        <p:spPr/>
        <p:txBody>
          <a:bodyPr/>
          <a:lstStyle/>
          <a:p>
            <a:fld id="{17D6CCA4-F45C-4CAD-8556-C2F4257F292A}" type="slidenum">
              <a:rPr lang="en-CA" smtClean="0"/>
              <a:t>‹#›</a:t>
            </a:fld>
            <a:endParaRPr lang="en-CA"/>
          </a:p>
        </p:txBody>
      </p:sp>
    </p:spTree>
    <p:extLst>
      <p:ext uri="{BB962C8B-B14F-4D97-AF65-F5344CB8AC3E}">
        <p14:creationId xmlns:p14="http://schemas.microsoft.com/office/powerpoint/2010/main" val="2373071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92100-3624-BFE4-7DA4-2828AF20AF64}"/>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B4E7031-C2FF-ACBF-21D0-FD726B597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B20EC50-1996-7DB2-3DA2-4631E0DA58DD}"/>
              </a:ext>
            </a:extLst>
          </p:cNvPr>
          <p:cNvSpPr>
            <a:spLocks noGrp="1"/>
          </p:cNvSpPr>
          <p:nvPr>
            <p:ph type="dt" sz="half" idx="10"/>
          </p:nvPr>
        </p:nvSpPr>
        <p:spPr/>
        <p:txBody>
          <a:bodyPr/>
          <a:lstStyle/>
          <a:p>
            <a:fld id="{D161E5B2-B8F1-409D-8924-E73601AA15DA}" type="datetimeFigureOut">
              <a:rPr lang="en-CA" smtClean="0"/>
              <a:t>2026-04-01</a:t>
            </a:fld>
            <a:endParaRPr lang="en-CA"/>
          </a:p>
        </p:txBody>
      </p:sp>
      <p:sp>
        <p:nvSpPr>
          <p:cNvPr id="5" name="Footer Placeholder 4">
            <a:extLst>
              <a:ext uri="{FF2B5EF4-FFF2-40B4-BE49-F238E27FC236}">
                <a16:creationId xmlns:a16="http://schemas.microsoft.com/office/drawing/2014/main" id="{6FA9D7FD-DC2C-81E1-CD08-27C20393059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BD18317-B1C1-3E8A-C4A6-1ACE9BC8BD77}"/>
              </a:ext>
            </a:extLst>
          </p:cNvPr>
          <p:cNvSpPr>
            <a:spLocks noGrp="1"/>
          </p:cNvSpPr>
          <p:nvPr>
            <p:ph type="sldNum" sz="quarter" idx="12"/>
          </p:nvPr>
        </p:nvSpPr>
        <p:spPr/>
        <p:txBody>
          <a:bodyPr/>
          <a:lstStyle/>
          <a:p>
            <a:fld id="{17D6CCA4-F45C-4CAD-8556-C2F4257F292A}" type="slidenum">
              <a:rPr lang="en-CA" smtClean="0"/>
              <a:t>‹#›</a:t>
            </a:fld>
            <a:endParaRPr lang="en-CA"/>
          </a:p>
        </p:txBody>
      </p:sp>
    </p:spTree>
    <p:extLst>
      <p:ext uri="{BB962C8B-B14F-4D97-AF65-F5344CB8AC3E}">
        <p14:creationId xmlns:p14="http://schemas.microsoft.com/office/powerpoint/2010/main" val="617052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B1B3D0-2BA6-D440-F424-CB8324A1AD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F024ADB3-E4E7-B080-2B64-E748274834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77D76A7-D020-6CB5-38EA-31FAEEF8C28A}"/>
              </a:ext>
            </a:extLst>
          </p:cNvPr>
          <p:cNvSpPr>
            <a:spLocks noGrp="1"/>
          </p:cNvSpPr>
          <p:nvPr>
            <p:ph type="dt" sz="half" idx="10"/>
          </p:nvPr>
        </p:nvSpPr>
        <p:spPr/>
        <p:txBody>
          <a:bodyPr/>
          <a:lstStyle/>
          <a:p>
            <a:fld id="{D161E5B2-B8F1-409D-8924-E73601AA15DA}" type="datetimeFigureOut">
              <a:rPr lang="en-CA" smtClean="0"/>
              <a:t>2026-04-01</a:t>
            </a:fld>
            <a:endParaRPr lang="en-CA"/>
          </a:p>
        </p:txBody>
      </p:sp>
      <p:sp>
        <p:nvSpPr>
          <p:cNvPr id="5" name="Footer Placeholder 4">
            <a:extLst>
              <a:ext uri="{FF2B5EF4-FFF2-40B4-BE49-F238E27FC236}">
                <a16:creationId xmlns:a16="http://schemas.microsoft.com/office/drawing/2014/main" id="{2983A120-B541-EF0F-DDB0-6CAEC07ECD3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C8F9AF3-6B8C-C8B3-11DB-F2A1282CA162}"/>
              </a:ext>
            </a:extLst>
          </p:cNvPr>
          <p:cNvSpPr>
            <a:spLocks noGrp="1"/>
          </p:cNvSpPr>
          <p:nvPr>
            <p:ph type="sldNum" sz="quarter" idx="12"/>
          </p:nvPr>
        </p:nvSpPr>
        <p:spPr/>
        <p:txBody>
          <a:bodyPr/>
          <a:lstStyle/>
          <a:p>
            <a:fld id="{17D6CCA4-F45C-4CAD-8556-C2F4257F292A}" type="slidenum">
              <a:rPr lang="en-CA" smtClean="0"/>
              <a:t>‹#›</a:t>
            </a:fld>
            <a:endParaRPr lang="en-CA"/>
          </a:p>
        </p:txBody>
      </p:sp>
    </p:spTree>
    <p:extLst>
      <p:ext uri="{BB962C8B-B14F-4D97-AF65-F5344CB8AC3E}">
        <p14:creationId xmlns:p14="http://schemas.microsoft.com/office/powerpoint/2010/main" val="546638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BC4EBF-5028-8175-3EFA-44B9B20740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BBB5B31-EF25-0A11-8A26-E914D9BE9D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65B9252-8BFF-A022-282A-3CC7305149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61E5B2-B8F1-409D-8924-E73601AA15DA}" type="datetimeFigureOut">
              <a:rPr lang="en-CA" smtClean="0"/>
              <a:t>2026-04-01</a:t>
            </a:fld>
            <a:endParaRPr lang="en-CA"/>
          </a:p>
        </p:txBody>
      </p:sp>
      <p:sp>
        <p:nvSpPr>
          <p:cNvPr id="5" name="Footer Placeholder 4">
            <a:extLst>
              <a:ext uri="{FF2B5EF4-FFF2-40B4-BE49-F238E27FC236}">
                <a16:creationId xmlns:a16="http://schemas.microsoft.com/office/drawing/2014/main" id="{EE4F475E-2189-66F1-F694-3E59156195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39822CAF-1A6B-C5F9-2F35-08687D6394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D6CCA4-F45C-4CAD-8556-C2F4257F292A}" type="slidenum">
              <a:rPr lang="en-CA" smtClean="0"/>
              <a:t>‹#›</a:t>
            </a:fld>
            <a:endParaRPr lang="en-CA"/>
          </a:p>
        </p:txBody>
      </p:sp>
    </p:spTree>
    <p:extLst>
      <p:ext uri="{BB962C8B-B14F-4D97-AF65-F5344CB8AC3E}">
        <p14:creationId xmlns:p14="http://schemas.microsoft.com/office/powerpoint/2010/main" val="2085928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E8962-2F08-DD63-B986-6908756FE480}"/>
              </a:ext>
            </a:extLst>
          </p:cNvPr>
          <p:cNvSpPr>
            <a:spLocks noGrp="1"/>
          </p:cNvSpPr>
          <p:nvPr>
            <p:ph type="ctrTitle"/>
          </p:nvPr>
        </p:nvSpPr>
        <p:spPr>
          <a:xfrm>
            <a:off x="1524000" y="1122363"/>
            <a:ext cx="9144000" cy="1076307"/>
          </a:xfrm>
        </p:spPr>
        <p:txBody>
          <a:bodyPr/>
          <a:lstStyle/>
          <a:p>
            <a:r>
              <a:rPr lang="en-CA" dirty="0"/>
              <a:t>Indigenous Victims of Crime</a:t>
            </a:r>
          </a:p>
        </p:txBody>
      </p:sp>
      <p:sp>
        <p:nvSpPr>
          <p:cNvPr id="3" name="Subtitle 2">
            <a:extLst>
              <a:ext uri="{FF2B5EF4-FFF2-40B4-BE49-F238E27FC236}">
                <a16:creationId xmlns:a16="http://schemas.microsoft.com/office/drawing/2014/main" id="{63784A2A-02E0-8E16-0BCF-081E924264D8}"/>
              </a:ext>
            </a:extLst>
          </p:cNvPr>
          <p:cNvSpPr>
            <a:spLocks noGrp="1"/>
          </p:cNvSpPr>
          <p:nvPr>
            <p:ph type="subTitle" idx="1"/>
          </p:nvPr>
        </p:nvSpPr>
        <p:spPr/>
        <p:txBody>
          <a:bodyPr/>
          <a:lstStyle/>
          <a:p>
            <a:endParaRPr lang="en-CA" dirty="0"/>
          </a:p>
        </p:txBody>
      </p:sp>
      <p:pic>
        <p:nvPicPr>
          <p:cNvPr id="5" name="Picture 4" descr="A white feather on a blue background&#10;&#10;Description automatically generated">
            <a:extLst>
              <a:ext uri="{FF2B5EF4-FFF2-40B4-BE49-F238E27FC236}">
                <a16:creationId xmlns:a16="http://schemas.microsoft.com/office/drawing/2014/main" id="{9D797EC7-CEAA-8033-F989-B15AE9C9E3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4216" y="2653258"/>
            <a:ext cx="4867954" cy="3553321"/>
          </a:xfrm>
          <a:prstGeom prst="rect">
            <a:avLst/>
          </a:prstGeom>
        </p:spPr>
      </p:pic>
    </p:spTree>
    <p:extLst>
      <p:ext uri="{BB962C8B-B14F-4D97-AF65-F5344CB8AC3E}">
        <p14:creationId xmlns:p14="http://schemas.microsoft.com/office/powerpoint/2010/main" val="2816495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A4BC5-3F4F-AD83-8DD9-4D4A16072011}"/>
              </a:ext>
            </a:extLst>
          </p:cNvPr>
          <p:cNvSpPr>
            <a:spLocks noGrp="1"/>
          </p:cNvSpPr>
          <p:nvPr>
            <p:ph type="title"/>
          </p:nvPr>
        </p:nvSpPr>
        <p:spPr/>
        <p:txBody>
          <a:bodyPr/>
          <a:lstStyle/>
          <a:p>
            <a:pPr algn="ctr"/>
            <a:r>
              <a:rPr lang="en-CA" b="1" dirty="0"/>
              <a:t>Why is it important to study </a:t>
            </a:r>
            <a:br>
              <a:rPr lang="en-CA" b="1" dirty="0"/>
            </a:br>
            <a:r>
              <a:rPr lang="en-CA" b="1" dirty="0"/>
              <a:t>victimization of this group? </a:t>
            </a:r>
          </a:p>
        </p:txBody>
      </p:sp>
      <p:sp>
        <p:nvSpPr>
          <p:cNvPr id="3" name="Content Placeholder 2">
            <a:extLst>
              <a:ext uri="{FF2B5EF4-FFF2-40B4-BE49-F238E27FC236}">
                <a16:creationId xmlns:a16="http://schemas.microsoft.com/office/drawing/2014/main" id="{83F4FAE5-4036-7D87-F084-99E93E72383F}"/>
              </a:ext>
            </a:extLst>
          </p:cNvPr>
          <p:cNvSpPr>
            <a:spLocks noGrp="1"/>
          </p:cNvSpPr>
          <p:nvPr>
            <p:ph idx="1"/>
          </p:nvPr>
        </p:nvSpPr>
        <p:spPr>
          <a:xfrm>
            <a:off x="838200" y="2373329"/>
            <a:ext cx="10515600" cy="3803633"/>
          </a:xfrm>
        </p:spPr>
        <p:txBody>
          <a:bodyPr>
            <a:noAutofit/>
          </a:bodyPr>
          <a:lstStyle/>
          <a:p>
            <a:pPr marL="0" indent="0">
              <a:lnSpc>
                <a:spcPct val="200000"/>
              </a:lnSpc>
              <a:buNone/>
            </a:pPr>
            <a:r>
              <a:rPr lang="en-CA" sz="3200" dirty="0"/>
              <a:t>“The rate of violent victimization among Indigenous people was more than double that of non-Indigenous people (</a:t>
            </a:r>
            <a:r>
              <a:rPr lang="en-CA" sz="3200" b="1" dirty="0"/>
              <a:t>163 incidents per 1,000 people</a:t>
            </a:r>
            <a:r>
              <a:rPr lang="en-CA" sz="3200" dirty="0"/>
              <a:t> vs. 74 incidents per 1,000 people). - </a:t>
            </a:r>
            <a:r>
              <a:rPr lang="en-CA" sz="3200" dirty="0" err="1"/>
              <a:t>Juristat</a:t>
            </a:r>
            <a:endParaRPr lang="en-CA" sz="3200" dirty="0"/>
          </a:p>
        </p:txBody>
      </p:sp>
    </p:spTree>
    <p:extLst>
      <p:ext uri="{BB962C8B-B14F-4D97-AF65-F5344CB8AC3E}">
        <p14:creationId xmlns:p14="http://schemas.microsoft.com/office/powerpoint/2010/main" val="1389305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00D96-5478-2053-D8AC-356B9F656C45}"/>
              </a:ext>
            </a:extLst>
          </p:cNvPr>
          <p:cNvSpPr>
            <a:spLocks noGrp="1"/>
          </p:cNvSpPr>
          <p:nvPr>
            <p:ph type="title"/>
          </p:nvPr>
        </p:nvSpPr>
        <p:spPr/>
        <p:txBody>
          <a:bodyPr/>
          <a:lstStyle/>
          <a:p>
            <a:endParaRPr lang="en-CA"/>
          </a:p>
        </p:txBody>
      </p:sp>
      <p:pic>
        <p:nvPicPr>
          <p:cNvPr id="5" name="Content Placeholder 4" descr="A graph with blue squares&#10;&#10;Description automatically generated with medium confidence">
            <a:extLst>
              <a:ext uri="{FF2B5EF4-FFF2-40B4-BE49-F238E27FC236}">
                <a16:creationId xmlns:a16="http://schemas.microsoft.com/office/drawing/2014/main" id="{56FF78D8-5BA5-9376-ACC7-8BB99419FB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341" y="365125"/>
            <a:ext cx="11891317" cy="6343900"/>
          </a:xfrm>
        </p:spPr>
      </p:pic>
    </p:spTree>
    <p:extLst>
      <p:ext uri="{BB962C8B-B14F-4D97-AF65-F5344CB8AC3E}">
        <p14:creationId xmlns:p14="http://schemas.microsoft.com/office/powerpoint/2010/main" val="860161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3AA8-535B-7C3A-A672-E613B370493D}"/>
              </a:ext>
            </a:extLst>
          </p:cNvPr>
          <p:cNvSpPr>
            <a:spLocks noGrp="1"/>
          </p:cNvSpPr>
          <p:nvPr>
            <p:ph type="title"/>
          </p:nvPr>
        </p:nvSpPr>
        <p:spPr/>
        <p:txBody>
          <a:bodyPr/>
          <a:lstStyle/>
          <a:p>
            <a:endParaRPr lang="en-CA"/>
          </a:p>
        </p:txBody>
      </p:sp>
      <p:pic>
        <p:nvPicPr>
          <p:cNvPr id="5" name="Content Placeholder 4" descr="A graph of blue and black bars&#10;&#10;Description automatically generated">
            <a:extLst>
              <a:ext uri="{FF2B5EF4-FFF2-40B4-BE49-F238E27FC236}">
                <a16:creationId xmlns:a16="http://schemas.microsoft.com/office/drawing/2014/main" id="{13C55D11-8018-F6EF-7FE6-DD2896E3A3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909" y="287676"/>
            <a:ext cx="11384181" cy="6842589"/>
          </a:xfrm>
        </p:spPr>
      </p:pic>
    </p:spTree>
    <p:extLst>
      <p:ext uri="{BB962C8B-B14F-4D97-AF65-F5344CB8AC3E}">
        <p14:creationId xmlns:p14="http://schemas.microsoft.com/office/powerpoint/2010/main" val="3837724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AC1EE-FE12-E861-89E9-C2246CA415E8}"/>
              </a:ext>
            </a:extLst>
          </p:cNvPr>
          <p:cNvSpPr>
            <a:spLocks noGrp="1"/>
          </p:cNvSpPr>
          <p:nvPr>
            <p:ph type="title"/>
          </p:nvPr>
        </p:nvSpPr>
        <p:spPr/>
        <p:txBody>
          <a:bodyPr/>
          <a:lstStyle/>
          <a:p>
            <a:endParaRPr lang="en-CA"/>
          </a:p>
        </p:txBody>
      </p:sp>
      <p:pic>
        <p:nvPicPr>
          <p:cNvPr id="5" name="Content Placeholder 4" descr="A graph of a person&#10;&#10;Description automatically generated with medium confidence">
            <a:extLst>
              <a:ext uri="{FF2B5EF4-FFF2-40B4-BE49-F238E27FC236}">
                <a16:creationId xmlns:a16="http://schemas.microsoft.com/office/drawing/2014/main" id="{286CC062-52F7-A3B0-0ED0-CB801CEEC2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765" y="365125"/>
            <a:ext cx="11498469" cy="7679540"/>
          </a:xfrm>
        </p:spPr>
      </p:pic>
    </p:spTree>
    <p:extLst>
      <p:ext uri="{BB962C8B-B14F-4D97-AF65-F5344CB8AC3E}">
        <p14:creationId xmlns:p14="http://schemas.microsoft.com/office/powerpoint/2010/main" val="1830927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B38EC-11CD-D51F-D3CC-B032C09C6EEA}"/>
              </a:ext>
            </a:extLst>
          </p:cNvPr>
          <p:cNvSpPr>
            <a:spLocks noGrp="1"/>
          </p:cNvSpPr>
          <p:nvPr>
            <p:ph type="title"/>
          </p:nvPr>
        </p:nvSpPr>
        <p:spPr/>
        <p:txBody>
          <a:bodyPr/>
          <a:lstStyle/>
          <a:p>
            <a:endParaRPr lang="en-CA"/>
          </a:p>
        </p:txBody>
      </p:sp>
      <p:pic>
        <p:nvPicPr>
          <p:cNvPr id="5" name="Content Placeholder 4" descr="A graph with blue lines and white text&#10;&#10;Description automatically generated">
            <a:extLst>
              <a:ext uri="{FF2B5EF4-FFF2-40B4-BE49-F238E27FC236}">
                <a16:creationId xmlns:a16="http://schemas.microsoft.com/office/drawing/2014/main" id="{8BC5D87E-A5C1-D32B-0558-9D1CC5DE55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4465" y="200738"/>
            <a:ext cx="12090712" cy="6908978"/>
          </a:xfrm>
        </p:spPr>
      </p:pic>
    </p:spTree>
    <p:extLst>
      <p:ext uri="{BB962C8B-B14F-4D97-AF65-F5344CB8AC3E}">
        <p14:creationId xmlns:p14="http://schemas.microsoft.com/office/powerpoint/2010/main" val="758831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BC775-6F40-44A0-6B5B-0FDC5C034BED}"/>
              </a:ext>
            </a:extLst>
          </p:cNvPr>
          <p:cNvSpPr>
            <a:spLocks noGrp="1"/>
          </p:cNvSpPr>
          <p:nvPr>
            <p:ph type="title"/>
          </p:nvPr>
        </p:nvSpPr>
        <p:spPr/>
        <p:txBody>
          <a:bodyPr/>
          <a:lstStyle/>
          <a:p>
            <a:r>
              <a:rPr lang="en-CA" dirty="0"/>
              <a:t>Over-representation among victims of human trafficking</a:t>
            </a:r>
          </a:p>
        </p:txBody>
      </p:sp>
      <p:sp>
        <p:nvSpPr>
          <p:cNvPr id="3" name="Content Placeholder 2">
            <a:extLst>
              <a:ext uri="{FF2B5EF4-FFF2-40B4-BE49-F238E27FC236}">
                <a16:creationId xmlns:a16="http://schemas.microsoft.com/office/drawing/2014/main" id="{C02C2163-15AE-69E9-D72D-6FA1420AE745}"/>
              </a:ext>
            </a:extLst>
          </p:cNvPr>
          <p:cNvSpPr>
            <a:spLocks noGrp="1"/>
          </p:cNvSpPr>
          <p:nvPr>
            <p:ph idx="1"/>
          </p:nvPr>
        </p:nvSpPr>
        <p:spPr>
          <a:xfrm>
            <a:off x="838200" y="2137025"/>
            <a:ext cx="10515600" cy="4039938"/>
          </a:xfrm>
        </p:spPr>
        <p:txBody>
          <a:bodyPr>
            <a:noAutofit/>
          </a:bodyPr>
          <a:lstStyle/>
          <a:p>
            <a:pPr>
              <a:lnSpc>
                <a:spcPct val="150000"/>
              </a:lnSpc>
            </a:pPr>
            <a:r>
              <a:rPr lang="en-CA" sz="3200" dirty="0"/>
              <a:t>Indigenous girls are drastically overrepresented in sexual exploitation. They comprise between 50 and 90% of the cases in  Western Canadian cities, despite representing from 2 to 5% of the population in these regions (Louie 2022). </a:t>
            </a:r>
          </a:p>
        </p:txBody>
      </p:sp>
    </p:spTree>
    <p:extLst>
      <p:ext uri="{BB962C8B-B14F-4D97-AF65-F5344CB8AC3E}">
        <p14:creationId xmlns:p14="http://schemas.microsoft.com/office/powerpoint/2010/main" val="1811484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0A2D1-A75E-9D3A-FB8C-6C51C11F7E1B}"/>
              </a:ext>
            </a:extLst>
          </p:cNvPr>
          <p:cNvSpPr>
            <a:spLocks noGrp="1"/>
          </p:cNvSpPr>
          <p:nvPr>
            <p:ph type="title"/>
          </p:nvPr>
        </p:nvSpPr>
        <p:spPr>
          <a:xfrm>
            <a:off x="838200" y="365125"/>
            <a:ext cx="10515600" cy="1854093"/>
          </a:xfrm>
        </p:spPr>
        <p:txBody>
          <a:bodyPr>
            <a:normAutofit fontScale="90000"/>
          </a:bodyPr>
          <a:lstStyle/>
          <a:p>
            <a:r>
              <a:rPr lang="en-CA" dirty="0"/>
              <a:t>Q1: Which Life Experiences Create an Increased Threat of Sexual Exploitation for Indigenous Girls? - Louie (2022) </a:t>
            </a:r>
            <a:br>
              <a:rPr lang="en-CA" dirty="0"/>
            </a:br>
            <a:endParaRPr lang="en-CA" dirty="0"/>
          </a:p>
        </p:txBody>
      </p:sp>
      <p:pic>
        <p:nvPicPr>
          <p:cNvPr id="5" name="Content Placeholder 4" descr="A diagram of pathways in a circle&#10;&#10;Description automatically generated">
            <a:extLst>
              <a:ext uri="{FF2B5EF4-FFF2-40B4-BE49-F238E27FC236}">
                <a16:creationId xmlns:a16="http://schemas.microsoft.com/office/drawing/2014/main" id="{91A46EDF-BA36-D61E-5A6D-DBD299B398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07921" y="1251224"/>
            <a:ext cx="6425996" cy="5606776"/>
          </a:xfrm>
        </p:spPr>
      </p:pic>
    </p:spTree>
    <p:extLst>
      <p:ext uri="{BB962C8B-B14F-4D97-AF65-F5344CB8AC3E}">
        <p14:creationId xmlns:p14="http://schemas.microsoft.com/office/powerpoint/2010/main" val="3210987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62BA4-C517-DA02-4FD1-86474611EB13}"/>
              </a:ext>
            </a:extLst>
          </p:cNvPr>
          <p:cNvSpPr>
            <a:spLocks noGrp="1"/>
          </p:cNvSpPr>
          <p:nvPr>
            <p:ph type="title"/>
          </p:nvPr>
        </p:nvSpPr>
        <p:spPr/>
        <p:txBody>
          <a:bodyPr/>
          <a:lstStyle/>
          <a:p>
            <a:endParaRPr lang="en-CA"/>
          </a:p>
        </p:txBody>
      </p:sp>
      <p:pic>
        <p:nvPicPr>
          <p:cNvPr id="5" name="Content Placeholder 4" descr="A close up of text&#10;&#10;Description automatically generated">
            <a:extLst>
              <a:ext uri="{FF2B5EF4-FFF2-40B4-BE49-F238E27FC236}">
                <a16:creationId xmlns:a16="http://schemas.microsoft.com/office/drawing/2014/main" id="{9837316A-016B-DB94-E3AA-0767BFE282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90687"/>
            <a:ext cx="12321986" cy="2573087"/>
          </a:xfrm>
        </p:spPr>
      </p:pic>
    </p:spTree>
    <p:extLst>
      <p:ext uri="{BB962C8B-B14F-4D97-AF65-F5344CB8AC3E}">
        <p14:creationId xmlns:p14="http://schemas.microsoft.com/office/powerpoint/2010/main" val="3444369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7DD1E-7623-E8F6-AFB4-9C10F3F5BAAB}"/>
              </a:ext>
            </a:extLst>
          </p:cNvPr>
          <p:cNvSpPr>
            <a:spLocks noGrp="1"/>
          </p:cNvSpPr>
          <p:nvPr>
            <p:ph type="title"/>
          </p:nvPr>
        </p:nvSpPr>
        <p:spPr/>
        <p:txBody>
          <a:bodyPr/>
          <a:lstStyle/>
          <a:p>
            <a:r>
              <a:rPr lang="en-CA" dirty="0"/>
              <a:t>Q 2: How Are Indigenous Girls Recruited Into the Sex Trade?</a:t>
            </a:r>
          </a:p>
        </p:txBody>
      </p:sp>
      <p:sp>
        <p:nvSpPr>
          <p:cNvPr id="3" name="Content Placeholder 2">
            <a:extLst>
              <a:ext uri="{FF2B5EF4-FFF2-40B4-BE49-F238E27FC236}">
                <a16:creationId xmlns:a16="http://schemas.microsoft.com/office/drawing/2014/main" id="{3D68BFC1-2690-E420-9DEE-851A3409ACF7}"/>
              </a:ext>
            </a:extLst>
          </p:cNvPr>
          <p:cNvSpPr>
            <a:spLocks noGrp="1"/>
          </p:cNvSpPr>
          <p:nvPr>
            <p:ph idx="1"/>
          </p:nvPr>
        </p:nvSpPr>
        <p:spPr/>
        <p:txBody>
          <a:bodyPr/>
          <a:lstStyle/>
          <a:p>
            <a:r>
              <a:rPr lang="en-CA" dirty="0"/>
              <a:t>Recruitment by other females</a:t>
            </a:r>
          </a:p>
          <a:p>
            <a:r>
              <a:rPr lang="en-CA" dirty="0"/>
              <a:t>boyfriends, </a:t>
            </a:r>
          </a:p>
          <a:p>
            <a:r>
              <a:rPr lang="en-CA" dirty="0"/>
              <a:t>gangs, </a:t>
            </a:r>
          </a:p>
          <a:p>
            <a:r>
              <a:rPr lang="en-CA" dirty="0"/>
              <a:t>meeting basic needs, </a:t>
            </a:r>
          </a:p>
          <a:p>
            <a:r>
              <a:rPr lang="en-CA" dirty="0"/>
              <a:t>social media, </a:t>
            </a:r>
          </a:p>
          <a:p>
            <a:r>
              <a:rPr lang="en-CA" dirty="0"/>
              <a:t>substance abuse, </a:t>
            </a:r>
          </a:p>
          <a:p>
            <a:r>
              <a:rPr lang="en-CA" dirty="0"/>
              <a:t>family recruitment, </a:t>
            </a:r>
          </a:p>
          <a:p>
            <a:r>
              <a:rPr lang="en-CA" dirty="0"/>
              <a:t>reserve recruitment.</a:t>
            </a:r>
          </a:p>
        </p:txBody>
      </p:sp>
    </p:spTree>
    <p:extLst>
      <p:ext uri="{BB962C8B-B14F-4D97-AF65-F5344CB8AC3E}">
        <p14:creationId xmlns:p14="http://schemas.microsoft.com/office/powerpoint/2010/main" val="3565270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233" y="178593"/>
            <a:ext cx="11377534" cy="1325563"/>
          </a:xfrm>
        </p:spPr>
        <p:txBody>
          <a:bodyPr/>
          <a:lstStyle/>
          <a:p>
            <a:r>
              <a:rPr lang="en-US" b="1" dirty="0"/>
              <a:t>Missing and Murdered Women Indigenous Women and Girls </a:t>
            </a:r>
            <a:endParaRPr lang="en-US" dirty="0"/>
          </a:p>
        </p:txBody>
      </p:sp>
      <p:sp>
        <p:nvSpPr>
          <p:cNvPr id="3" name="Content Placeholder 2"/>
          <p:cNvSpPr>
            <a:spLocks noGrp="1"/>
          </p:cNvSpPr>
          <p:nvPr>
            <p:ph idx="1"/>
          </p:nvPr>
        </p:nvSpPr>
        <p:spPr>
          <a:xfrm>
            <a:off x="838200" y="2008682"/>
            <a:ext cx="10515600" cy="4542019"/>
          </a:xfrm>
        </p:spPr>
        <p:txBody>
          <a:bodyPr>
            <a:normAutofit fontScale="92500" lnSpcReduction="10000"/>
          </a:bodyPr>
          <a:lstStyle/>
          <a:p>
            <a:r>
              <a:rPr lang="en-US" dirty="0"/>
              <a:t>Based on RCMP data, an estimated 1200 Indigenous women and girls were either murdered or reported missing between 1980 and 2012. 1,017 were homicide victims and the remaining 164 are missing. Of course, as we know, figures for missing individuals only represent those women and girls who have been reported. </a:t>
            </a:r>
          </a:p>
          <a:p>
            <a:pPr marL="0" indent="0">
              <a:buNone/>
            </a:pPr>
            <a:r>
              <a:rPr lang="en-US" dirty="0"/>
              <a:t> </a:t>
            </a:r>
          </a:p>
          <a:p>
            <a:r>
              <a:rPr lang="en-US" dirty="0"/>
              <a:t>According to Stats Can, in 2006 there were 600,700 Indigenous women in Canada. </a:t>
            </a:r>
          </a:p>
          <a:p>
            <a:endParaRPr lang="en-US" dirty="0"/>
          </a:p>
          <a:p>
            <a:r>
              <a:rPr lang="en-US" dirty="0"/>
              <a:t>This means that approximately 2% of this segment of the population was murdered or went missing over a 32 year period. Many of these cases remain unsolved.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3105" y="841374"/>
            <a:ext cx="4314825" cy="952500"/>
          </a:xfrm>
          <a:prstGeom prst="rect">
            <a:avLst/>
          </a:prstGeom>
        </p:spPr>
      </p:pic>
    </p:spTree>
    <p:extLst>
      <p:ext uri="{BB962C8B-B14F-4D97-AF65-F5344CB8AC3E}">
        <p14:creationId xmlns:p14="http://schemas.microsoft.com/office/powerpoint/2010/main" val="4238531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The </a:t>
            </a:r>
            <a:r>
              <a:rPr lang="en-US" b="1" dirty="0" err="1"/>
              <a:t>Pickton</a:t>
            </a:r>
            <a:r>
              <a:rPr lang="en-US" b="1" dirty="0"/>
              <a:t> case </a:t>
            </a:r>
          </a:p>
        </p:txBody>
      </p:sp>
      <p:sp>
        <p:nvSpPr>
          <p:cNvPr id="3" name="Content Placeholder 2"/>
          <p:cNvSpPr>
            <a:spLocks noGrp="1"/>
          </p:cNvSpPr>
          <p:nvPr>
            <p:ph idx="1"/>
          </p:nvPr>
        </p:nvSpPr>
        <p:spPr>
          <a:xfrm>
            <a:off x="838200" y="2079625"/>
            <a:ext cx="10515600" cy="4590998"/>
          </a:xfrm>
        </p:spPr>
        <p:txBody>
          <a:bodyPr>
            <a:normAutofit/>
          </a:bodyPr>
          <a:lstStyle/>
          <a:p>
            <a:r>
              <a:rPr lang="en-US" dirty="0"/>
              <a:t>BC Serial killer Willie </a:t>
            </a:r>
            <a:r>
              <a:rPr lang="en-US" dirty="0" err="1"/>
              <a:t>Pickton</a:t>
            </a:r>
            <a:r>
              <a:rPr lang="en-US" dirty="0"/>
              <a:t> is alleged to be responsible for the murders of at least 60 women. Although remains of 22 victims were found on his farm, he was convicted for 6 of these murders. Of the 22 victims, it is believed that half were Indigenous women. Indigenous women are also disproportionately represented among the 60 alleged victims.</a:t>
            </a:r>
          </a:p>
          <a:p>
            <a:pPr marL="0" indent="0">
              <a:buNone/>
            </a:pPr>
            <a:r>
              <a:rPr lang="en-US" dirty="0"/>
              <a:t> </a:t>
            </a:r>
          </a:p>
          <a:p>
            <a:r>
              <a:rPr lang="en-US" dirty="0"/>
              <a:t>After </a:t>
            </a:r>
            <a:r>
              <a:rPr lang="en-US" dirty="0" err="1"/>
              <a:t>Pickton’s</a:t>
            </a:r>
            <a:r>
              <a:rPr lang="en-US" dirty="0"/>
              <a:t> conviction, the BC government convened the </a:t>
            </a:r>
            <a:r>
              <a:rPr lang="en-US" dirty="0" err="1"/>
              <a:t>Oppal</a:t>
            </a:r>
            <a:r>
              <a:rPr lang="en-US" dirty="0"/>
              <a:t> Commission (the Missing Women’s inquiry) to look at issues related to the investigation of this case.</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6800" y="43657"/>
            <a:ext cx="2667000" cy="1714500"/>
          </a:xfrm>
          <a:prstGeom prst="rect">
            <a:avLst/>
          </a:prstGeom>
        </p:spPr>
      </p:pic>
    </p:spTree>
    <p:extLst>
      <p:ext uri="{BB962C8B-B14F-4D97-AF65-F5344CB8AC3E}">
        <p14:creationId xmlns:p14="http://schemas.microsoft.com/office/powerpoint/2010/main" val="434914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3990"/>
          </a:xfrm>
        </p:spPr>
        <p:txBody>
          <a:bodyPr/>
          <a:lstStyle/>
          <a:p>
            <a:pPr algn="ctr"/>
            <a:r>
              <a:rPr lang="en-US" b="1" dirty="0"/>
              <a:t>Some </a:t>
            </a:r>
            <a:r>
              <a:rPr lang="en-US" b="1" dirty="0" err="1"/>
              <a:t>Pickton</a:t>
            </a:r>
            <a:r>
              <a:rPr lang="en-US" b="1" dirty="0"/>
              <a:t> factors – various sources</a:t>
            </a:r>
          </a:p>
        </p:txBody>
      </p:sp>
      <p:sp>
        <p:nvSpPr>
          <p:cNvPr id="3" name="Content Placeholder 2"/>
          <p:cNvSpPr>
            <a:spLocks noGrp="1"/>
          </p:cNvSpPr>
          <p:nvPr>
            <p:ph idx="1"/>
          </p:nvPr>
        </p:nvSpPr>
        <p:spPr/>
        <p:txBody>
          <a:bodyPr/>
          <a:lstStyle/>
          <a:p>
            <a:r>
              <a:rPr lang="en-US" dirty="0"/>
              <a:t>Inexperienced investigators</a:t>
            </a:r>
          </a:p>
          <a:p>
            <a:pPr marL="0" indent="0">
              <a:buNone/>
            </a:pPr>
            <a:endParaRPr lang="en-US" dirty="0"/>
          </a:p>
          <a:p>
            <a:r>
              <a:rPr lang="en-US" dirty="0"/>
              <a:t>Understaffed ‘Missing Persons’ unit</a:t>
            </a:r>
          </a:p>
          <a:p>
            <a:pPr marL="0" indent="0">
              <a:buNone/>
            </a:pPr>
            <a:r>
              <a:rPr lang="en-US" dirty="0"/>
              <a:t> </a:t>
            </a:r>
          </a:p>
          <a:p>
            <a:r>
              <a:rPr lang="en-US" dirty="0"/>
              <a:t>Linkage blindness</a:t>
            </a:r>
          </a:p>
          <a:p>
            <a:pPr marL="0" indent="0">
              <a:buNone/>
            </a:pPr>
            <a:endParaRPr lang="en-US" dirty="0"/>
          </a:p>
          <a:p>
            <a:r>
              <a:rPr lang="en-US" dirty="0"/>
              <a:t>Systemic biases – “these women are transient, they’re probably in another city”; not believing witnesses, reports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0361" y="1349116"/>
            <a:ext cx="2353597" cy="3147935"/>
          </a:xfrm>
          <a:prstGeom prst="rect">
            <a:avLst/>
          </a:prstGeom>
        </p:spPr>
      </p:pic>
    </p:spTree>
    <p:extLst>
      <p:ext uri="{BB962C8B-B14F-4D97-AF65-F5344CB8AC3E}">
        <p14:creationId xmlns:p14="http://schemas.microsoft.com/office/powerpoint/2010/main" val="2067238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Highway of Tears</a:t>
            </a:r>
            <a:r>
              <a:rPr lang="en-US" dirty="0"/>
              <a:t> </a:t>
            </a:r>
          </a:p>
        </p:txBody>
      </p:sp>
      <p:sp>
        <p:nvSpPr>
          <p:cNvPr id="3" name="Content Placeholder 2"/>
          <p:cNvSpPr>
            <a:spLocks noGrp="1"/>
          </p:cNvSpPr>
          <p:nvPr>
            <p:ph idx="1"/>
          </p:nvPr>
        </p:nvSpPr>
        <p:spPr>
          <a:xfrm>
            <a:off x="149902" y="1690688"/>
            <a:ext cx="11203898" cy="5039895"/>
          </a:xfrm>
        </p:spPr>
        <p:txBody>
          <a:bodyPr>
            <a:normAutofit lnSpcReduction="10000"/>
          </a:bodyPr>
          <a:lstStyle/>
          <a:p>
            <a:pPr>
              <a:lnSpc>
                <a:spcPct val="110000"/>
              </a:lnSpc>
              <a:spcBef>
                <a:spcPts val="0"/>
              </a:spcBef>
            </a:pPr>
            <a:r>
              <a:rPr lang="en-US" dirty="0"/>
              <a:t>is a stretch of northern British </a:t>
            </a:r>
          </a:p>
          <a:p>
            <a:pPr marL="0" indent="0">
              <a:lnSpc>
                <a:spcPct val="110000"/>
              </a:lnSpc>
              <a:spcBef>
                <a:spcPts val="0"/>
              </a:spcBef>
              <a:buNone/>
            </a:pPr>
            <a:r>
              <a:rPr lang="en-US" dirty="0"/>
              <a:t>Columbia which is associated </a:t>
            </a:r>
          </a:p>
          <a:p>
            <a:pPr marL="0" indent="0">
              <a:lnSpc>
                <a:spcPct val="110000"/>
              </a:lnSpc>
              <a:spcBef>
                <a:spcPts val="0"/>
              </a:spcBef>
              <a:buNone/>
            </a:pPr>
            <a:r>
              <a:rPr lang="en-US" dirty="0"/>
              <a:t>with a string of unsolved </a:t>
            </a:r>
          </a:p>
          <a:p>
            <a:pPr marL="0" indent="0">
              <a:lnSpc>
                <a:spcPct val="110000"/>
              </a:lnSpc>
              <a:spcBef>
                <a:spcPts val="0"/>
              </a:spcBef>
              <a:buNone/>
            </a:pPr>
            <a:r>
              <a:rPr lang="en-US" dirty="0"/>
              <a:t>homicides and missing women</a:t>
            </a:r>
          </a:p>
          <a:p>
            <a:pPr marL="0" indent="0">
              <a:lnSpc>
                <a:spcPct val="110000"/>
              </a:lnSpc>
              <a:spcBef>
                <a:spcPts val="0"/>
              </a:spcBef>
              <a:buNone/>
            </a:pPr>
            <a:r>
              <a:rPr lang="en-US" dirty="0"/>
              <a:t>cases (Highways 16, 97 or 5). </a:t>
            </a:r>
          </a:p>
          <a:p>
            <a:pPr marL="0" indent="0">
              <a:lnSpc>
                <a:spcPct val="110000"/>
              </a:lnSpc>
              <a:spcBef>
                <a:spcPts val="0"/>
              </a:spcBef>
              <a:buNone/>
            </a:pPr>
            <a:r>
              <a:rPr lang="en-US" dirty="0"/>
              <a:t>Police estimate that the number of </a:t>
            </a:r>
          </a:p>
          <a:p>
            <a:pPr marL="0" indent="0">
              <a:lnSpc>
                <a:spcPct val="110000"/>
              </a:lnSpc>
              <a:spcBef>
                <a:spcPts val="0"/>
              </a:spcBef>
              <a:buNone/>
            </a:pPr>
            <a:r>
              <a:rPr lang="en-US" dirty="0"/>
              <a:t>victims is 18; Indigenous groups put the figure at 40+. </a:t>
            </a:r>
          </a:p>
          <a:p>
            <a:pPr marL="0" indent="0">
              <a:buNone/>
            </a:pPr>
            <a:endParaRPr lang="en-US" dirty="0"/>
          </a:p>
          <a:p>
            <a:r>
              <a:rPr lang="en-US" dirty="0"/>
              <a:t>The earliest case goes back to the late 1960s (1969); other cases are much more recent (2011). Of the 18 officially recognized victims, 13 are teenagers and ten are women of Indigenous descent.  </a:t>
            </a:r>
          </a:p>
          <a:p>
            <a:pPr marL="0" indent="0">
              <a:buNone/>
            </a:pPr>
            <a:endParaRPr lang="en-US" dirty="0"/>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06715" y="365125"/>
            <a:ext cx="7185285" cy="3592643"/>
          </a:xfrm>
          <a:prstGeom prst="rect">
            <a:avLst/>
          </a:prstGeom>
        </p:spPr>
      </p:pic>
    </p:spTree>
    <p:extLst>
      <p:ext uri="{BB962C8B-B14F-4D97-AF65-F5344CB8AC3E}">
        <p14:creationId xmlns:p14="http://schemas.microsoft.com/office/powerpoint/2010/main" val="213969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98623" y="0"/>
            <a:ext cx="7015397" cy="6738765"/>
          </a:xfrm>
        </p:spPr>
      </p:pic>
    </p:spTree>
    <p:extLst>
      <p:ext uri="{BB962C8B-B14F-4D97-AF65-F5344CB8AC3E}">
        <p14:creationId xmlns:p14="http://schemas.microsoft.com/office/powerpoint/2010/main" val="1506044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073"/>
            <a:ext cx="10515600" cy="328691"/>
          </a:xfrm>
        </p:spPr>
        <p:txBody>
          <a:bodyPr>
            <a:normAutofit fontScale="90000"/>
          </a:bodyPr>
          <a:lstStyle/>
          <a:p>
            <a:endParaRPr lang="en-US" b="1" dirty="0"/>
          </a:p>
        </p:txBody>
      </p:sp>
      <p:sp>
        <p:nvSpPr>
          <p:cNvPr id="3" name="Content Placeholder 2"/>
          <p:cNvSpPr>
            <a:spLocks noGrp="1"/>
          </p:cNvSpPr>
          <p:nvPr>
            <p:ph idx="1"/>
          </p:nvPr>
        </p:nvSpPr>
        <p:spPr>
          <a:xfrm>
            <a:off x="269824" y="254832"/>
            <a:ext cx="9158990" cy="6385812"/>
          </a:xfrm>
        </p:spPr>
        <p:txBody>
          <a:bodyPr>
            <a:normAutofit lnSpcReduction="10000"/>
          </a:bodyPr>
          <a:lstStyle/>
          <a:p>
            <a:r>
              <a:rPr lang="en-US" dirty="0"/>
              <a:t>Cody </a:t>
            </a:r>
            <a:r>
              <a:rPr lang="en-US" dirty="0" err="1"/>
              <a:t>Legebokoff</a:t>
            </a:r>
            <a:r>
              <a:rPr lang="en-US" dirty="0"/>
              <a:t> – was convicted of the murder of 4 women near the Highway of Tears; however, police could find no evidence linking </a:t>
            </a:r>
            <a:r>
              <a:rPr lang="en-US" dirty="0" err="1"/>
              <a:t>Legebokoff</a:t>
            </a:r>
            <a:r>
              <a:rPr lang="en-US" dirty="0"/>
              <a:t> (23) to the 18 cases they were investigating. </a:t>
            </a:r>
          </a:p>
          <a:p>
            <a:pPr marL="0" indent="0">
              <a:buNone/>
            </a:pPr>
            <a:r>
              <a:rPr lang="en-US" dirty="0"/>
              <a:t> </a:t>
            </a:r>
          </a:p>
          <a:p>
            <a:r>
              <a:rPr lang="en-US" dirty="0"/>
              <a:t>In 2012, through DNA recovered from victim Colleen </a:t>
            </a:r>
            <a:r>
              <a:rPr lang="en-US" dirty="0" err="1"/>
              <a:t>MacMillen</a:t>
            </a:r>
            <a:r>
              <a:rPr lang="en-US" dirty="0"/>
              <a:t>, RCMP identified a Texas man and itinerate worker, Bobby Jack Fowler, as a prime suspect in </a:t>
            </a:r>
            <a:r>
              <a:rPr lang="en-US" dirty="0" err="1"/>
              <a:t>MacMillen’s</a:t>
            </a:r>
            <a:r>
              <a:rPr lang="en-US" dirty="0"/>
              <a:t> death and the deaths of 2 other Highways of Tears victims. Fowler died in prison in 2006. </a:t>
            </a:r>
          </a:p>
          <a:p>
            <a:pPr marL="0" indent="0">
              <a:buNone/>
            </a:pPr>
            <a:endParaRPr lang="en-US" dirty="0"/>
          </a:p>
          <a:p>
            <a:pPr>
              <a:lnSpc>
                <a:spcPct val="110000"/>
              </a:lnSpc>
              <a:spcBef>
                <a:spcPts val="0"/>
              </a:spcBef>
            </a:pPr>
            <a:r>
              <a:rPr lang="en-US" dirty="0"/>
              <a:t>In 2015 the Trudeau government </a:t>
            </a:r>
          </a:p>
          <a:p>
            <a:pPr marL="0" indent="0">
              <a:lnSpc>
                <a:spcPct val="110000"/>
              </a:lnSpc>
              <a:spcBef>
                <a:spcPts val="0"/>
              </a:spcBef>
              <a:buNone/>
            </a:pPr>
            <a:r>
              <a:rPr lang="en-US" dirty="0"/>
              <a:t>announced they would convene a </a:t>
            </a:r>
          </a:p>
          <a:p>
            <a:pPr marL="0" indent="0">
              <a:lnSpc>
                <a:spcPct val="110000"/>
              </a:lnSpc>
              <a:spcBef>
                <a:spcPts val="0"/>
              </a:spcBef>
              <a:buNone/>
            </a:pPr>
            <a:r>
              <a:rPr lang="en-US" dirty="0"/>
              <a:t>Public Inquiry into Murdered and </a:t>
            </a:r>
          </a:p>
          <a:p>
            <a:pPr marL="0" indent="0">
              <a:lnSpc>
                <a:spcPct val="110000"/>
              </a:lnSpc>
              <a:spcBef>
                <a:spcPts val="0"/>
              </a:spcBef>
              <a:buNone/>
            </a:pPr>
            <a:r>
              <a:rPr lang="en-US" dirty="0"/>
              <a:t>Missing Aboriginal Women and Girls.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1479" y="4285704"/>
            <a:ext cx="5677213" cy="350808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8814" y="-53717"/>
            <a:ext cx="3039880" cy="196121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79338" y="2157526"/>
            <a:ext cx="1877882" cy="1880380"/>
          </a:xfrm>
          <a:prstGeom prst="rect">
            <a:avLst/>
          </a:prstGeom>
        </p:spPr>
      </p:pic>
    </p:spTree>
    <p:extLst>
      <p:ext uri="{BB962C8B-B14F-4D97-AF65-F5344CB8AC3E}">
        <p14:creationId xmlns:p14="http://schemas.microsoft.com/office/powerpoint/2010/main" val="2473496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3024-259D-486A-B437-25C9A24673CC}"/>
              </a:ext>
            </a:extLst>
          </p:cNvPr>
          <p:cNvSpPr>
            <a:spLocks noGrp="1"/>
          </p:cNvSpPr>
          <p:nvPr>
            <p:ph type="title"/>
          </p:nvPr>
        </p:nvSpPr>
        <p:spPr/>
        <p:txBody>
          <a:bodyPr/>
          <a:lstStyle/>
          <a:p>
            <a:pPr algn="ctr"/>
            <a:r>
              <a:rPr lang="en-CA" b="1" dirty="0"/>
              <a:t>*all done!*</a:t>
            </a:r>
          </a:p>
        </p:txBody>
      </p:sp>
      <p:pic>
        <p:nvPicPr>
          <p:cNvPr id="5" name="Content Placeholder 4">
            <a:extLst>
              <a:ext uri="{FF2B5EF4-FFF2-40B4-BE49-F238E27FC236}">
                <a16:creationId xmlns:a16="http://schemas.microsoft.com/office/drawing/2014/main" id="{5926F011-9408-41AF-A555-85D493F200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1141" y="1825625"/>
            <a:ext cx="3729718" cy="4351338"/>
          </a:xfrm>
        </p:spPr>
      </p:pic>
    </p:spTree>
    <p:extLst>
      <p:ext uri="{BB962C8B-B14F-4D97-AF65-F5344CB8AC3E}">
        <p14:creationId xmlns:p14="http://schemas.microsoft.com/office/powerpoint/2010/main" val="847448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TotalTime>
  <Words>600</Words>
  <Application>Microsoft Office PowerPoint</Application>
  <PresentationFormat>宽屏</PresentationFormat>
  <Paragraphs>52</Paragraphs>
  <Slides>17</Slides>
  <Notes>0</Notes>
  <HiddenSlides>0</HiddenSlides>
  <MMClips>0</MMClips>
  <ScaleCrop>false</ScaleCrop>
  <HeadingPairs>
    <vt:vector size="4" baseType="variant">
      <vt:variant>
        <vt:lpstr>主题</vt:lpstr>
      </vt:variant>
      <vt:variant>
        <vt:i4>1</vt:i4>
      </vt:variant>
      <vt:variant>
        <vt:lpstr>幻灯片标题</vt:lpstr>
      </vt:variant>
      <vt:variant>
        <vt:i4>17</vt:i4>
      </vt:variant>
    </vt:vector>
  </HeadingPairs>
  <TitlesOfParts>
    <vt:vector size="18" baseType="lpstr">
      <vt:lpstr>Office Theme</vt:lpstr>
      <vt:lpstr>Indigenous Victims of Crime</vt:lpstr>
      <vt:lpstr>Why is it important to study  victimization of this group? </vt:lpstr>
      <vt:lpstr>PowerPoint 演示文稿</vt:lpstr>
      <vt:lpstr>PowerPoint 演示文稿</vt:lpstr>
      <vt:lpstr>PowerPoint 演示文稿</vt:lpstr>
      <vt:lpstr>PowerPoint 演示文稿</vt:lpstr>
      <vt:lpstr>Over-representation among victims of human trafficking</vt:lpstr>
      <vt:lpstr>Q1: Which Life Experiences Create an Increased Threat of Sexual Exploitation for Indigenous Girls? - Louie (2022)  </vt:lpstr>
      <vt:lpstr>PowerPoint 演示文稿</vt:lpstr>
      <vt:lpstr>Q 2: How Are Indigenous Girls Recruited Into the Sex Trade?</vt:lpstr>
      <vt:lpstr>Missing and Murdered Women Indigenous Women and Girls </vt:lpstr>
      <vt:lpstr>The Pickton case </vt:lpstr>
      <vt:lpstr>Some Pickton factors – various sources</vt:lpstr>
      <vt:lpstr>Highway of Tears </vt:lpstr>
      <vt:lpstr>PowerPoint 演示文稿</vt:lpstr>
      <vt:lpstr>PowerPoint 演示文稿</vt:lpstr>
      <vt:lpstr>*all done!*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Indigenous Victims of Crime</dc:title>
  <dc:creator>Laura Huey</dc:creator>
  <cp:lastModifiedBy>Laura Huey</cp:lastModifiedBy>
  <cp:revision>11</cp:revision>
  <dcterms:created xsi:type="dcterms:W3CDTF">2024-03-05T00:06:50Z</dcterms:created>
  <dcterms:modified xsi:type="dcterms:W3CDTF">2026-04-01T22:16:43Z</dcterms:modified>
</cp:coreProperties>
</file>