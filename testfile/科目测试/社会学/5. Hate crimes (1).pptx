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62" r:id="rId4"/>
    <p:sldId id="264" r:id="rId5"/>
    <p:sldId id="265" r:id="rId6"/>
    <p:sldId id="258" r:id="rId7"/>
    <p:sldId id="259" r:id="rId8"/>
    <p:sldId id="260" r:id="rId9"/>
    <p:sldId id="271" r:id="rId10"/>
    <p:sldId id="272" r:id="rId11"/>
    <p:sldId id="270" r:id="rId12"/>
    <p:sldId id="268" r:id="rId13"/>
    <p:sldId id="344" r:id="rId14"/>
    <p:sldId id="345" r:id="rId15"/>
    <p:sldId id="261" r:id="rId16"/>
    <p:sldId id="266" r:id="rId17"/>
    <p:sldId id="267" r:id="rId18"/>
    <p:sldId id="257" r:id="rId19"/>
    <p:sldId id="34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3E63-972F-26E4-659B-88BC3D704C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E8A5D5D5-3569-9AAB-9C33-1AE0F7B4C9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9B4EA8C-4347-FAEC-2A49-1516CF79F2D3}"/>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8AF67A7D-8D59-9F1C-6B0C-E54EB5C3FF6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FD1188C-EA18-9270-FEFE-C6A78997A957}"/>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1991799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9CF0F-2052-EAC4-AF61-AE52604C30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E8EBDCF-F219-F076-8525-FD8F56F847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E3D1AA1-8547-35BF-35E7-40BF8F2FCF13}"/>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E6BAF40A-941E-1942-1BEF-E3779CD06E5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3DD50CB-0BA7-A30C-CD55-AE116449668C}"/>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1300860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FCB2F-5578-1101-AAC4-FB5141E20A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F341DA41-67C2-9A64-81DE-80191A8D68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3FD8A9-E7BA-BA8A-1BB7-CC8AF2B02E1E}"/>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21386C9E-9BCD-2526-6A1B-31AA1124E78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91205EB-D1FD-69AA-9C42-560CB3989F56}"/>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3990274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C7172-5672-048D-7AF1-101A78EA0FA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9EAE986-E18C-658A-53E1-B458F06458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53071AD-42D2-335F-A5BE-6F44C948A9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97ED31B-F2E8-3726-478C-AD0DED28CA8F}"/>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6" name="Footer Placeholder 5">
            <a:extLst>
              <a:ext uri="{FF2B5EF4-FFF2-40B4-BE49-F238E27FC236}">
                <a16:creationId xmlns:a16="http://schemas.microsoft.com/office/drawing/2014/main" id="{F564D1EE-463E-EDC6-00D5-5131BF49F7D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274414C-4F50-858B-2322-FE1C2256AA02}"/>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410343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7BCD5-CAD1-CB15-D619-CA436F730D61}"/>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6084385-5B76-9A03-9E7C-4FEE668F37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D6DBD8-B06C-10DA-7120-64127BC8E2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0DEA3EC-DFD8-81E0-D506-D14102808A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BF50E5-3106-DF7B-B29D-49F6583E58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223F6122-DA55-4FAF-1200-BF1D4BF90240}"/>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8" name="Footer Placeholder 7">
            <a:extLst>
              <a:ext uri="{FF2B5EF4-FFF2-40B4-BE49-F238E27FC236}">
                <a16:creationId xmlns:a16="http://schemas.microsoft.com/office/drawing/2014/main" id="{2505A485-BF95-E8D5-3A40-087685D678D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A73B25D-B926-5ACB-967F-1B6F1A0D4C83}"/>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3839460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59472-6591-3BE9-248D-31B8C979352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6E4C708-486E-EC9B-70D3-91516B708A08}"/>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4" name="Footer Placeholder 3">
            <a:extLst>
              <a:ext uri="{FF2B5EF4-FFF2-40B4-BE49-F238E27FC236}">
                <a16:creationId xmlns:a16="http://schemas.microsoft.com/office/drawing/2014/main" id="{33261AAA-23A1-172D-6F19-83F387FE127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3E9C8F8-83AE-18AA-DCCA-13C1749E3445}"/>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4257549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7AFE4-F0B7-1D2C-59DD-724DB2B4857B}"/>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3" name="Footer Placeholder 2">
            <a:extLst>
              <a:ext uri="{FF2B5EF4-FFF2-40B4-BE49-F238E27FC236}">
                <a16:creationId xmlns:a16="http://schemas.microsoft.com/office/drawing/2014/main" id="{DF696097-A172-31CC-CE9A-A2837A0D385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CB5C322-3FD2-4073-48D6-F0BFA2AD636E}"/>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134089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17B00-F274-A20A-8BB8-4F94E915E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6E5A7CA-F363-026F-B9DA-6077FCD524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B3871DA-EF22-24AA-DAF4-5B5C75582D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C8943-D8CD-303D-2D40-F4F71679F808}"/>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6" name="Footer Placeholder 5">
            <a:extLst>
              <a:ext uri="{FF2B5EF4-FFF2-40B4-BE49-F238E27FC236}">
                <a16:creationId xmlns:a16="http://schemas.microsoft.com/office/drawing/2014/main" id="{EC62B1AE-80A2-C0B4-77D5-FC26AAF446B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595660-B18F-5CB8-2F1A-5D761DEF1A8A}"/>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207908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61279-C535-BF32-BF4F-C74E420CA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A74A681-9EE2-EB49-5ED0-38DABDA552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4D8AFB2D-67E5-BC02-5E24-F3F472F76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70723D-FC01-399E-3842-4A5A0D939840}"/>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6" name="Footer Placeholder 5">
            <a:extLst>
              <a:ext uri="{FF2B5EF4-FFF2-40B4-BE49-F238E27FC236}">
                <a16:creationId xmlns:a16="http://schemas.microsoft.com/office/drawing/2014/main" id="{3D3626EB-7AA7-D018-6DD5-399802D8090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E072A3F-4000-37E1-99A5-960C61FED598}"/>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199418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ECCC-17A1-6F81-298E-A5478655BE4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A43B69D-7D7D-1478-7C02-82F6FB00DA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E7BF8BA-DF3E-3659-2169-EECD22D8BDF0}"/>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99C0FC22-D780-D2BA-2D8D-F9442947084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9CB2464-B143-3497-214B-C5110F2D874A}"/>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416702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7DF155-8253-3874-977C-823597B7BB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1917F33-179D-4881-9282-3D4D08F99B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09A856-8711-A1FB-0A56-BAFD5DA5A6D8}"/>
              </a:ext>
            </a:extLst>
          </p:cNvPr>
          <p:cNvSpPr>
            <a:spLocks noGrp="1"/>
          </p:cNvSpPr>
          <p:nvPr>
            <p:ph type="dt" sz="half" idx="10"/>
          </p:nvPr>
        </p:nvSpPr>
        <p:spPr/>
        <p:txBody>
          <a:body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260266B5-1F5B-F5D3-1AD1-CDC52755BF4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681EE3B-1ADF-3498-C578-9A1AEE867CD8}"/>
              </a:ext>
            </a:extLst>
          </p:cNvPr>
          <p:cNvSpPr>
            <a:spLocks noGrp="1"/>
          </p:cNvSpPr>
          <p:nvPr>
            <p:ph type="sldNum" sz="quarter" idx="12"/>
          </p:nvPr>
        </p:nvSpPr>
        <p:spPr/>
        <p:txBody>
          <a:bodyPr/>
          <a:lstStyle/>
          <a:p>
            <a:fld id="{FAF39F25-D04B-4690-BD3A-8EBCB18832D4}" type="slidenum">
              <a:rPr lang="en-CA" smtClean="0"/>
              <a:t>‹#›</a:t>
            </a:fld>
            <a:endParaRPr lang="en-CA"/>
          </a:p>
        </p:txBody>
      </p:sp>
    </p:spTree>
    <p:extLst>
      <p:ext uri="{BB962C8B-B14F-4D97-AF65-F5344CB8AC3E}">
        <p14:creationId xmlns:p14="http://schemas.microsoft.com/office/powerpoint/2010/main" val="339354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A71810-664D-5842-412A-E17DC121D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EDA5E8F-469D-C46D-3A18-061DBFEF2C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A7AC3A-A0CB-8FB3-D58E-8DE9BFE584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539C18-A179-4983-8E64-C7FA1466D747}" type="datetimeFigureOut">
              <a:rPr lang="en-CA" smtClean="0"/>
              <a:t>2026-04-01</a:t>
            </a:fld>
            <a:endParaRPr lang="en-CA"/>
          </a:p>
        </p:txBody>
      </p:sp>
      <p:sp>
        <p:nvSpPr>
          <p:cNvPr id="5" name="Footer Placeholder 4">
            <a:extLst>
              <a:ext uri="{FF2B5EF4-FFF2-40B4-BE49-F238E27FC236}">
                <a16:creationId xmlns:a16="http://schemas.microsoft.com/office/drawing/2014/main" id="{B2648FA4-1E23-4CFC-E142-DD6E14B391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1F390F33-05A2-5594-B468-4EC10BDB94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F39F25-D04B-4690-BD3A-8EBCB18832D4}" type="slidenum">
              <a:rPr lang="en-CA" smtClean="0"/>
              <a:t>‹#›</a:t>
            </a:fld>
            <a:endParaRPr lang="en-CA"/>
          </a:p>
        </p:txBody>
      </p:sp>
    </p:spTree>
    <p:extLst>
      <p:ext uri="{BB962C8B-B14F-4D97-AF65-F5344CB8AC3E}">
        <p14:creationId xmlns:p14="http://schemas.microsoft.com/office/powerpoint/2010/main" val="3222718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laws-lois.justice.gc.ca/eng/acts/C-46/section-319.html" TargetMode="External"/><Relationship Id="rId2" Type="http://schemas.openxmlformats.org/officeDocument/2006/relationships/hyperlink" Target="http://laws-lois.justice.gc.ca/eng/acts/C-46/section-318.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qBVhoevvCRA&amp;feature=youtu.b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2DA69-A896-44E4-E33A-68F5DA661CA0}"/>
              </a:ext>
            </a:extLst>
          </p:cNvPr>
          <p:cNvSpPr>
            <a:spLocks noGrp="1"/>
          </p:cNvSpPr>
          <p:nvPr>
            <p:ph type="ctrTitle"/>
          </p:nvPr>
        </p:nvSpPr>
        <p:spPr>
          <a:xfrm>
            <a:off x="1524000" y="523983"/>
            <a:ext cx="9144000" cy="1212350"/>
          </a:xfrm>
        </p:spPr>
        <p:txBody>
          <a:bodyPr/>
          <a:lstStyle/>
          <a:p>
            <a:r>
              <a:rPr lang="en-CA" dirty="0"/>
              <a:t>Hate Crimes</a:t>
            </a:r>
          </a:p>
        </p:txBody>
      </p:sp>
      <p:sp>
        <p:nvSpPr>
          <p:cNvPr id="3" name="Subtitle 2">
            <a:extLst>
              <a:ext uri="{FF2B5EF4-FFF2-40B4-BE49-F238E27FC236}">
                <a16:creationId xmlns:a16="http://schemas.microsoft.com/office/drawing/2014/main" id="{592B8B97-6F4F-3C4E-4BBC-D6FA28FAD596}"/>
              </a:ext>
            </a:extLst>
          </p:cNvPr>
          <p:cNvSpPr>
            <a:spLocks noGrp="1"/>
          </p:cNvSpPr>
          <p:nvPr>
            <p:ph type="subTitle" idx="1"/>
          </p:nvPr>
        </p:nvSpPr>
        <p:spPr/>
        <p:txBody>
          <a:bodyPr/>
          <a:lstStyle/>
          <a:p>
            <a:endParaRPr lang="en-CA"/>
          </a:p>
        </p:txBody>
      </p:sp>
      <p:pic>
        <p:nvPicPr>
          <p:cNvPr id="5" name="Picture 4" descr="A person wearing a face mask holding balloons&#10;&#10;Description automatically generated">
            <a:extLst>
              <a:ext uri="{FF2B5EF4-FFF2-40B4-BE49-F238E27FC236}">
                <a16:creationId xmlns:a16="http://schemas.microsoft.com/office/drawing/2014/main" id="{88FF8E35-5A24-9428-2E6D-CE9A8D2837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4387" y="2269340"/>
            <a:ext cx="6529667" cy="3751315"/>
          </a:xfrm>
          <a:prstGeom prst="rect">
            <a:avLst/>
          </a:prstGeom>
        </p:spPr>
      </p:pic>
    </p:spTree>
    <p:extLst>
      <p:ext uri="{BB962C8B-B14F-4D97-AF65-F5344CB8AC3E}">
        <p14:creationId xmlns:p14="http://schemas.microsoft.com/office/powerpoint/2010/main" val="3555810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30B04-BC15-E087-7442-E150F53BF7BF}"/>
              </a:ext>
            </a:extLst>
          </p:cNvPr>
          <p:cNvSpPr>
            <a:spLocks noGrp="1"/>
          </p:cNvSpPr>
          <p:nvPr>
            <p:ph type="title"/>
          </p:nvPr>
        </p:nvSpPr>
        <p:spPr>
          <a:xfrm>
            <a:off x="838200" y="18255"/>
            <a:ext cx="10515600" cy="1325563"/>
          </a:xfrm>
        </p:spPr>
        <p:txBody>
          <a:bodyPr/>
          <a:lstStyle/>
          <a:p>
            <a:pPr algn="ctr"/>
            <a:r>
              <a:rPr lang="en-CA" dirty="0"/>
              <a:t>Hate Crime – defining it</a:t>
            </a:r>
          </a:p>
        </p:txBody>
      </p:sp>
      <p:sp>
        <p:nvSpPr>
          <p:cNvPr id="3" name="Content Placeholder 2">
            <a:extLst>
              <a:ext uri="{FF2B5EF4-FFF2-40B4-BE49-F238E27FC236}">
                <a16:creationId xmlns:a16="http://schemas.microsoft.com/office/drawing/2014/main" id="{BD9E01B2-AD9B-BE26-CD85-56AC3F1DE1C4}"/>
              </a:ext>
            </a:extLst>
          </p:cNvPr>
          <p:cNvSpPr>
            <a:spLocks noGrp="1"/>
          </p:cNvSpPr>
          <p:nvPr>
            <p:ph idx="1"/>
          </p:nvPr>
        </p:nvSpPr>
        <p:spPr>
          <a:xfrm>
            <a:off x="838200" y="1343818"/>
            <a:ext cx="10515600" cy="4833145"/>
          </a:xfrm>
        </p:spPr>
        <p:txBody>
          <a:bodyPr>
            <a:noAutofit/>
          </a:bodyPr>
          <a:lstStyle/>
          <a:p>
            <a:pPr>
              <a:lnSpc>
                <a:spcPct val="200000"/>
              </a:lnSpc>
            </a:pPr>
            <a:r>
              <a:rPr lang="en-CA" b="1" dirty="0">
                <a:highlight>
                  <a:srgbClr val="FF0000"/>
                </a:highlight>
              </a:rPr>
              <a:t>Hate crime</a:t>
            </a:r>
            <a:r>
              <a:rPr lang="en-CA" b="1" dirty="0"/>
              <a:t> refers to unlawful, violent, destructive or threatening behaviour in which the perpetrator is motivated in whole or in part by prejudice towards the victim’s perceived race, ethnicity, religion, sexual orientation, gender identity, age, physical or other impairment or homelessness (Federal Bureau of Investigation, 2013)</a:t>
            </a:r>
          </a:p>
        </p:txBody>
      </p:sp>
    </p:spTree>
    <p:extLst>
      <p:ext uri="{BB962C8B-B14F-4D97-AF65-F5344CB8AC3E}">
        <p14:creationId xmlns:p14="http://schemas.microsoft.com/office/powerpoint/2010/main" val="13689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A5DE-B27B-CB98-7C93-ACF56864D5F3}"/>
              </a:ext>
            </a:extLst>
          </p:cNvPr>
          <p:cNvSpPr>
            <a:spLocks noGrp="1"/>
          </p:cNvSpPr>
          <p:nvPr>
            <p:ph type="title"/>
          </p:nvPr>
        </p:nvSpPr>
        <p:spPr/>
        <p:txBody>
          <a:bodyPr/>
          <a:lstStyle/>
          <a:p>
            <a:pPr algn="ctr"/>
            <a:r>
              <a:rPr lang="en-CA" b="1" dirty="0"/>
              <a:t>What is a Hate Crime in Canada?</a:t>
            </a:r>
          </a:p>
        </p:txBody>
      </p:sp>
      <p:sp>
        <p:nvSpPr>
          <p:cNvPr id="3" name="Content Placeholder 2">
            <a:extLst>
              <a:ext uri="{FF2B5EF4-FFF2-40B4-BE49-F238E27FC236}">
                <a16:creationId xmlns:a16="http://schemas.microsoft.com/office/drawing/2014/main" id="{A7C1DE68-D093-C91F-8942-117E8F9D3733}"/>
              </a:ext>
            </a:extLst>
          </p:cNvPr>
          <p:cNvSpPr>
            <a:spLocks noGrp="1"/>
          </p:cNvSpPr>
          <p:nvPr>
            <p:ph idx="1"/>
          </p:nvPr>
        </p:nvSpPr>
        <p:spPr>
          <a:xfrm>
            <a:off x="838200" y="1458930"/>
            <a:ext cx="10515600" cy="4718033"/>
          </a:xfrm>
        </p:spPr>
        <p:txBody>
          <a:bodyPr>
            <a:normAutofit fontScale="92500" lnSpcReduction="10000"/>
          </a:bodyPr>
          <a:lstStyle/>
          <a:p>
            <a:r>
              <a:rPr lang="en-CA" dirty="0"/>
              <a:t>There’s a lot of confusion around this.</a:t>
            </a:r>
          </a:p>
          <a:p>
            <a:r>
              <a:rPr lang="en-CA" dirty="0"/>
              <a:t>The Criminal Code of Canada does not include a specific section on Hate Crime, </a:t>
            </a:r>
            <a:r>
              <a:rPr lang="en-CA" i="1" dirty="0"/>
              <a:t>per se</a:t>
            </a:r>
            <a:r>
              <a:rPr lang="en-CA" dirty="0"/>
              <a:t>. </a:t>
            </a:r>
          </a:p>
          <a:p>
            <a:r>
              <a:rPr lang="en-CA" dirty="0"/>
              <a:t>Instead, engaging in a crime that is motivated by hate is seen as an aggravating factor at sentencing</a:t>
            </a:r>
          </a:p>
          <a:p>
            <a:pPr marL="0" indent="0">
              <a:buNone/>
            </a:pPr>
            <a:endParaRPr lang="en-CA" dirty="0"/>
          </a:p>
          <a:p>
            <a:r>
              <a:rPr lang="en-CA" dirty="0"/>
              <a:t>Two key elements of the offense:</a:t>
            </a:r>
          </a:p>
          <a:p>
            <a:pPr>
              <a:buFont typeface="+mj-lt"/>
              <a:buAutoNum type="arabicPeriod"/>
            </a:pPr>
            <a:r>
              <a:rPr lang="en-CA" dirty="0"/>
              <a:t>A criminal offence must have occurred (e.g. an assault, damage to property, uttering threats etc.).</a:t>
            </a:r>
          </a:p>
          <a:p>
            <a:pPr>
              <a:buFont typeface="+mj-lt"/>
              <a:buAutoNum type="arabicPeriod"/>
            </a:pPr>
            <a:r>
              <a:rPr lang="en-CA" dirty="0"/>
              <a:t>Hate or Bias toward a victim must have motivated the criminal offence (e.g. because of the victim's race, nationality, ethnicity, language, religion, sex, age, mental or physical disability, sexual orientation etc.).</a:t>
            </a:r>
          </a:p>
          <a:p>
            <a:endParaRPr lang="en-CA" dirty="0"/>
          </a:p>
          <a:p>
            <a:endParaRPr lang="en-CA" dirty="0"/>
          </a:p>
        </p:txBody>
      </p:sp>
    </p:spTree>
    <p:extLst>
      <p:ext uri="{BB962C8B-B14F-4D97-AF65-F5344CB8AC3E}">
        <p14:creationId xmlns:p14="http://schemas.microsoft.com/office/powerpoint/2010/main" val="96055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90559-5004-BBCC-6F07-73A76D181C1C}"/>
              </a:ext>
            </a:extLst>
          </p:cNvPr>
          <p:cNvSpPr>
            <a:spLocks noGrp="1"/>
          </p:cNvSpPr>
          <p:nvPr>
            <p:ph type="title"/>
          </p:nvPr>
        </p:nvSpPr>
        <p:spPr/>
        <p:txBody>
          <a:bodyPr/>
          <a:lstStyle/>
          <a:p>
            <a:pPr algn="ctr"/>
            <a:r>
              <a:rPr lang="en-CA" dirty="0"/>
              <a:t>3 exceptions</a:t>
            </a:r>
          </a:p>
        </p:txBody>
      </p:sp>
      <p:sp>
        <p:nvSpPr>
          <p:cNvPr id="3" name="Content Placeholder 2">
            <a:extLst>
              <a:ext uri="{FF2B5EF4-FFF2-40B4-BE49-F238E27FC236}">
                <a16:creationId xmlns:a16="http://schemas.microsoft.com/office/drawing/2014/main" id="{C079B6E0-D418-BF5B-9F2E-EC05A944764B}"/>
              </a:ext>
            </a:extLst>
          </p:cNvPr>
          <p:cNvSpPr>
            <a:spLocks noGrp="1"/>
          </p:cNvSpPr>
          <p:nvPr>
            <p:ph idx="1"/>
          </p:nvPr>
        </p:nvSpPr>
        <p:spPr/>
        <p:txBody>
          <a:bodyPr/>
          <a:lstStyle/>
          <a:p>
            <a:pPr>
              <a:buFont typeface="+mj-lt"/>
              <a:buAutoNum type="arabicPeriod"/>
            </a:pPr>
            <a:r>
              <a:rPr lang="en-CA" dirty="0"/>
              <a:t>Section 318 - </a:t>
            </a:r>
            <a:r>
              <a:rPr lang="en-CA" dirty="0">
                <a:hlinkClick r:id="rId2" tooltip="Open new window to view Advocating Genocide"/>
              </a:rPr>
              <a:t>Advocating Genocide</a:t>
            </a:r>
            <a:r>
              <a:rPr lang="en-CA" dirty="0"/>
              <a:t>.</a:t>
            </a:r>
          </a:p>
          <a:p>
            <a:pPr>
              <a:buFont typeface="+mj-lt"/>
              <a:buAutoNum type="arabicPeriod"/>
            </a:pPr>
            <a:r>
              <a:rPr lang="en-CA" dirty="0"/>
              <a:t>Section 319 (1) - </a:t>
            </a:r>
            <a:r>
              <a:rPr lang="en-CA" dirty="0">
                <a:hlinkClick r:id="rId3" tooltip="Open new window to view Public Incitement of Hatred "/>
              </a:rPr>
              <a:t>Public Incitement of Hatred</a:t>
            </a:r>
            <a:r>
              <a:rPr lang="en-CA" dirty="0"/>
              <a:t>.</a:t>
            </a:r>
          </a:p>
          <a:p>
            <a:pPr>
              <a:buFont typeface="+mj-lt"/>
              <a:buAutoNum type="arabicPeriod"/>
            </a:pPr>
            <a:r>
              <a:rPr lang="en-CA" dirty="0"/>
              <a:t>Section 319 (2) - </a:t>
            </a:r>
            <a:r>
              <a:rPr lang="en-CA" dirty="0">
                <a:hlinkClick r:id="rId3" tooltip="Open new window to view Wilful Promotion of Hatred"/>
              </a:rPr>
              <a:t>Wilful Promotion of Hatred</a:t>
            </a:r>
            <a:r>
              <a:rPr lang="en-CA" dirty="0"/>
              <a:t>.</a:t>
            </a:r>
          </a:p>
        </p:txBody>
      </p:sp>
    </p:spTree>
    <p:extLst>
      <p:ext uri="{BB962C8B-B14F-4D97-AF65-F5344CB8AC3E}">
        <p14:creationId xmlns:p14="http://schemas.microsoft.com/office/powerpoint/2010/main" val="433421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F7215-7EE7-FD06-CAA3-6E5A84837D91}"/>
              </a:ext>
            </a:extLst>
          </p:cNvPr>
          <p:cNvSpPr>
            <a:spLocks noGrp="1"/>
          </p:cNvSpPr>
          <p:nvPr>
            <p:ph type="title"/>
          </p:nvPr>
        </p:nvSpPr>
        <p:spPr/>
        <p:txBody>
          <a:bodyPr/>
          <a:lstStyle/>
          <a:p>
            <a:endParaRPr lang="en-CA" dirty="0"/>
          </a:p>
        </p:txBody>
      </p:sp>
      <p:pic>
        <p:nvPicPr>
          <p:cNvPr id="5" name="Content Placeholder 4" descr="A person and person standing next to a map&#10;&#10;Description automatically generated">
            <a:extLst>
              <a:ext uri="{FF2B5EF4-FFF2-40B4-BE49-F238E27FC236}">
                <a16:creationId xmlns:a16="http://schemas.microsoft.com/office/drawing/2014/main" id="{2EFFD1E0-A11B-398C-8F77-5372B742DAB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1694" y="0"/>
            <a:ext cx="4812695" cy="7928282"/>
          </a:xfrm>
        </p:spPr>
      </p:pic>
    </p:spTree>
    <p:extLst>
      <p:ext uri="{BB962C8B-B14F-4D97-AF65-F5344CB8AC3E}">
        <p14:creationId xmlns:p14="http://schemas.microsoft.com/office/powerpoint/2010/main" val="232899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791D-90DF-1B90-3F13-0273B537781D}"/>
              </a:ext>
            </a:extLst>
          </p:cNvPr>
          <p:cNvSpPr>
            <a:spLocks noGrp="1"/>
          </p:cNvSpPr>
          <p:nvPr>
            <p:ph type="title"/>
          </p:nvPr>
        </p:nvSpPr>
        <p:spPr/>
        <p:txBody>
          <a:bodyPr/>
          <a:lstStyle/>
          <a:p>
            <a:endParaRPr lang="en-CA"/>
          </a:p>
        </p:txBody>
      </p:sp>
      <p:pic>
        <p:nvPicPr>
          <p:cNvPr id="5" name="Content Placeholder 4" descr="A graph with a line&#10;&#10;Description automatically generated">
            <a:extLst>
              <a:ext uri="{FF2B5EF4-FFF2-40B4-BE49-F238E27FC236}">
                <a16:creationId xmlns:a16="http://schemas.microsoft.com/office/drawing/2014/main" id="{49B129BA-F293-8573-BACA-4444AFCFC5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52" y="272658"/>
            <a:ext cx="12176148" cy="6127750"/>
          </a:xfrm>
        </p:spPr>
      </p:pic>
    </p:spTree>
    <p:extLst>
      <p:ext uri="{BB962C8B-B14F-4D97-AF65-F5344CB8AC3E}">
        <p14:creationId xmlns:p14="http://schemas.microsoft.com/office/powerpoint/2010/main" val="3655950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AF3D5-8632-3E01-F93C-72382C61B037}"/>
              </a:ext>
            </a:extLst>
          </p:cNvPr>
          <p:cNvSpPr>
            <a:spLocks noGrp="1"/>
          </p:cNvSpPr>
          <p:nvPr>
            <p:ph type="title"/>
          </p:nvPr>
        </p:nvSpPr>
        <p:spPr/>
        <p:txBody>
          <a:bodyPr/>
          <a:lstStyle/>
          <a:p>
            <a:endParaRPr lang="en-CA"/>
          </a:p>
        </p:txBody>
      </p:sp>
      <p:pic>
        <p:nvPicPr>
          <p:cNvPr id="5" name="Content Placeholder 4" descr="A graph of crime&#10;&#10;Description automatically generated">
            <a:extLst>
              <a:ext uri="{FF2B5EF4-FFF2-40B4-BE49-F238E27FC236}">
                <a16:creationId xmlns:a16="http://schemas.microsoft.com/office/drawing/2014/main" id="{F357E8B1-D9C6-D604-B5F4-530C7871D6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70" y="365125"/>
            <a:ext cx="11696062" cy="5758273"/>
          </a:xfrm>
        </p:spPr>
      </p:pic>
    </p:spTree>
    <p:extLst>
      <p:ext uri="{BB962C8B-B14F-4D97-AF65-F5344CB8AC3E}">
        <p14:creationId xmlns:p14="http://schemas.microsoft.com/office/powerpoint/2010/main" val="30388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5EB58-9231-02EF-8A73-9DB2469456B6}"/>
              </a:ext>
            </a:extLst>
          </p:cNvPr>
          <p:cNvSpPr>
            <a:spLocks noGrp="1"/>
          </p:cNvSpPr>
          <p:nvPr>
            <p:ph type="title"/>
          </p:nvPr>
        </p:nvSpPr>
        <p:spPr/>
        <p:txBody>
          <a:bodyPr/>
          <a:lstStyle/>
          <a:p>
            <a:endParaRPr lang="en-CA"/>
          </a:p>
        </p:txBody>
      </p:sp>
      <p:pic>
        <p:nvPicPr>
          <p:cNvPr id="5" name="Content Placeholder 4" descr="A graph of a crime report&#10;&#10;Description automatically generated with medium confidence">
            <a:extLst>
              <a:ext uri="{FF2B5EF4-FFF2-40B4-BE49-F238E27FC236}">
                <a16:creationId xmlns:a16="http://schemas.microsoft.com/office/drawing/2014/main" id="{9CCD3B96-8ED0-26B5-7F4A-4FBF12B52C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2276" y="253082"/>
            <a:ext cx="8747448" cy="7966244"/>
          </a:xfrm>
        </p:spPr>
      </p:pic>
    </p:spTree>
    <p:extLst>
      <p:ext uri="{BB962C8B-B14F-4D97-AF65-F5344CB8AC3E}">
        <p14:creationId xmlns:p14="http://schemas.microsoft.com/office/powerpoint/2010/main" val="3978319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77CE-A062-D325-6EF7-0072C10E51EB}"/>
              </a:ext>
            </a:extLst>
          </p:cNvPr>
          <p:cNvSpPr>
            <a:spLocks noGrp="1"/>
          </p:cNvSpPr>
          <p:nvPr>
            <p:ph type="title"/>
          </p:nvPr>
        </p:nvSpPr>
        <p:spPr/>
        <p:txBody>
          <a:bodyPr/>
          <a:lstStyle/>
          <a:p>
            <a:pPr algn="ctr"/>
            <a:r>
              <a:rPr lang="en-CA" dirty="0"/>
              <a:t>Victim experiences of hate crime</a:t>
            </a:r>
          </a:p>
        </p:txBody>
      </p:sp>
      <p:sp>
        <p:nvSpPr>
          <p:cNvPr id="3" name="Content Placeholder 2">
            <a:extLst>
              <a:ext uri="{FF2B5EF4-FFF2-40B4-BE49-F238E27FC236}">
                <a16:creationId xmlns:a16="http://schemas.microsoft.com/office/drawing/2014/main" id="{5D8F8DBC-709A-7A88-291F-EF1DD430EA6E}"/>
              </a:ext>
            </a:extLst>
          </p:cNvPr>
          <p:cNvSpPr>
            <a:spLocks noGrp="1"/>
          </p:cNvSpPr>
          <p:nvPr>
            <p:ph idx="1"/>
          </p:nvPr>
        </p:nvSpPr>
        <p:spPr/>
        <p:txBody>
          <a:bodyPr>
            <a:normAutofit fontScale="92500" lnSpcReduction="20000"/>
          </a:bodyPr>
          <a:lstStyle/>
          <a:p>
            <a:r>
              <a:rPr lang="en-CA" dirty="0">
                <a:effectLst/>
                <a:latin typeface="Times New Roman" panose="02020603050405020304" pitchFamily="18" charset="0"/>
              </a:rPr>
              <a:t>Rami: Everything changed when Vernon Majors moved in with the neighbor. He didn’t like our family, especially Khalid and my mom. He was filled with hate. </a:t>
            </a:r>
            <a:endParaRPr lang="en-CA" dirty="0">
              <a:latin typeface="Times New Roman" panose="02020603050405020304" pitchFamily="18" charset="0"/>
            </a:endParaRPr>
          </a:p>
          <a:p>
            <a:r>
              <a:rPr lang="en-CA" dirty="0">
                <a:effectLst/>
                <a:latin typeface="Times New Roman" panose="02020603050405020304" pitchFamily="18" charset="0"/>
              </a:rPr>
              <a:t>Victoria: When he first arrived at the house next door in 2011, he was angry that my brother had technology and computer equipment there. Majors threw out all of Khalid’s stuff. Hard drives, monitors, wires, and much more. Whatever was left there Khalid soon removed because Majors seemed to be in charge.</a:t>
            </a:r>
            <a:br>
              <a:rPr lang="en-CA" dirty="0"/>
            </a:br>
            <a:endParaRPr lang="en-CA" dirty="0"/>
          </a:p>
          <a:p>
            <a:r>
              <a:rPr lang="en-CA" dirty="0">
                <a:effectLst/>
                <a:latin typeface="Times New Roman" panose="02020603050405020304" pitchFamily="18" charset="0"/>
              </a:rPr>
              <a:t>On another occasion, he came onto our property, took pictures of my mom cooking, and called the health department, asking for our business to be shut down. He claimed that we were preparing food for our business at home, which we were not. </a:t>
            </a:r>
            <a:endParaRPr lang="en-CA" dirty="0"/>
          </a:p>
        </p:txBody>
      </p:sp>
    </p:spTree>
    <p:extLst>
      <p:ext uri="{BB962C8B-B14F-4D97-AF65-F5344CB8AC3E}">
        <p14:creationId xmlns:p14="http://schemas.microsoft.com/office/powerpoint/2010/main" val="364667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AEBCE-FDF6-02B9-497E-2759B57BDFE4}"/>
              </a:ext>
            </a:extLst>
          </p:cNvPr>
          <p:cNvSpPr>
            <a:spLocks noGrp="1"/>
          </p:cNvSpPr>
          <p:nvPr>
            <p:ph type="title"/>
          </p:nvPr>
        </p:nvSpPr>
        <p:spPr/>
        <p:txBody>
          <a:bodyPr/>
          <a:lstStyle/>
          <a:p>
            <a:r>
              <a:rPr lang="en-CA" dirty="0"/>
              <a:t>Maan Singh Khalsa</a:t>
            </a:r>
          </a:p>
        </p:txBody>
      </p:sp>
      <p:sp>
        <p:nvSpPr>
          <p:cNvPr id="3" name="Content Placeholder 2">
            <a:extLst>
              <a:ext uri="{FF2B5EF4-FFF2-40B4-BE49-F238E27FC236}">
                <a16:creationId xmlns:a16="http://schemas.microsoft.com/office/drawing/2014/main" id="{93E6179E-FCC3-BE3C-DCC4-AB067F3A4578}"/>
              </a:ext>
            </a:extLst>
          </p:cNvPr>
          <p:cNvSpPr>
            <a:spLocks noGrp="1"/>
          </p:cNvSpPr>
          <p:nvPr>
            <p:ph idx="1"/>
          </p:nvPr>
        </p:nvSpPr>
        <p:spPr/>
        <p:txBody>
          <a:bodyPr/>
          <a:lstStyle/>
          <a:p>
            <a:r>
              <a:rPr lang="en-CA" dirty="0">
                <a:effectLst/>
                <a:latin typeface="Times New Roman" panose="02020603050405020304" pitchFamily="18" charset="0"/>
              </a:rPr>
              <a:t>On September 25, 2016, Maan Singh Khalsa suffered severe</a:t>
            </a:r>
            <a:br>
              <a:rPr lang="en-CA" dirty="0"/>
            </a:br>
            <a:r>
              <a:rPr lang="en-CA" dirty="0">
                <a:effectLst/>
                <a:latin typeface="Times New Roman" panose="02020603050405020304" pitchFamily="18" charset="0"/>
              </a:rPr>
              <a:t>physical and emotional trauma after he was attacked by three</a:t>
            </a:r>
            <a:br>
              <a:rPr lang="en-CA" dirty="0"/>
            </a:br>
            <a:r>
              <a:rPr lang="en-CA" dirty="0">
                <a:effectLst/>
                <a:latin typeface="Times New Roman" panose="02020603050405020304" pitchFamily="18" charset="0"/>
              </a:rPr>
              <a:t>men at a Richmond, California, intersection. He was stabbed in</a:t>
            </a:r>
            <a:br>
              <a:rPr lang="en-CA" dirty="0"/>
            </a:br>
            <a:r>
              <a:rPr lang="en-CA" dirty="0">
                <a:effectLst/>
                <a:latin typeface="Times New Roman" panose="02020603050405020304" pitchFamily="18" charset="0"/>
              </a:rPr>
              <a:t>the hand so deeply that his finger needed to be amputated, and</a:t>
            </a:r>
            <a:br>
              <a:rPr lang="en-CA" dirty="0"/>
            </a:br>
            <a:r>
              <a:rPr lang="en-CA" dirty="0">
                <a:effectLst/>
                <a:latin typeface="Times New Roman" panose="02020603050405020304" pitchFamily="18" charset="0"/>
              </a:rPr>
              <a:t>his eye was swollen shut from being beaten. His attackers pulled</a:t>
            </a:r>
            <a:br>
              <a:rPr lang="en-CA" dirty="0"/>
            </a:br>
            <a:r>
              <a:rPr lang="en-CA" dirty="0">
                <a:effectLst/>
                <a:latin typeface="Times New Roman" panose="02020603050405020304" pitchFamily="18" charset="0"/>
              </a:rPr>
              <a:t>off his turban and cut his hair, attacking his very identity as a</a:t>
            </a:r>
            <a:br>
              <a:rPr lang="en-CA" dirty="0"/>
            </a:br>
            <a:r>
              <a:rPr lang="en-CA" dirty="0">
                <a:effectLst/>
                <a:latin typeface="Times New Roman" panose="02020603050405020304" pitchFamily="18" charset="0"/>
              </a:rPr>
              <a:t>Sikh. At the sentencing hearing for his attackers, Mr. Khalsa</a:t>
            </a:r>
            <a:br>
              <a:rPr lang="en-CA" dirty="0"/>
            </a:br>
            <a:r>
              <a:rPr lang="en-CA" dirty="0">
                <a:effectLst/>
                <a:latin typeface="Times New Roman" panose="02020603050405020304" pitchFamily="18" charset="0"/>
              </a:rPr>
              <a:t>testified, “It will take many years, maybe the rest of my life, to</a:t>
            </a:r>
            <a:br>
              <a:rPr lang="en-CA" dirty="0"/>
            </a:br>
            <a:r>
              <a:rPr lang="en-CA" dirty="0">
                <a:effectLst/>
                <a:latin typeface="Times New Roman" panose="02020603050405020304" pitchFamily="18" charset="0"/>
              </a:rPr>
              <a:t>heal from this attack. Just recognizing it as a hate crime is the</a:t>
            </a:r>
            <a:br>
              <a:rPr lang="en-CA" dirty="0"/>
            </a:br>
            <a:r>
              <a:rPr lang="en-CA" dirty="0">
                <a:effectLst/>
                <a:latin typeface="Times New Roman" panose="02020603050405020304" pitchFamily="18" charset="0"/>
              </a:rPr>
              <a:t>first step in healing.”</a:t>
            </a:r>
            <a:endParaRPr lang="en-CA" dirty="0"/>
          </a:p>
        </p:txBody>
      </p:sp>
    </p:spTree>
    <p:extLst>
      <p:ext uri="{BB962C8B-B14F-4D97-AF65-F5344CB8AC3E}">
        <p14:creationId xmlns:p14="http://schemas.microsoft.com/office/powerpoint/2010/main" val="2363328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01FCD-C82F-4A18-E64A-33F40E9C1EE1}"/>
              </a:ext>
            </a:extLst>
          </p:cNvPr>
          <p:cNvSpPr>
            <a:spLocks noGrp="1"/>
          </p:cNvSpPr>
          <p:nvPr>
            <p:ph type="title"/>
          </p:nvPr>
        </p:nvSpPr>
        <p:spPr/>
        <p:txBody>
          <a:bodyPr>
            <a:normAutofit/>
          </a:bodyPr>
          <a:lstStyle/>
          <a:p>
            <a:r>
              <a:rPr lang="en-CA" dirty="0"/>
              <a:t>How bystanders view victims of hate crimes (</a:t>
            </a:r>
            <a:r>
              <a:rPr lang="de-DE" dirty="0">
                <a:effectLst/>
                <a:latin typeface="Arial" panose="020B0604020202020204" pitchFamily="34" charset="0"/>
              </a:rPr>
              <a:t>Erentzen et al. 2021)</a:t>
            </a:r>
            <a:endParaRPr lang="en-CA" dirty="0"/>
          </a:p>
        </p:txBody>
      </p:sp>
      <p:sp>
        <p:nvSpPr>
          <p:cNvPr id="3" name="Content Placeholder 2">
            <a:extLst>
              <a:ext uri="{FF2B5EF4-FFF2-40B4-BE49-F238E27FC236}">
                <a16:creationId xmlns:a16="http://schemas.microsoft.com/office/drawing/2014/main" id="{587855A4-6E93-CB7B-37A9-D8C75DB5F6F9}"/>
              </a:ext>
            </a:extLst>
          </p:cNvPr>
          <p:cNvSpPr>
            <a:spLocks noGrp="1"/>
          </p:cNvSpPr>
          <p:nvPr>
            <p:ph idx="1"/>
          </p:nvPr>
        </p:nvSpPr>
        <p:spPr>
          <a:xfrm>
            <a:off x="838200" y="1825625"/>
            <a:ext cx="10515600" cy="4667250"/>
          </a:xfrm>
        </p:spPr>
        <p:txBody>
          <a:bodyPr>
            <a:normAutofit fontScale="92500" lnSpcReduction="10000"/>
          </a:bodyPr>
          <a:lstStyle/>
          <a:p>
            <a:r>
              <a:rPr lang="en-CA" dirty="0">
                <a:effectLst/>
                <a:latin typeface="Arial" panose="020B0604020202020204" pitchFamily="34" charset="0"/>
              </a:rPr>
              <a:t>Participants read a scenario in which a White man verbally harassed a victim in the park before physically assaulting him. We manipulated both the victim’s identity (White or South Asian Muslim) and the victim’s response to the perpetrator’s verbal harassment (the victim either ignored the offensive comments, verbally reacted to them, or became physically confrontational). </a:t>
            </a:r>
          </a:p>
          <a:p>
            <a:r>
              <a:rPr lang="en-CA" dirty="0">
                <a:effectLst/>
                <a:latin typeface="Arial" panose="020B0604020202020204" pitchFamily="34" charset="0"/>
              </a:rPr>
              <a:t>When the victim was portrayed as passive and nonresponding, the South Asian Muslim victim attracted lower victim blame, higher perpetrator blame, and increased certainty that the offense was a hate crime. </a:t>
            </a:r>
          </a:p>
          <a:p>
            <a:r>
              <a:rPr lang="en-CA" dirty="0">
                <a:effectLst/>
                <a:latin typeface="Arial" panose="020B0604020202020204" pitchFamily="34" charset="0"/>
              </a:rPr>
              <a:t>As the victim’s behavior became more aggressive, victim blaming increased and perpetrator blaming decreased, but only for the South Asian Muslim victim. </a:t>
            </a:r>
            <a:endParaRPr lang="en-CA" dirty="0"/>
          </a:p>
        </p:txBody>
      </p:sp>
    </p:spTree>
    <p:extLst>
      <p:ext uri="{BB962C8B-B14F-4D97-AF65-F5344CB8AC3E}">
        <p14:creationId xmlns:p14="http://schemas.microsoft.com/office/powerpoint/2010/main" val="2935440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09D4-E99B-25DC-F619-AAFC9260CF33}"/>
              </a:ext>
            </a:extLst>
          </p:cNvPr>
          <p:cNvSpPr>
            <a:spLocks noGrp="1"/>
          </p:cNvSpPr>
          <p:nvPr>
            <p:ph type="title"/>
          </p:nvPr>
        </p:nvSpPr>
        <p:spPr/>
        <p:txBody>
          <a:bodyPr/>
          <a:lstStyle/>
          <a:p>
            <a:r>
              <a:rPr lang="en-CA" dirty="0"/>
              <a:t>Impacts on victims</a:t>
            </a:r>
          </a:p>
        </p:txBody>
      </p:sp>
      <p:sp>
        <p:nvSpPr>
          <p:cNvPr id="3" name="Content Placeholder 2">
            <a:extLst>
              <a:ext uri="{FF2B5EF4-FFF2-40B4-BE49-F238E27FC236}">
                <a16:creationId xmlns:a16="http://schemas.microsoft.com/office/drawing/2014/main" id="{F8037765-F0A3-D016-D90F-A95A84488A95}"/>
              </a:ext>
            </a:extLst>
          </p:cNvPr>
          <p:cNvSpPr>
            <a:spLocks noGrp="1"/>
          </p:cNvSpPr>
          <p:nvPr>
            <p:ph idx="1"/>
          </p:nvPr>
        </p:nvSpPr>
        <p:spPr/>
        <p:txBody>
          <a:bodyPr/>
          <a:lstStyle/>
          <a:p>
            <a:r>
              <a:rPr lang="en-CA" dirty="0"/>
              <a:t>Victims of hate crime report anger, nervousness, feeling unsafe, poor concentration and loss of self-confidence. While victims of non-hate crimes report similar feelings, harm is intensified for hate crime victims due to the targeted nature of the incident (</a:t>
            </a:r>
            <a:r>
              <a:rPr lang="en-CA" dirty="0" err="1"/>
              <a:t>Benier</a:t>
            </a:r>
            <a:r>
              <a:rPr lang="en-CA" dirty="0"/>
              <a:t> 2017). </a:t>
            </a:r>
          </a:p>
          <a:p>
            <a:endParaRPr lang="en-CA" dirty="0"/>
          </a:p>
          <a:p>
            <a:endParaRPr lang="en-CA" dirty="0"/>
          </a:p>
        </p:txBody>
      </p:sp>
    </p:spTree>
    <p:extLst>
      <p:ext uri="{BB962C8B-B14F-4D97-AF65-F5344CB8AC3E}">
        <p14:creationId xmlns:p14="http://schemas.microsoft.com/office/powerpoint/2010/main" val="15051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49A42-A608-00D8-1511-3976B3CF10E3}"/>
              </a:ext>
            </a:extLst>
          </p:cNvPr>
          <p:cNvSpPr>
            <a:spLocks noGrp="1"/>
          </p:cNvSpPr>
          <p:nvPr>
            <p:ph type="title"/>
          </p:nvPr>
        </p:nvSpPr>
        <p:spPr/>
        <p:txBody>
          <a:bodyPr/>
          <a:lstStyle/>
          <a:p>
            <a:r>
              <a:rPr lang="en-CA" dirty="0"/>
              <a:t>Pew 2023</a:t>
            </a:r>
          </a:p>
        </p:txBody>
      </p:sp>
      <p:pic>
        <p:nvPicPr>
          <p:cNvPr id="7" name="Content Placeholder 6" descr="A graph of people with text&#10;&#10;Description automatically generated with medium confidence">
            <a:extLst>
              <a:ext uri="{FF2B5EF4-FFF2-40B4-BE49-F238E27FC236}">
                <a16:creationId xmlns:a16="http://schemas.microsoft.com/office/drawing/2014/main" id="{ED05369E-3BFC-1EA0-B1DF-282DDDBDBC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8959" y="0"/>
            <a:ext cx="5932967" cy="6800093"/>
          </a:xfrm>
        </p:spPr>
      </p:pic>
    </p:spTree>
    <p:extLst>
      <p:ext uri="{BB962C8B-B14F-4D97-AF65-F5344CB8AC3E}">
        <p14:creationId xmlns:p14="http://schemas.microsoft.com/office/powerpoint/2010/main" val="3561975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4739A-9550-0782-F209-32B92EC37340}"/>
              </a:ext>
            </a:extLst>
          </p:cNvPr>
          <p:cNvSpPr>
            <a:spLocks noGrp="1"/>
          </p:cNvSpPr>
          <p:nvPr>
            <p:ph type="title"/>
          </p:nvPr>
        </p:nvSpPr>
        <p:spPr>
          <a:xfrm>
            <a:off x="838200" y="188743"/>
            <a:ext cx="10515600" cy="821350"/>
          </a:xfrm>
        </p:spPr>
        <p:txBody>
          <a:bodyPr/>
          <a:lstStyle/>
          <a:p>
            <a:r>
              <a:rPr lang="en-CA" dirty="0"/>
              <a:t>One huge negative impact: accepting the hate</a:t>
            </a:r>
          </a:p>
        </p:txBody>
      </p:sp>
      <p:pic>
        <p:nvPicPr>
          <p:cNvPr id="5" name="Content Placeholder 4" descr="A person in a suit&#10;&#10;Description automatically generated">
            <a:extLst>
              <a:ext uri="{FF2B5EF4-FFF2-40B4-BE49-F238E27FC236}">
                <a16:creationId xmlns:a16="http://schemas.microsoft.com/office/drawing/2014/main" id="{41C37E9F-7011-6651-D946-C256BB4DB4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7437" y="882502"/>
            <a:ext cx="9701326" cy="5786756"/>
          </a:xfrm>
        </p:spPr>
      </p:pic>
    </p:spTree>
    <p:extLst>
      <p:ext uri="{BB962C8B-B14F-4D97-AF65-F5344CB8AC3E}">
        <p14:creationId xmlns:p14="http://schemas.microsoft.com/office/powerpoint/2010/main" val="2171632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652BC-AE11-65FE-4B18-8E80B6871C57}"/>
              </a:ext>
            </a:extLst>
          </p:cNvPr>
          <p:cNvSpPr>
            <a:spLocks noGrp="1"/>
          </p:cNvSpPr>
          <p:nvPr>
            <p:ph type="title"/>
          </p:nvPr>
        </p:nvSpPr>
        <p:spPr>
          <a:xfrm>
            <a:off x="838200" y="365125"/>
            <a:ext cx="10515600" cy="1812996"/>
          </a:xfrm>
        </p:spPr>
        <p:txBody>
          <a:bodyPr>
            <a:normAutofit fontScale="90000"/>
          </a:bodyPr>
          <a:lstStyle/>
          <a:p>
            <a:r>
              <a:rPr lang="en-CA" dirty="0"/>
              <a:t>While it is the case that most hate-motivated crimes in Canada are non-violent, there have been some horrendous examples of violent bias-motivated crimes. </a:t>
            </a:r>
          </a:p>
        </p:txBody>
      </p:sp>
      <p:sp>
        <p:nvSpPr>
          <p:cNvPr id="3" name="Content Placeholder 2">
            <a:extLst>
              <a:ext uri="{FF2B5EF4-FFF2-40B4-BE49-F238E27FC236}">
                <a16:creationId xmlns:a16="http://schemas.microsoft.com/office/drawing/2014/main" id="{C57DE7B6-BC7E-448C-940B-01D554DE1870}"/>
              </a:ext>
            </a:extLst>
          </p:cNvPr>
          <p:cNvSpPr>
            <a:spLocks noGrp="1"/>
          </p:cNvSpPr>
          <p:nvPr>
            <p:ph idx="1"/>
          </p:nvPr>
        </p:nvSpPr>
        <p:spPr>
          <a:xfrm>
            <a:off x="838200" y="2969231"/>
            <a:ext cx="10515600" cy="3207731"/>
          </a:xfrm>
        </p:spPr>
        <p:txBody>
          <a:bodyPr/>
          <a:lstStyle/>
          <a:p>
            <a:r>
              <a:rPr lang="en-CA" dirty="0"/>
              <a:t>Aaron Webster murder case</a:t>
            </a:r>
          </a:p>
          <a:p>
            <a:r>
              <a:rPr lang="en-CA" dirty="0"/>
              <a:t>Quebec City mosque shooting</a:t>
            </a:r>
          </a:p>
          <a:p>
            <a:endParaRPr lang="en-CA" dirty="0"/>
          </a:p>
        </p:txBody>
      </p:sp>
    </p:spTree>
    <p:extLst>
      <p:ext uri="{BB962C8B-B14F-4D97-AF65-F5344CB8AC3E}">
        <p14:creationId xmlns:p14="http://schemas.microsoft.com/office/powerpoint/2010/main" val="7293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20E88-25AF-26F5-06BE-BBDA6D083B1B}"/>
              </a:ext>
            </a:extLst>
          </p:cNvPr>
          <p:cNvSpPr>
            <a:spLocks noGrp="1"/>
          </p:cNvSpPr>
          <p:nvPr>
            <p:ph type="title"/>
          </p:nvPr>
        </p:nvSpPr>
        <p:spPr/>
        <p:txBody>
          <a:bodyPr/>
          <a:lstStyle/>
          <a:p>
            <a:r>
              <a:rPr lang="en-CA" dirty="0"/>
              <a:t>Aaron Webster (2001)</a:t>
            </a:r>
          </a:p>
        </p:txBody>
      </p:sp>
      <p:pic>
        <p:nvPicPr>
          <p:cNvPr id="5" name="Content Placeholder 4" descr="A person holding a dog&#10;&#10;Description automatically generated">
            <a:extLst>
              <a:ext uri="{FF2B5EF4-FFF2-40B4-BE49-F238E27FC236}">
                <a16:creationId xmlns:a16="http://schemas.microsoft.com/office/drawing/2014/main" id="{8CE3DF6A-9E78-BA5B-B6DE-7900FA3E59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4336" y="1646716"/>
            <a:ext cx="4255209" cy="5211284"/>
          </a:xfrm>
        </p:spPr>
      </p:pic>
      <p:sp>
        <p:nvSpPr>
          <p:cNvPr id="6" name="TextBox 5">
            <a:extLst>
              <a:ext uri="{FF2B5EF4-FFF2-40B4-BE49-F238E27FC236}">
                <a16:creationId xmlns:a16="http://schemas.microsoft.com/office/drawing/2014/main" id="{49B3AFD1-CDE1-DBAC-A2CD-8EA7D07B1BC2}"/>
              </a:ext>
            </a:extLst>
          </p:cNvPr>
          <p:cNvSpPr txBox="1"/>
          <p:nvPr/>
        </p:nvSpPr>
        <p:spPr>
          <a:xfrm>
            <a:off x="5712431" y="1541124"/>
            <a:ext cx="5777505" cy="4893647"/>
          </a:xfrm>
          <a:prstGeom prst="rect">
            <a:avLst/>
          </a:prstGeom>
          <a:noFill/>
        </p:spPr>
        <p:txBody>
          <a:bodyPr wrap="square" rtlCol="0">
            <a:spAutoFit/>
          </a:bodyPr>
          <a:lstStyle/>
          <a:p>
            <a:r>
              <a:rPr lang="en-CA" sz="2400" b="1" dirty="0"/>
              <a:t>Aaron Webster was beaten to death by strangers in a secluded, wooded area of Stanley Park in the City of Vancouver.</a:t>
            </a:r>
          </a:p>
          <a:p>
            <a:endParaRPr lang="en-CA" sz="2400" b="1" dirty="0"/>
          </a:p>
          <a:p>
            <a:r>
              <a:rPr lang="en-CA" sz="2400" b="1" dirty="0"/>
              <a:t>Webster was found by his good friend and subsequently died in the man’s arms before being transported to hospital.</a:t>
            </a:r>
          </a:p>
          <a:p>
            <a:endParaRPr lang="en-CA" sz="2400" b="1" dirty="0"/>
          </a:p>
          <a:p>
            <a:r>
              <a:rPr lang="en-CA" sz="2400" b="1" dirty="0"/>
              <a:t>A year later, police received a tip identifying 4 suspects – one adult and three teens. One of the suspects had bragged about his participation.</a:t>
            </a:r>
          </a:p>
        </p:txBody>
      </p:sp>
    </p:spTree>
    <p:extLst>
      <p:ext uri="{BB962C8B-B14F-4D97-AF65-F5344CB8AC3E}">
        <p14:creationId xmlns:p14="http://schemas.microsoft.com/office/powerpoint/2010/main" val="3655903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31C34-22B4-48A5-C8CA-9040BCE4A1FD}"/>
              </a:ext>
            </a:extLst>
          </p:cNvPr>
          <p:cNvSpPr>
            <a:spLocks noGrp="1"/>
          </p:cNvSpPr>
          <p:nvPr>
            <p:ph type="title"/>
          </p:nvPr>
        </p:nvSpPr>
        <p:spPr>
          <a:xfrm>
            <a:off x="838200" y="154113"/>
            <a:ext cx="10515600" cy="1130158"/>
          </a:xfrm>
        </p:spPr>
        <p:txBody>
          <a:bodyPr/>
          <a:lstStyle/>
          <a:p>
            <a:pPr algn="ctr"/>
            <a:r>
              <a:rPr lang="en-CA" b="1" dirty="0"/>
              <a:t>Quebec City Mosque Shooting</a:t>
            </a:r>
          </a:p>
        </p:txBody>
      </p:sp>
      <p:pic>
        <p:nvPicPr>
          <p:cNvPr id="5" name="Content Placeholder 4" descr="A collage of men's faces&#10;&#10;Description automatically generated">
            <a:extLst>
              <a:ext uri="{FF2B5EF4-FFF2-40B4-BE49-F238E27FC236}">
                <a16:creationId xmlns:a16="http://schemas.microsoft.com/office/drawing/2014/main" id="{8DE42109-C3E0-940C-8944-A2DB1EFBE6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194" y="1790876"/>
            <a:ext cx="5307317" cy="3983201"/>
          </a:xfrm>
        </p:spPr>
      </p:pic>
      <p:sp>
        <p:nvSpPr>
          <p:cNvPr id="6" name="TextBox 5">
            <a:extLst>
              <a:ext uri="{FF2B5EF4-FFF2-40B4-BE49-F238E27FC236}">
                <a16:creationId xmlns:a16="http://schemas.microsoft.com/office/drawing/2014/main" id="{ED15CEAB-B807-FE6F-353C-CC8AB64C4745}"/>
              </a:ext>
            </a:extLst>
          </p:cNvPr>
          <p:cNvSpPr txBox="1"/>
          <p:nvPr/>
        </p:nvSpPr>
        <p:spPr>
          <a:xfrm>
            <a:off x="6096000" y="1376737"/>
            <a:ext cx="6096000" cy="5016758"/>
          </a:xfrm>
          <a:prstGeom prst="rect">
            <a:avLst/>
          </a:prstGeom>
          <a:noFill/>
        </p:spPr>
        <p:txBody>
          <a:bodyPr wrap="square" rtlCol="0">
            <a:spAutoFit/>
          </a:bodyPr>
          <a:lstStyle/>
          <a:p>
            <a:r>
              <a:rPr lang="en-CA" sz="2400" dirty="0"/>
              <a:t>On January 29, 2017, an armed man entered a mosque during Friday evening prayers and began shooting, killing 6 and injuring 5 others. </a:t>
            </a:r>
          </a:p>
          <a:p>
            <a:endParaRPr lang="en-CA" sz="2400" dirty="0"/>
          </a:p>
          <a:p>
            <a:pPr>
              <a:buFont typeface="Arial" panose="020B0604020202020204" pitchFamily="34" charset="0"/>
              <a:buChar char="•"/>
            </a:pPr>
            <a:r>
              <a:rPr lang="en-CA" sz="2000" b="1" dirty="0"/>
              <a:t>Ibrahima Barry, 39, a Quebec government IT worker</a:t>
            </a:r>
          </a:p>
          <a:p>
            <a:pPr>
              <a:buFont typeface="Arial" panose="020B0604020202020204" pitchFamily="34" charset="0"/>
              <a:buChar char="•"/>
            </a:pPr>
            <a:r>
              <a:rPr lang="en-CA" sz="2000" b="1" dirty="0"/>
              <a:t>Mamadou </a:t>
            </a:r>
            <a:r>
              <a:rPr lang="en-CA" sz="2000" b="1" dirty="0" err="1"/>
              <a:t>Tanou</a:t>
            </a:r>
            <a:r>
              <a:rPr lang="en-CA" sz="2000" b="1" dirty="0"/>
              <a:t> Barry, 42, an accounting technician</a:t>
            </a:r>
          </a:p>
          <a:p>
            <a:pPr>
              <a:buFont typeface="Arial" panose="020B0604020202020204" pitchFamily="34" charset="0"/>
              <a:buChar char="•"/>
            </a:pPr>
            <a:r>
              <a:rPr lang="en-CA" sz="2000" b="1" dirty="0"/>
              <a:t>Khaled </a:t>
            </a:r>
            <a:r>
              <a:rPr lang="en-CA" sz="2000" b="1" dirty="0" err="1"/>
              <a:t>Belkacemi</a:t>
            </a:r>
            <a:r>
              <a:rPr lang="en-CA" sz="2000" b="1" dirty="0"/>
              <a:t>, 60, a professor at Universite de Laval</a:t>
            </a:r>
          </a:p>
          <a:p>
            <a:pPr>
              <a:buFont typeface="Arial" panose="020B0604020202020204" pitchFamily="34" charset="0"/>
              <a:buChar char="•"/>
            </a:pPr>
            <a:r>
              <a:rPr lang="en-CA" sz="2000" b="1" dirty="0"/>
              <a:t>Aboubaker </a:t>
            </a:r>
            <a:r>
              <a:rPr lang="en-CA" sz="2000" b="1" dirty="0" err="1"/>
              <a:t>Thabti</a:t>
            </a:r>
            <a:r>
              <a:rPr lang="en-CA" sz="2000" b="1" dirty="0"/>
              <a:t>, 44, a pharmacy technician</a:t>
            </a:r>
          </a:p>
          <a:p>
            <a:pPr>
              <a:buFont typeface="Arial" panose="020B0604020202020204" pitchFamily="34" charset="0"/>
              <a:buChar char="•"/>
            </a:pPr>
            <a:r>
              <a:rPr lang="en-CA" sz="2000" b="1" dirty="0" err="1"/>
              <a:t>Abdelkrim</a:t>
            </a:r>
            <a:r>
              <a:rPr lang="en-CA" sz="2000" b="1" dirty="0"/>
              <a:t> </a:t>
            </a:r>
            <a:r>
              <a:rPr lang="en-CA" sz="2000" b="1" dirty="0" err="1"/>
              <a:t>Hassane</a:t>
            </a:r>
            <a:r>
              <a:rPr lang="en-CA" sz="2000" b="1" dirty="0"/>
              <a:t>, 41, a computer analyst</a:t>
            </a:r>
          </a:p>
          <a:p>
            <a:pPr>
              <a:buFont typeface="Arial" panose="020B0604020202020204" pitchFamily="34" charset="0"/>
              <a:buChar char="•"/>
            </a:pPr>
            <a:r>
              <a:rPr lang="en-CA" sz="2000" b="1" dirty="0" err="1"/>
              <a:t>Azzedine</a:t>
            </a:r>
            <a:r>
              <a:rPr lang="en-CA" sz="2000" b="1" dirty="0"/>
              <a:t> Soufiane, 57, a grocery store owner. </a:t>
            </a:r>
          </a:p>
          <a:p>
            <a:pPr>
              <a:buFont typeface="Arial" panose="020B0604020202020204" pitchFamily="34" charset="0"/>
              <a:buChar char="•"/>
            </a:pPr>
            <a:endParaRPr lang="en-CA" sz="2000" b="1" dirty="0"/>
          </a:p>
        </p:txBody>
      </p:sp>
    </p:spTree>
    <p:extLst>
      <p:ext uri="{BB962C8B-B14F-4D97-AF65-F5344CB8AC3E}">
        <p14:creationId xmlns:p14="http://schemas.microsoft.com/office/powerpoint/2010/main" val="229789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5A08A-7DF7-C83F-965E-2DCCAFD2A7CE}"/>
              </a:ext>
            </a:extLst>
          </p:cNvPr>
          <p:cNvSpPr>
            <a:spLocks noGrp="1"/>
          </p:cNvSpPr>
          <p:nvPr>
            <p:ph type="title"/>
          </p:nvPr>
        </p:nvSpPr>
        <p:spPr/>
        <p:txBody>
          <a:bodyPr/>
          <a:lstStyle/>
          <a:p>
            <a:pPr algn="ctr"/>
            <a:r>
              <a:rPr lang="en-CA" dirty="0"/>
              <a:t>Hate Crimes on Campuses</a:t>
            </a:r>
            <a:br>
              <a:rPr lang="en-CA" dirty="0"/>
            </a:br>
            <a:r>
              <a:rPr lang="en-CA" dirty="0"/>
              <a:t>Santos and </a:t>
            </a:r>
            <a:r>
              <a:rPr lang="en-CA" dirty="0" err="1"/>
              <a:t>Yogev</a:t>
            </a:r>
            <a:r>
              <a:rPr lang="en-CA" dirty="0"/>
              <a:t> (2024)</a:t>
            </a:r>
          </a:p>
        </p:txBody>
      </p:sp>
      <p:sp>
        <p:nvSpPr>
          <p:cNvPr id="3" name="Content Placeholder 2">
            <a:extLst>
              <a:ext uri="{FF2B5EF4-FFF2-40B4-BE49-F238E27FC236}">
                <a16:creationId xmlns:a16="http://schemas.microsoft.com/office/drawing/2014/main" id="{F595BAAA-3F40-BDED-33F0-4FF5361FE08B}"/>
              </a:ext>
            </a:extLst>
          </p:cNvPr>
          <p:cNvSpPr>
            <a:spLocks noGrp="1"/>
          </p:cNvSpPr>
          <p:nvPr>
            <p:ph idx="1"/>
          </p:nvPr>
        </p:nvSpPr>
        <p:spPr>
          <a:xfrm>
            <a:off x="838200" y="2661007"/>
            <a:ext cx="10515600" cy="3515956"/>
          </a:xfrm>
        </p:spPr>
        <p:txBody>
          <a:bodyPr/>
          <a:lstStyle/>
          <a:p>
            <a:r>
              <a:rPr lang="en-CA">
                <a:hlinkClick r:id="rId2"/>
              </a:rPr>
              <a:t>https://www.youtube.com/watch?v=qBVhoevvCRA&amp;feature=youtu.be</a:t>
            </a:r>
            <a:endParaRPr lang="en-CA"/>
          </a:p>
          <a:p>
            <a:endParaRPr lang="en-CA" dirty="0"/>
          </a:p>
        </p:txBody>
      </p:sp>
    </p:spTree>
    <p:extLst>
      <p:ext uri="{BB962C8B-B14F-4D97-AF65-F5344CB8AC3E}">
        <p14:creationId xmlns:p14="http://schemas.microsoft.com/office/powerpoint/2010/main" val="8156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B3024-259D-486A-B437-25C9A24673CC}"/>
              </a:ext>
            </a:extLst>
          </p:cNvPr>
          <p:cNvSpPr>
            <a:spLocks noGrp="1"/>
          </p:cNvSpPr>
          <p:nvPr>
            <p:ph type="title"/>
          </p:nvPr>
        </p:nvSpPr>
        <p:spPr/>
        <p:txBody>
          <a:bodyPr/>
          <a:lstStyle/>
          <a:p>
            <a:pPr algn="ctr"/>
            <a:r>
              <a:rPr lang="en-CA" b="1" dirty="0"/>
              <a:t>*all done!*</a:t>
            </a:r>
          </a:p>
        </p:txBody>
      </p:sp>
      <p:pic>
        <p:nvPicPr>
          <p:cNvPr id="5" name="Content Placeholder 4">
            <a:extLst>
              <a:ext uri="{FF2B5EF4-FFF2-40B4-BE49-F238E27FC236}">
                <a16:creationId xmlns:a16="http://schemas.microsoft.com/office/drawing/2014/main" id="{5926F011-9408-41AF-A555-85D493F200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1141" y="1825625"/>
            <a:ext cx="3729718" cy="4351338"/>
          </a:xfrm>
        </p:spPr>
      </p:pic>
    </p:spTree>
    <p:extLst>
      <p:ext uri="{BB962C8B-B14F-4D97-AF65-F5344CB8AC3E}">
        <p14:creationId xmlns:p14="http://schemas.microsoft.com/office/powerpoint/2010/main" val="84744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928</Words>
  <Application>Microsoft Office PowerPoint</Application>
  <PresentationFormat>宽屏</PresentationFormat>
  <Paragraphs>50</Paragraphs>
  <Slides>19</Slides>
  <Notes>0</Notes>
  <HiddenSlides>0</HiddenSlides>
  <MMClips>0</MMClips>
  <ScaleCrop>false</ScaleCrop>
  <HeadingPairs>
    <vt:vector size="4" baseType="variant">
      <vt:variant>
        <vt:lpstr>主题</vt:lpstr>
      </vt:variant>
      <vt:variant>
        <vt:i4>1</vt:i4>
      </vt:variant>
      <vt:variant>
        <vt:lpstr>幻灯片标题</vt:lpstr>
      </vt:variant>
      <vt:variant>
        <vt:i4>19</vt:i4>
      </vt:variant>
    </vt:vector>
  </HeadingPairs>
  <TitlesOfParts>
    <vt:vector size="20" baseType="lpstr">
      <vt:lpstr>Office Theme</vt:lpstr>
      <vt:lpstr>Hate Crimes</vt:lpstr>
      <vt:lpstr>Hate Crime – defining it</vt:lpstr>
      <vt:lpstr>What is a Hate Crime in Canada?</vt:lpstr>
      <vt:lpstr>3 exceptions</vt:lpstr>
      <vt:lpstr>PowerPoint 演示文稿</vt:lpstr>
      <vt:lpstr>PowerPoint 演示文稿</vt:lpstr>
      <vt:lpstr>PowerPoint 演示文稿</vt:lpstr>
      <vt:lpstr>PowerPoint 演示文稿</vt:lpstr>
      <vt:lpstr>Victim experiences of hate crime</vt:lpstr>
      <vt:lpstr>Maan Singh Khalsa</vt:lpstr>
      <vt:lpstr>How bystanders view victims of hate crimes (Erentzen et al. 2021)</vt:lpstr>
      <vt:lpstr>Impacts on victims</vt:lpstr>
      <vt:lpstr>Pew 2023</vt:lpstr>
      <vt:lpstr>One huge negative impact: accepting the hate</vt:lpstr>
      <vt:lpstr>While it is the case that most hate-motivated crimes in Canada are non-violent, there have been some horrendous examples of violent bias-motivated crimes. </vt:lpstr>
      <vt:lpstr>Aaron Webster (2001)</vt:lpstr>
      <vt:lpstr>Quebec City Mosque Shooting</vt:lpstr>
      <vt:lpstr>Hate Crimes on Campuses Santos and Yogev (2024)</vt:lpstr>
      <vt:lpstr>*all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Hate Crimes</dc:title>
  <dc:creator>Laura Huey</dc:creator>
  <cp:lastModifiedBy>Laura Huey</cp:lastModifiedBy>
  <cp:revision>19</cp:revision>
  <dcterms:created xsi:type="dcterms:W3CDTF">2024-03-03T22:48:09Z</dcterms:created>
  <dcterms:modified xsi:type="dcterms:W3CDTF">2026-04-01T22:14:23Z</dcterms:modified>
</cp:coreProperties>
</file>