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7" r:id="rId5"/>
    <p:sldId id="259" r:id="rId6"/>
    <p:sldId id="260" r:id="rId7"/>
    <p:sldId id="261" r:id="rId8"/>
    <p:sldId id="347" r:id="rId9"/>
    <p:sldId id="346" r:id="rId10"/>
    <p:sldId id="265" r:id="rId11"/>
    <p:sldId id="266" r:id="rId12"/>
    <p:sldId id="262" r:id="rId13"/>
    <p:sldId id="268" r:id="rId14"/>
    <p:sldId id="348" r:id="rId15"/>
    <p:sldId id="263" r:id="rId16"/>
    <p:sldId id="344" r:id="rId17"/>
    <p:sldId id="345" r:id="rId18"/>
    <p:sldId id="269" r:id="rId19"/>
    <p:sldId id="270" r:id="rId20"/>
    <p:sldId id="271" r:id="rId21"/>
    <p:sldId id="267" r:id="rId22"/>
    <p:sldId id="3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4F08-88C1-8A1B-C1EF-D5BEE84EA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AE459-39FD-2411-835C-792EA160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874D6-25C6-F3EB-0624-967385C6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04314-9E90-6617-FCF6-2B831EA5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52919-67A1-EDA6-A09A-96F29B6D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68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D942-6C63-7BD1-57A5-499FD2D9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4684-652D-D5B9-EF94-F2826985D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78863-8DC3-F2D2-FB03-E538FF1D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31ABD-DE3B-9086-4AF9-F70F8494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8339-673B-8453-80F6-433C94D4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442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B7F3-48D7-5B03-8726-8D9C0B1D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4D9E2-B70E-A53C-1740-0E288AE12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366BC-2D85-80E4-C496-458D775B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BEA13-3A71-2CA2-5BC1-FFFD2C57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EF5E-E90D-E1B5-BA23-71CF00F0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5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EA2C-2F08-1FCF-3E1E-83BF6E97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17A4-FA4E-6CAC-3C75-13B732640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A9A7C-CBA7-D6B2-8278-503632AB8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8355E-6473-0BA7-3B28-4B5C9E03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5AC6B-4BEC-F613-0007-65A966A1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C4639-4B45-3B1C-9613-E25E3EE8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55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FC31-AB60-014C-D179-BCF21C57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51277-FE45-0FD9-1719-0A5BE63A4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5DAD4-59C6-94AE-2EF1-A883BD20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3D7A8-E908-EBC7-8041-5D9B6414B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012A8-B372-3D5A-D346-8B725962D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282527-D9D6-09EE-A626-66167E98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0F193-DAE9-3B68-4A0E-3401EDA0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D291A-FC55-51C2-F456-5D1014E7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56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27CE-6FC3-D137-7B7B-CE9470CC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D5AFA-6489-EA80-7DB0-F26F9764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8E923-9B5F-AEF8-2E42-08AE6698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66E3C-2E14-561B-4E95-00DFF4CC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260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F907E-2E6C-226C-F9CF-E3002404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A292A-C908-FB56-9881-5636DC27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12F93-0806-3D35-43BD-EE9B0CA4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976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7174-A488-5E46-AEF8-FFC1B144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5843F-3717-AF82-796C-4D2E359B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D7278-7603-99BB-B193-DB1887CDA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1C286-F67E-883E-D9CB-9458C299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90ADC-9AA4-341F-C4AD-CF634230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8EF32-5FB3-8F19-5D90-D0559276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910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83BEF-1DC7-9B0A-86B9-53755A38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C5D09-AA84-52EE-67B5-19BD044579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B14C8-61EB-E756-7A1A-0ECB30B4B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05A14-F453-3C0B-8D3F-E2A328B7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5BD28-BAA8-FE51-131C-7CBC3D7B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90A4-B47D-FBF8-43AC-F483F511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317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B9C5-374C-6A2A-E9D8-CF202460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95B76-3A32-3401-0EAA-4CB5F4011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7B2BC-0141-9001-0793-F3DC59BF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6137-B664-CA22-8E04-2A91659C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27F2B-CA48-A5B4-A741-FDDC50CB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08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AF15F-F041-DB73-22B4-7B637CA0F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50234-11FD-F479-57AC-647134818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B2CB-1083-7AB9-9D0F-F7DF30AA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F1B85-B3AD-1431-7AB3-DDC0512B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C1F8-C66D-A20E-9925-D7DC0908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339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C0A65-72A6-1D79-2267-F3EDDCD5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A677F-EA08-0949-9CA3-965F38C4E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BF92-F199-1016-CCB9-018B1847D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5EABA-E489-4386-ADED-357B0CA71E84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AEC43-6C25-0FDB-E6C0-7270C540B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7113-FB86-9DA5-8DAA-D77C2DC18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EDB6A-FE61-42DE-8A15-DDA0C3B482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742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B8A6-7C08-5109-4C55-C10398E26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466"/>
            <a:ext cx="9144000" cy="1020726"/>
          </a:xfrm>
        </p:spPr>
        <p:txBody>
          <a:bodyPr/>
          <a:lstStyle/>
          <a:p>
            <a:r>
              <a:rPr lang="en-CA" dirty="0"/>
              <a:t>Frauds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67CEE-5FC0-9A7A-E559-EF4846B4A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 descr="A hand holding a magnifying glass over a word&#10;&#10;Description automatically generated">
            <a:extLst>
              <a:ext uri="{FF2B5EF4-FFF2-40B4-BE49-F238E27FC236}">
                <a16:creationId xmlns:a16="http://schemas.microsoft.com/office/drawing/2014/main" id="{2D4B5951-3B14-5C31-8486-24F931F05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621" y="1796903"/>
            <a:ext cx="6247354" cy="415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1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AC86-0F0A-5686-6AE0-C99FCBAF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What is fraud?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C2794-4CEF-D0BF-D3EA-5EF611168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Fraud is a form of theft that is achieved by deception (and not through force). 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30C8E98-F270-BFAB-A01D-BCD1BB131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03" y="2882994"/>
            <a:ext cx="10996593" cy="260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9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2606-268E-E7DA-A681-8697A72D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121"/>
            <a:ext cx="10515600" cy="1860809"/>
          </a:xfrm>
        </p:spPr>
        <p:txBody>
          <a:bodyPr/>
          <a:lstStyle/>
          <a:p>
            <a:r>
              <a:rPr lang="en-CA" dirty="0"/>
              <a:t>Canadian Fraud Centre (5 months of data)</a:t>
            </a:r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F51692B6-CC35-61DA-3B7F-3468D97A9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130" y="1134507"/>
            <a:ext cx="5047921" cy="6144907"/>
          </a:xfrm>
        </p:spPr>
      </p:pic>
    </p:spTree>
    <p:extLst>
      <p:ext uri="{BB962C8B-B14F-4D97-AF65-F5344CB8AC3E}">
        <p14:creationId xmlns:p14="http://schemas.microsoft.com/office/powerpoint/2010/main" val="172675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F18B-7EA0-D792-791A-144F90A6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Early thinking on fraud focused on white collar 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D64E-334C-25EC-0501-005E75EAA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Early work on fraud focused more on the crime and the perpetrator</a:t>
            </a:r>
          </a:p>
          <a:p>
            <a:r>
              <a:rPr lang="en-CA" dirty="0"/>
              <a:t>One of the first major studies on fraud was Sutherland’s work on “white colour crime” </a:t>
            </a:r>
          </a:p>
          <a:p>
            <a:r>
              <a:rPr lang="en-CA" dirty="0"/>
              <a:t>Donald R. Cressey developed Sutherland’s work, developing the “Fraud Triangle”, which focused on why people commit fraud. </a:t>
            </a:r>
          </a:p>
          <a:p>
            <a:endParaRPr lang="en-CA" dirty="0"/>
          </a:p>
          <a:p>
            <a:pPr marL="0" indent="0" algn="ctr">
              <a:buNone/>
            </a:pPr>
            <a:r>
              <a:rPr lang="en-CA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opportunity</a:t>
            </a:r>
            <a:r>
              <a:rPr lang="en-CA" dirty="0"/>
              <a:t>, </a:t>
            </a:r>
            <a:r>
              <a:rPr lang="en-CA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rationalization</a:t>
            </a:r>
            <a:r>
              <a:rPr lang="en-CA" dirty="0"/>
              <a:t>, and </a:t>
            </a:r>
            <a:r>
              <a:rPr lang="en-CA" b="1" dirty="0">
                <a:solidFill>
                  <a:srgbClr val="FFC000"/>
                </a:solidFill>
              </a:rPr>
              <a:t>financial pressure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921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8FAC-350A-AFD8-074A-61B2903F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22"/>
            <a:ext cx="10515600" cy="1148316"/>
          </a:xfrm>
        </p:spPr>
        <p:txBody>
          <a:bodyPr>
            <a:normAutofit fontScale="90000"/>
          </a:bodyPr>
          <a:lstStyle/>
          <a:p>
            <a:r>
              <a:rPr lang="en-CA" dirty="0"/>
              <a:t>Of these, victimization is most clearly linked to “opportunity” (sound familiar?)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4FB1F-3AFF-0F0A-9E5C-7D2F69BF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498"/>
            <a:ext cx="10515600" cy="4773465"/>
          </a:xfrm>
        </p:spPr>
        <p:txBody>
          <a:bodyPr/>
          <a:lstStyle/>
          <a:p>
            <a:r>
              <a:rPr lang="en-CA" dirty="0"/>
              <a:t>If we can focus on minimizing opportunities by working with potential victims (</a:t>
            </a:r>
            <a:r>
              <a:rPr lang="en-CA" dirty="0" err="1"/>
              <a:t>ie</a:t>
            </a:r>
            <a:r>
              <a:rPr lang="en-CA" dirty="0"/>
              <a:t>. businesses), we can reduce frauds.</a:t>
            </a:r>
          </a:p>
          <a:p>
            <a:endParaRPr lang="en-CA" dirty="0"/>
          </a:p>
        </p:txBody>
      </p:sp>
      <p:pic>
        <p:nvPicPr>
          <p:cNvPr id="5" name="Picture 4" descr="A diagram of a triangle with white text&#10;&#10;Description automatically generated">
            <a:extLst>
              <a:ext uri="{FF2B5EF4-FFF2-40B4-BE49-F238E27FC236}">
                <a16:creationId xmlns:a16="http://schemas.microsoft.com/office/drawing/2014/main" id="{2FCB50FC-5332-9157-D2A6-B26918B37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17" y="2223015"/>
            <a:ext cx="9310491" cy="4217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03B36-422E-4F56-297D-A491AED62ACF}"/>
              </a:ext>
            </a:extLst>
          </p:cNvPr>
          <p:cNvSpPr txBox="1"/>
          <p:nvPr/>
        </p:nvSpPr>
        <p:spPr>
          <a:xfrm>
            <a:off x="10069033" y="6071191"/>
            <a:ext cx="1881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Anders 2024</a:t>
            </a:r>
          </a:p>
        </p:txBody>
      </p:sp>
    </p:spTree>
    <p:extLst>
      <p:ext uri="{BB962C8B-B14F-4D97-AF65-F5344CB8AC3E}">
        <p14:creationId xmlns:p14="http://schemas.microsoft.com/office/powerpoint/2010/main" val="61185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BEE4-2502-FF52-24AF-7738E5BB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A-B-C model (</a:t>
            </a:r>
            <a:r>
              <a:rPr lang="en-CA" dirty="0" err="1"/>
              <a:t>Ramamoorti</a:t>
            </a:r>
            <a:r>
              <a:rPr lang="en-CA" dirty="0"/>
              <a:t> 2009)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36C4-FE59-B473-B9F1-62580221E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CA" dirty="0"/>
              <a:t>A: A bad Apple is an individual who commits an individual fraud</a:t>
            </a:r>
          </a:p>
          <a:p>
            <a:endParaRPr lang="en-CA" dirty="0"/>
          </a:p>
          <a:p>
            <a:r>
              <a:rPr lang="en-CA" dirty="0"/>
              <a:t>B: A bad Bushel is a group of individuals who work together (in collusion) to commit fraud/s</a:t>
            </a:r>
          </a:p>
          <a:p>
            <a:endParaRPr lang="en-CA" dirty="0"/>
          </a:p>
          <a:p>
            <a:r>
              <a:rPr lang="en-CA" dirty="0"/>
              <a:t>C: A bad Crop is when an entire company, institution, industry and/or culture/sub-culture is toxic (e.g. the sub-prime mortgage scandal that caused a worldwide recession in 2007/8, which was caused by an unregulated market of predatory loans to largely low-income, low-information borrowers.  </a:t>
            </a:r>
          </a:p>
        </p:txBody>
      </p:sp>
    </p:spTree>
    <p:extLst>
      <p:ext uri="{BB962C8B-B14F-4D97-AF65-F5344CB8AC3E}">
        <p14:creationId xmlns:p14="http://schemas.microsoft.com/office/powerpoint/2010/main" val="371596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0D0C-4B7C-E209-80EA-C7509B78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recent academic theories of fraud victimization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3B232-A4D3-0B17-EE4C-73A644D0E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Personality traits: </a:t>
            </a:r>
            <a:r>
              <a:rPr lang="en-CA" b="1" dirty="0"/>
              <a:t>Psychologists</a:t>
            </a:r>
            <a:r>
              <a:rPr lang="en-CA" dirty="0"/>
              <a:t> have tended to focus on personality-based theories, introversion/extraversion 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 According to a recent systematic review, there is no strong evidence that personality is tied to victimization (Norris, Brookes, Dowell 2019).  </a:t>
            </a:r>
          </a:p>
          <a:p>
            <a:endParaRPr lang="en-CA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244396-2264-02D3-2476-22FDBD6C090F}"/>
              </a:ext>
            </a:extLst>
          </p:cNvPr>
          <p:cNvCxnSpPr>
            <a:cxnSpLocks/>
          </p:cNvCxnSpPr>
          <p:nvPr/>
        </p:nvCxnSpPr>
        <p:spPr>
          <a:xfrm flipV="1">
            <a:off x="4423144" y="3211033"/>
            <a:ext cx="2966484" cy="15736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2DB1EF-15A4-6759-BB30-3BB4FF844F51}"/>
              </a:ext>
            </a:extLst>
          </p:cNvPr>
          <p:cNvSpPr txBox="1"/>
          <p:nvPr/>
        </p:nvSpPr>
        <p:spPr>
          <a:xfrm>
            <a:off x="3083442" y="4019107"/>
            <a:ext cx="133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Introvert: </a:t>
            </a:r>
          </a:p>
          <a:p>
            <a:r>
              <a:rPr lang="en-CA" dirty="0"/>
              <a:t>risk averse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EF1AB-5A24-A741-D674-F3B183155858}"/>
              </a:ext>
            </a:extLst>
          </p:cNvPr>
          <p:cNvSpPr txBox="1"/>
          <p:nvPr/>
        </p:nvSpPr>
        <p:spPr>
          <a:xfrm>
            <a:off x="6049926" y="2640419"/>
            <a:ext cx="133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Extrovert: </a:t>
            </a:r>
          </a:p>
          <a:p>
            <a:r>
              <a:rPr lang="en-CA" dirty="0"/>
              <a:t>Risk-taker</a:t>
            </a:r>
          </a:p>
        </p:txBody>
      </p:sp>
    </p:spTree>
    <p:extLst>
      <p:ext uri="{BB962C8B-B14F-4D97-AF65-F5344CB8AC3E}">
        <p14:creationId xmlns:p14="http://schemas.microsoft.com/office/powerpoint/2010/main" val="304238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D46A-0A72-9C11-2341-51A40DBF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pPr algn="ctr"/>
            <a:r>
              <a:rPr lang="en-CA" dirty="0"/>
              <a:t>How do people get deceived?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6CC8-51C3-BDAD-8E98-5EB1BD338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479"/>
            <a:ext cx="10515600" cy="529139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Some very common cognitive biases:</a:t>
            </a:r>
          </a:p>
          <a:p>
            <a:r>
              <a:rPr lang="en-CA" b="1" dirty="0">
                <a:solidFill>
                  <a:srgbClr val="00B050"/>
                </a:solidFill>
              </a:rPr>
              <a:t>Priming bias</a:t>
            </a:r>
            <a:r>
              <a:rPr lang="en-CA" dirty="0"/>
              <a:t>: the tendency to be influenced by our first exposure to an individual/issue, etc. </a:t>
            </a:r>
          </a:p>
          <a:p>
            <a:r>
              <a:rPr lang="en-CA" b="1" dirty="0">
                <a:solidFill>
                  <a:srgbClr val="FF0000"/>
                </a:solidFill>
              </a:rPr>
              <a:t>Cognitive dissonance</a:t>
            </a:r>
            <a:r>
              <a:rPr lang="en-CA" dirty="0"/>
              <a:t>: when individuals encounter inconsistencies in relation to something in which they believe, they make search for information that reconfirms their views</a:t>
            </a:r>
          </a:p>
          <a:p>
            <a:r>
              <a:rPr lang="en-CA" b="1" dirty="0">
                <a:solidFill>
                  <a:schemeClr val="accent5">
                    <a:lumMod val="75000"/>
                  </a:schemeClr>
                </a:solidFill>
              </a:rPr>
              <a:t>Confirmation bias</a:t>
            </a:r>
            <a:r>
              <a:rPr lang="en-CA" dirty="0"/>
              <a:t>: tendency to interpret information in a way that confirms our existing opinions</a:t>
            </a:r>
          </a:p>
          <a:p>
            <a:r>
              <a:rPr lang="en-CA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Affinity bias</a:t>
            </a:r>
            <a:r>
              <a:rPr lang="en-CA" dirty="0"/>
              <a:t>: we tend to be biased by individuals who seem most like us</a:t>
            </a:r>
          </a:p>
          <a:p>
            <a:r>
              <a:rPr lang="en-CA" b="1" dirty="0">
                <a:solidFill>
                  <a:srgbClr val="FFFF00"/>
                </a:solidFill>
              </a:rPr>
              <a:t>Status quo bias</a:t>
            </a:r>
            <a:r>
              <a:rPr lang="en-CA" dirty="0"/>
              <a:t>: preferring the status quo to a different choice that might lead to a loss. </a:t>
            </a:r>
          </a:p>
        </p:txBody>
      </p:sp>
    </p:spTree>
    <p:extLst>
      <p:ext uri="{BB962C8B-B14F-4D97-AF65-F5344CB8AC3E}">
        <p14:creationId xmlns:p14="http://schemas.microsoft.com/office/powerpoint/2010/main" val="150449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D46A-0A72-9C11-2341-51A40DBF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pPr algn="ctr"/>
            <a:r>
              <a:rPr lang="en-CA" dirty="0"/>
              <a:t>How does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6CC8-51C3-BDAD-8E98-5EB1BD338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479"/>
            <a:ext cx="10515600" cy="529139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Some very common cognitive biases:</a:t>
            </a:r>
          </a:p>
          <a:p>
            <a:r>
              <a:rPr lang="en-CA" b="1" dirty="0">
                <a:solidFill>
                  <a:srgbClr val="00B050"/>
                </a:solidFill>
              </a:rPr>
              <a:t>Priming bias</a:t>
            </a:r>
            <a:r>
              <a:rPr lang="en-CA" dirty="0"/>
              <a:t>: the tendency to be influenced by our first exposure to an individual/issue, etc. </a:t>
            </a:r>
          </a:p>
          <a:p>
            <a:r>
              <a:rPr lang="en-CA" b="1" dirty="0">
                <a:solidFill>
                  <a:srgbClr val="FF0000"/>
                </a:solidFill>
              </a:rPr>
              <a:t>Cognitive dissonance</a:t>
            </a:r>
            <a:r>
              <a:rPr lang="en-CA" dirty="0"/>
              <a:t>: when individuals encounter inconsistencies in relation to something in which they believe, they make search for information that reconfirms their views</a:t>
            </a:r>
          </a:p>
          <a:p>
            <a:r>
              <a:rPr lang="en-CA" b="1" dirty="0">
                <a:solidFill>
                  <a:schemeClr val="accent5">
                    <a:lumMod val="75000"/>
                  </a:schemeClr>
                </a:solidFill>
              </a:rPr>
              <a:t>Confirmation bias</a:t>
            </a:r>
            <a:r>
              <a:rPr lang="en-CA" dirty="0"/>
              <a:t>: tendency to interpret information in a way that confirms our existing opinions</a:t>
            </a:r>
          </a:p>
          <a:p>
            <a:r>
              <a:rPr lang="en-CA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Affinity bias</a:t>
            </a:r>
            <a:r>
              <a:rPr lang="en-CA" dirty="0"/>
              <a:t>: we tend to be biased by individuals who seem most like us</a:t>
            </a:r>
          </a:p>
          <a:p>
            <a:r>
              <a:rPr lang="en-CA" b="1" dirty="0">
                <a:solidFill>
                  <a:srgbClr val="FFFF00"/>
                </a:solidFill>
              </a:rPr>
              <a:t>Status quo bias</a:t>
            </a:r>
            <a:r>
              <a:rPr lang="en-CA" dirty="0"/>
              <a:t>: preferring the status quo to a different choice that might lead to a loss. </a:t>
            </a:r>
          </a:p>
        </p:txBody>
      </p:sp>
    </p:spTree>
    <p:extLst>
      <p:ext uri="{BB962C8B-B14F-4D97-AF65-F5344CB8AC3E}">
        <p14:creationId xmlns:p14="http://schemas.microsoft.com/office/powerpoint/2010/main" val="1101887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E59C-7ED4-A48E-D242-E909EF4E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Non-academic 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E223-4AC8-4B62-9E93-71820E80D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FF0000"/>
                </a:solidFill>
              </a:rPr>
              <a:t>Gullible, Greedy and/or Stupid – </a:t>
            </a:r>
            <a:r>
              <a:rPr lang="en-CA" dirty="0"/>
              <a:t>this is a classic example of victim blaming. Victim blaming is a common response that says to the victim, “you deserved it.”</a:t>
            </a:r>
          </a:p>
          <a:p>
            <a:endParaRPr lang="en-CA" dirty="0"/>
          </a:p>
          <a:p>
            <a:r>
              <a:rPr lang="en-CA" dirty="0"/>
              <a:t>It’s a common response because it allows individuals to feel (falsely) psychologically secure, resting in the belief fraud victimization could never happen to them. (see </a:t>
            </a:r>
            <a:r>
              <a:rPr lang="en-CA" b="1" dirty="0">
                <a:solidFill>
                  <a:schemeClr val="accent5">
                    <a:lumMod val="75000"/>
                  </a:schemeClr>
                </a:solidFill>
              </a:rPr>
              <a:t>Dunning-Kruger</a:t>
            </a:r>
            <a:r>
              <a:rPr lang="en-CA" dirty="0"/>
              <a:t> as one reason why this is highly likely to be incorrect).  </a:t>
            </a:r>
          </a:p>
        </p:txBody>
      </p:sp>
    </p:spTree>
    <p:extLst>
      <p:ext uri="{BB962C8B-B14F-4D97-AF65-F5344CB8AC3E}">
        <p14:creationId xmlns:p14="http://schemas.microsoft.com/office/powerpoint/2010/main" val="465965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14DC-EF6F-1F91-C297-039A12D37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9339"/>
          </a:xfrm>
        </p:spPr>
        <p:txBody>
          <a:bodyPr/>
          <a:lstStyle/>
          <a:p>
            <a:pPr algn="ctr"/>
            <a:r>
              <a:rPr lang="en-CA" dirty="0"/>
              <a:t>What is </a:t>
            </a:r>
            <a:r>
              <a:rPr lang="en-CA" b="1" dirty="0">
                <a:solidFill>
                  <a:schemeClr val="accent5">
                    <a:lumMod val="75000"/>
                  </a:schemeClr>
                </a:solidFill>
              </a:rPr>
              <a:t>Dunning-Kruger</a:t>
            </a:r>
            <a:r>
              <a:rPr lang="en-CA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B432-EC6F-74E9-B350-1680F559E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851"/>
            <a:ext cx="10515600" cy="55071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A" sz="2600" b="1" dirty="0"/>
              <a:t>This is the term coined for a common cognitive bias where … an individual, who lacks any particular knowledge of, or skill in a subject, over-estimates/is over-confident in their knowledge, skills or abilities in that area. </a:t>
            </a:r>
          </a:p>
          <a:p>
            <a:pPr>
              <a:lnSpc>
                <a:spcPct val="150000"/>
              </a:lnSpc>
            </a:pPr>
            <a:endParaRPr lang="en-CA" dirty="0"/>
          </a:p>
        </p:txBody>
      </p:sp>
      <p:pic>
        <p:nvPicPr>
          <p:cNvPr id="7" name="Picture 6" descr="A dog lying on a couch&#10;&#10;Description automatically generated">
            <a:extLst>
              <a:ext uri="{FF2B5EF4-FFF2-40B4-BE49-F238E27FC236}">
                <a16:creationId xmlns:a16="http://schemas.microsoft.com/office/drawing/2014/main" id="{D1A97D02-3D9C-4580-7233-1DD1C4574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70514" y="3101886"/>
            <a:ext cx="5278735" cy="4476309"/>
          </a:xfrm>
          <a:prstGeom prst="rect">
            <a:avLst/>
          </a:prstGeom>
        </p:spPr>
      </p:pic>
      <p:sp>
        <p:nvSpPr>
          <p:cNvPr id="8" name="Heart 7">
            <a:extLst>
              <a:ext uri="{FF2B5EF4-FFF2-40B4-BE49-F238E27FC236}">
                <a16:creationId xmlns:a16="http://schemas.microsoft.com/office/drawing/2014/main" id="{FCBB49B0-923F-279D-9616-5F2C0958B3D9}"/>
              </a:ext>
            </a:extLst>
          </p:cNvPr>
          <p:cNvSpPr/>
          <p:nvPr/>
        </p:nvSpPr>
        <p:spPr>
          <a:xfrm>
            <a:off x="1251548" y="4087941"/>
            <a:ext cx="2658141" cy="2580761"/>
          </a:xfrm>
          <a:prstGeom prst="hear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116C2-1BF4-D848-9482-77B7619EA35A}"/>
              </a:ext>
            </a:extLst>
          </p:cNvPr>
          <p:cNvSpPr txBox="1"/>
          <p:nvPr/>
        </p:nvSpPr>
        <p:spPr>
          <a:xfrm>
            <a:off x="1770104" y="5008989"/>
            <a:ext cx="220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MEET CHEWEY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AAC91B5-87D4-00F2-0E5F-78212EE7B0B9}"/>
              </a:ext>
            </a:extLst>
          </p:cNvPr>
          <p:cNvSpPr/>
          <p:nvPr/>
        </p:nvSpPr>
        <p:spPr>
          <a:xfrm>
            <a:off x="4011802" y="491515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2E9A0E57-D632-29F4-0FD1-7C3E68278FC0}"/>
              </a:ext>
            </a:extLst>
          </p:cNvPr>
          <p:cNvSpPr/>
          <p:nvPr/>
        </p:nvSpPr>
        <p:spPr>
          <a:xfrm>
            <a:off x="6654908" y="2700673"/>
            <a:ext cx="2691111" cy="1453691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Picture 12" descr="A dog with its mouth open&#10;&#10;Description automatically generated">
            <a:extLst>
              <a:ext uri="{FF2B5EF4-FFF2-40B4-BE49-F238E27FC236}">
                <a16:creationId xmlns:a16="http://schemas.microsoft.com/office/drawing/2014/main" id="{FBB081C0-0E97-FFD9-D7DE-C5ABA6230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663" y="2873952"/>
            <a:ext cx="1392402" cy="111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1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BE0A-9326-1168-D720-EA2ACC47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Online shopping fraud</a:t>
            </a:r>
          </a:p>
        </p:txBody>
      </p:sp>
      <p:pic>
        <p:nvPicPr>
          <p:cNvPr id="5" name="Content Placeholder 4" descr="A screenshot of a chat&#10;&#10;Description automatically generated">
            <a:extLst>
              <a:ext uri="{FF2B5EF4-FFF2-40B4-BE49-F238E27FC236}">
                <a16:creationId xmlns:a16="http://schemas.microsoft.com/office/drawing/2014/main" id="{DEE4365B-A8AB-11EB-0EAA-C73ADF620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922" y="1508952"/>
            <a:ext cx="8130362" cy="4888230"/>
          </a:xfrm>
        </p:spPr>
      </p:pic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3269260E-908E-3456-3FDF-BD74BB06B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284" y="1217748"/>
            <a:ext cx="4720856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5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3C96-3AAD-8EA1-733F-FF8B62C9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Email scams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617631B-7611-9CD8-6D18-94930EC57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859" y="1526843"/>
            <a:ext cx="6727686" cy="5054710"/>
          </a:xfrm>
        </p:spPr>
      </p:pic>
    </p:spTree>
    <p:extLst>
      <p:ext uri="{BB962C8B-B14F-4D97-AF65-F5344CB8AC3E}">
        <p14:creationId xmlns:p14="http://schemas.microsoft.com/office/powerpoint/2010/main" val="2788004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E414-AF6B-C64C-1A4C-0C9CD5B9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3063875"/>
          </a:xfrm>
        </p:spPr>
        <p:txBody>
          <a:bodyPr/>
          <a:lstStyle/>
          <a:p>
            <a:r>
              <a:rPr lang="en-CA" dirty="0"/>
              <a:t>What will happen when fraudsters start really working with AI?</a:t>
            </a:r>
          </a:p>
        </p:txBody>
      </p:sp>
      <p:pic>
        <p:nvPicPr>
          <p:cNvPr id="5" name="Content Placeholder 4" descr="A document with a pen and a blue pen&#10;&#10;Description automatically generated with medium confidence">
            <a:extLst>
              <a:ext uri="{FF2B5EF4-FFF2-40B4-BE49-F238E27FC236}">
                <a16:creationId xmlns:a16="http://schemas.microsoft.com/office/drawing/2014/main" id="{AE43E1E3-45C1-AB14-A972-FF28C4E7C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60" y="222254"/>
            <a:ext cx="4787666" cy="6629077"/>
          </a:xfrm>
        </p:spPr>
      </p:pic>
    </p:spTree>
    <p:extLst>
      <p:ext uri="{BB962C8B-B14F-4D97-AF65-F5344CB8AC3E}">
        <p14:creationId xmlns:p14="http://schemas.microsoft.com/office/powerpoint/2010/main" val="3766775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C546-6CB4-BCB4-2D03-7516C5AF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Online romance scams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1299-035A-02FD-026E-97118FB56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from someone who is a psychologist. In other words, highly educated, rational person. 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FA1DF2C-F0AA-2555-3B9E-514638AB3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90" y="2892056"/>
            <a:ext cx="9771588" cy="293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04C7-AD58-D3E7-B950-B5D5A3A5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common theory of romance scams:</a:t>
            </a:r>
          </a:p>
        </p:txBody>
      </p:sp>
      <p:pic>
        <p:nvPicPr>
          <p:cNvPr id="5" name="Content Placeholder 4" descr="A screenshot of a chat&#10;&#10;Description automatically generated">
            <a:extLst>
              <a:ext uri="{FF2B5EF4-FFF2-40B4-BE49-F238E27FC236}">
                <a16:creationId xmlns:a16="http://schemas.microsoft.com/office/drawing/2014/main" id="{0104039B-D324-46F3-B892-0FB935289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32" y="1500096"/>
            <a:ext cx="10802679" cy="5530713"/>
          </a:xfrm>
        </p:spPr>
      </p:pic>
    </p:spTree>
    <p:extLst>
      <p:ext uri="{BB962C8B-B14F-4D97-AF65-F5344CB8AC3E}">
        <p14:creationId xmlns:p14="http://schemas.microsoft.com/office/powerpoint/2010/main" val="2488824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D46A-0A72-9C11-2341-51A40DBF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pPr algn="ctr"/>
            <a:r>
              <a:rPr lang="en-CA" dirty="0"/>
              <a:t>How do people get sucked in?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6CC8-51C3-BDAD-8E98-5EB1BD338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479"/>
            <a:ext cx="10515600" cy="529139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Some very common cognitive biases:</a:t>
            </a:r>
          </a:p>
          <a:p>
            <a:r>
              <a:rPr lang="en-CA" b="1" dirty="0">
                <a:solidFill>
                  <a:srgbClr val="00B050"/>
                </a:solidFill>
              </a:rPr>
              <a:t>Priming bias</a:t>
            </a:r>
            <a:r>
              <a:rPr lang="en-CA" dirty="0"/>
              <a:t>: the tendency to be influenced by our first exposure to an individual/issue, etc. </a:t>
            </a:r>
          </a:p>
          <a:p>
            <a:r>
              <a:rPr lang="en-CA" b="1" dirty="0">
                <a:solidFill>
                  <a:srgbClr val="FF0000"/>
                </a:solidFill>
              </a:rPr>
              <a:t>Cognitive dissonance</a:t>
            </a:r>
            <a:r>
              <a:rPr lang="en-CA" dirty="0"/>
              <a:t>: when individuals encounter inconsistencies in relation to something in which they believe, they make search for information that reconfirms their views</a:t>
            </a:r>
          </a:p>
          <a:p>
            <a:r>
              <a:rPr lang="en-CA" b="1" dirty="0">
                <a:solidFill>
                  <a:schemeClr val="accent5">
                    <a:lumMod val="75000"/>
                  </a:schemeClr>
                </a:solidFill>
              </a:rPr>
              <a:t>Confirmation bias</a:t>
            </a:r>
            <a:r>
              <a:rPr lang="en-CA" dirty="0"/>
              <a:t>: tendency to interpret information in a way that confirms our existing opinions</a:t>
            </a:r>
          </a:p>
          <a:p>
            <a:r>
              <a:rPr lang="en-CA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Affinity bias</a:t>
            </a:r>
            <a:r>
              <a:rPr lang="en-CA" dirty="0"/>
              <a:t>: we tend to be biased by individuals who seem most like us</a:t>
            </a:r>
          </a:p>
          <a:p>
            <a:r>
              <a:rPr lang="en-CA" b="1" dirty="0">
                <a:solidFill>
                  <a:srgbClr val="FFFF00"/>
                </a:solidFill>
              </a:rPr>
              <a:t>Status quo bias</a:t>
            </a:r>
            <a:r>
              <a:rPr lang="en-CA" dirty="0"/>
              <a:t>: preferring the status quo to a different choice that might lead to a loss. </a:t>
            </a:r>
          </a:p>
        </p:txBody>
      </p:sp>
    </p:spTree>
    <p:extLst>
      <p:ext uri="{BB962C8B-B14F-4D97-AF65-F5344CB8AC3E}">
        <p14:creationId xmlns:p14="http://schemas.microsoft.com/office/powerpoint/2010/main" val="4187834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E6E3-7EED-F9CC-5306-E4AFD632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An interesting idea romance scams: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0175B-A319-1555-6DE9-86A446354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335"/>
            <a:ext cx="10515600" cy="3051544"/>
          </a:xfrm>
        </p:spPr>
        <p:txBody>
          <a:bodyPr/>
          <a:lstStyle/>
          <a:p>
            <a:r>
              <a:rPr lang="en-CA" b="1" dirty="0" err="1">
                <a:solidFill>
                  <a:srgbClr val="00B050"/>
                </a:solidFill>
              </a:rPr>
              <a:t>Altercasting</a:t>
            </a:r>
            <a:r>
              <a:rPr lang="en-CA" dirty="0"/>
              <a:t>: is a persuasion technique whereby the scammer projects a highly desirable identity onto their victim, who accepts the new identity. This helps to “prime” a victim’s behaviours.</a:t>
            </a:r>
          </a:p>
          <a:p>
            <a:endParaRPr lang="en-CA" dirty="0"/>
          </a:p>
          <a:p>
            <a:r>
              <a:rPr lang="en-CA" dirty="0"/>
              <a:t>For example: if Detective Huey uses his considerable powers of charm to convince me that I am a sweet, demure, fragile flower of femininity (</a:t>
            </a:r>
            <a:r>
              <a:rPr lang="en-CA" dirty="0" err="1"/>
              <a:t>bwahahahaha</a:t>
            </a:r>
            <a:r>
              <a:rPr lang="en-CA" dirty="0"/>
              <a:t>!!!), I might believe it and act accordingly.</a:t>
            </a:r>
          </a:p>
        </p:txBody>
      </p:sp>
      <p:pic>
        <p:nvPicPr>
          <p:cNvPr id="5" name="Picture 4" descr="A person with her mouth open&#10;&#10;Description automatically generated">
            <a:extLst>
              <a:ext uri="{FF2B5EF4-FFF2-40B4-BE49-F238E27FC236}">
                <a16:creationId xmlns:a16="http://schemas.microsoft.com/office/drawing/2014/main" id="{C34EC341-69A5-3923-EA8A-6569E70F8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73" y="4502029"/>
            <a:ext cx="2895749" cy="2355971"/>
          </a:xfrm>
          <a:prstGeom prst="rect">
            <a:avLst/>
          </a:prstGeom>
        </p:spPr>
      </p:pic>
      <p:pic>
        <p:nvPicPr>
          <p:cNvPr id="7" name="Picture 6" descr="A person in a pink dress surrounded by flowers&#10;&#10;Description automatically generated">
            <a:extLst>
              <a:ext uri="{FF2B5EF4-FFF2-40B4-BE49-F238E27FC236}">
                <a16:creationId xmlns:a16="http://schemas.microsoft.com/office/drawing/2014/main" id="{5F0A2CE1-53B3-6B06-CB43-2EDE85ADF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817" y="4588120"/>
            <a:ext cx="3562533" cy="2140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394BDD-6237-5E40-A9C3-F35FCCD04693}"/>
              </a:ext>
            </a:extLst>
          </p:cNvPr>
          <p:cNvSpPr txBox="1"/>
          <p:nvPr/>
        </p:nvSpPr>
        <p:spPr>
          <a:xfrm>
            <a:off x="329609" y="4944140"/>
            <a:ext cx="150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BEFORE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01007-4E5E-BF41-90FD-0023CF3D874F}"/>
              </a:ext>
            </a:extLst>
          </p:cNvPr>
          <p:cNvSpPr txBox="1"/>
          <p:nvPr/>
        </p:nvSpPr>
        <p:spPr>
          <a:xfrm>
            <a:off x="5745125" y="5161256"/>
            <a:ext cx="1616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CCFF"/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14893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2D15-3C4B-EED0-D30E-49DEF472E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Dickinson Wang (2024) study of “</a:t>
            </a:r>
            <a:r>
              <a:rPr lang="en-CA" dirty="0" err="1"/>
              <a:t>altercasting</a:t>
            </a:r>
            <a:r>
              <a:rPr lang="en-CA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4F2BA-66E3-ACE4-BBC0-694A9370E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They used data collected from a series of e-mail exchanges with 87 online romance fraudsters. To locate the fraudsters, we they used reports from stop-scammers.com. 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8274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5DCE9-9DB9-58C8-A736-4A6033840959}"/>
              </a:ext>
            </a:extLst>
          </p:cNvPr>
          <p:cNvSpPr txBox="1"/>
          <p:nvPr/>
        </p:nvSpPr>
        <p:spPr>
          <a:xfrm>
            <a:off x="487326" y="563526"/>
            <a:ext cx="1121734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The online romance fraudsters in their study attempted to persuade potential victims into </a:t>
            </a:r>
            <a:r>
              <a:rPr lang="en-CA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neutralizing</a:t>
            </a:r>
            <a:r>
              <a:rPr lang="en-CA" sz="2800" dirty="0"/>
              <a:t> misgivings about sending money in the following inter-related ways:</a:t>
            </a:r>
          </a:p>
          <a:p>
            <a:r>
              <a:rPr lang="en-CA" sz="2800" dirty="0"/>
              <a:t> </a:t>
            </a:r>
          </a:p>
          <a:p>
            <a:pPr marL="514350" indent="-514350">
              <a:buAutoNum type="arabicPeriod"/>
            </a:pPr>
            <a:r>
              <a:rPr lang="en-CA" sz="2800" dirty="0"/>
              <a:t>neutralize victim misgivings by reframing the act of sending $$ as one that is necessary to address fraudsters’ needs (</a:t>
            </a:r>
            <a:r>
              <a:rPr lang="en-CA" sz="2800" dirty="0" err="1"/>
              <a:t>altercasting</a:t>
            </a:r>
            <a:r>
              <a:rPr lang="en-CA" sz="2800" dirty="0"/>
              <a:t> victims as ‘caring’, ‘supportive’)</a:t>
            </a:r>
          </a:p>
          <a:p>
            <a:pPr marL="514350" indent="-514350">
              <a:buAutoNum type="arabicPeriod"/>
            </a:pPr>
            <a:r>
              <a:rPr lang="en-CA" sz="2800" dirty="0"/>
              <a:t>recast the nature of their relationship from one that is potentially suspect to one that is romantic (victims </a:t>
            </a:r>
            <a:r>
              <a:rPr lang="en-CA" sz="2800" dirty="0" err="1"/>
              <a:t>altercast</a:t>
            </a:r>
            <a:r>
              <a:rPr lang="en-CA" sz="2800" dirty="0"/>
              <a:t> into the role of ‘romantic partner’)</a:t>
            </a:r>
          </a:p>
          <a:p>
            <a:pPr marL="514350" indent="-514350">
              <a:buAutoNum type="arabicPeriod"/>
            </a:pPr>
            <a:r>
              <a:rPr lang="en-CA" sz="2800" dirty="0"/>
              <a:t>Use language in their communications that could </a:t>
            </a:r>
            <a:r>
              <a:rPr lang="en-CA" sz="2800" dirty="0" err="1"/>
              <a:t>altercast</a:t>
            </a:r>
            <a:r>
              <a:rPr lang="en-CA" sz="2800" dirty="0"/>
              <a:t> victims into identities wherein sending money may be seen as less risky or as the morally correct thing to do. </a:t>
            </a:r>
          </a:p>
        </p:txBody>
      </p:sp>
    </p:spTree>
    <p:extLst>
      <p:ext uri="{BB962C8B-B14F-4D97-AF65-F5344CB8AC3E}">
        <p14:creationId xmlns:p14="http://schemas.microsoft.com/office/powerpoint/2010/main" val="3656993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B9C8-C1AC-AD91-5AB4-F6219250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 descr="A person holding a heart and a couple of people&#10;&#10;Description automatically generated">
            <a:extLst>
              <a:ext uri="{FF2B5EF4-FFF2-40B4-BE49-F238E27FC236}">
                <a16:creationId xmlns:a16="http://schemas.microsoft.com/office/drawing/2014/main" id="{53B3B0F7-9EDA-8108-4982-B39D30612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577" y="0"/>
            <a:ext cx="8091376" cy="6720112"/>
          </a:xfrm>
        </p:spPr>
      </p:pic>
    </p:spTree>
    <p:extLst>
      <p:ext uri="{BB962C8B-B14F-4D97-AF65-F5344CB8AC3E}">
        <p14:creationId xmlns:p14="http://schemas.microsoft.com/office/powerpoint/2010/main" val="1259052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3024-259D-486A-B437-25C9A246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/>
              <a:t>*all done!*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6F011-9408-41AF-A555-85D493F20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141" y="1825625"/>
            <a:ext cx="3729718" cy="4351338"/>
          </a:xfrm>
        </p:spPr>
      </p:pic>
    </p:spTree>
    <p:extLst>
      <p:ext uri="{BB962C8B-B14F-4D97-AF65-F5344CB8AC3E}">
        <p14:creationId xmlns:p14="http://schemas.microsoft.com/office/powerpoint/2010/main" val="84744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1017</Words>
  <Application>Microsoft Office PowerPoint</Application>
  <PresentationFormat>宽屏</PresentationFormat>
  <Paragraphs>80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Theme</vt:lpstr>
      <vt:lpstr>Frauds</vt:lpstr>
      <vt:lpstr>What is fraud? </vt:lpstr>
      <vt:lpstr>Canadian Fraud Centre (5 months of data)</vt:lpstr>
      <vt:lpstr>Early thinking on fraud focused on white collar crime</vt:lpstr>
      <vt:lpstr>Of these, victimization is most clearly linked to “opportunity” (sound familiar?)</vt:lpstr>
      <vt:lpstr>A-B-C model (Ramamoorti 2009)</vt:lpstr>
      <vt:lpstr>More recent academic theories of fraud victimization</vt:lpstr>
      <vt:lpstr>How do people get deceived? </vt:lpstr>
      <vt:lpstr>How does ? </vt:lpstr>
      <vt:lpstr>Non-academic explanations</vt:lpstr>
      <vt:lpstr>What is Dunning-Kruger? </vt:lpstr>
      <vt:lpstr>Online shopping fraud</vt:lpstr>
      <vt:lpstr>Email scams </vt:lpstr>
      <vt:lpstr>What will happen when fraudsters start really working with AI?</vt:lpstr>
      <vt:lpstr>Online romance scams</vt:lpstr>
      <vt:lpstr>A common theory of romance scams:</vt:lpstr>
      <vt:lpstr>How do people get sucked in? </vt:lpstr>
      <vt:lpstr>An interesting idea romance scams:</vt:lpstr>
      <vt:lpstr>Dickinson Wang (2024) study of “altercasting”</vt:lpstr>
      <vt:lpstr>PowerPoint 演示文稿</vt:lpstr>
      <vt:lpstr>PowerPoint 演示文稿</vt:lpstr>
      <vt:lpstr>*all done!*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Huey</dc:creator>
  <cp:lastModifiedBy>Laura Huey</cp:lastModifiedBy>
  <cp:revision>31</cp:revision>
  <dcterms:created xsi:type="dcterms:W3CDTF">2024-06-17T16:35:02Z</dcterms:created>
  <dcterms:modified xsi:type="dcterms:W3CDTF">2026-04-01T22:14:53Z</dcterms:modified>
</cp:coreProperties>
</file>