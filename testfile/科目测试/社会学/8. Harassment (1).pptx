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76" r:id="rId5"/>
    <p:sldId id="259" r:id="rId6"/>
    <p:sldId id="263" r:id="rId7"/>
    <p:sldId id="260" r:id="rId8"/>
    <p:sldId id="261" r:id="rId9"/>
    <p:sldId id="264" r:id="rId10"/>
    <p:sldId id="265" r:id="rId11"/>
    <p:sldId id="344" r:id="rId12"/>
    <p:sldId id="266" r:id="rId13"/>
    <p:sldId id="270" r:id="rId14"/>
    <p:sldId id="269" r:id="rId15"/>
    <p:sldId id="268" r:id="rId16"/>
    <p:sldId id="271" r:id="rId17"/>
    <p:sldId id="267" r:id="rId18"/>
    <p:sldId id="275" r:id="rId19"/>
    <p:sldId id="272" r:id="rId20"/>
    <p:sldId id="273" r:id="rId21"/>
    <p:sldId id="274" r:id="rId22"/>
    <p:sldId id="34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22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DEE46-04A9-5A88-3D72-BEAD9D1F5A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FBB48C2-EE49-3273-B619-BF6FEB496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1121549-9B70-188C-8EDC-B87A19158330}"/>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5" name="Footer Placeholder 4">
            <a:extLst>
              <a:ext uri="{FF2B5EF4-FFF2-40B4-BE49-F238E27FC236}">
                <a16:creationId xmlns:a16="http://schemas.microsoft.com/office/drawing/2014/main" id="{9F223FE9-351D-A2F2-92AA-5139A82D4BE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30BF8AE-8D0D-C384-71E2-774212AE16A0}"/>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1320901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95B3-75D3-F765-285B-8F8370752C8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753ECFD-CE19-F76E-7EF1-A4D92CF139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57BB62C-40E3-DE1F-FAEC-27DB11793328}"/>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5" name="Footer Placeholder 4">
            <a:extLst>
              <a:ext uri="{FF2B5EF4-FFF2-40B4-BE49-F238E27FC236}">
                <a16:creationId xmlns:a16="http://schemas.microsoft.com/office/drawing/2014/main" id="{1202059A-8C66-0CA0-4860-A69E47D5CB7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C9C5245-A15D-32C0-9CC0-64B1916B9439}"/>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2473685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16C8E-7FA6-7B4D-75F7-735BD31C85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28C5ECC-37D0-A3C2-45C5-2D10E6C11E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E229CE-3BF8-7F96-4F08-3351D188A05F}"/>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5" name="Footer Placeholder 4">
            <a:extLst>
              <a:ext uri="{FF2B5EF4-FFF2-40B4-BE49-F238E27FC236}">
                <a16:creationId xmlns:a16="http://schemas.microsoft.com/office/drawing/2014/main" id="{96314ED3-72CF-1900-B0D3-1DA4DD9F749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AAE6243-1B99-6D95-1805-CF2B4ACF5812}"/>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3650320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323B-18AD-A8BF-99CA-F68A0ED14CD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24CB258-CA32-E03B-B3A0-E5FCE85FBA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DEC5C8C-4821-F0E8-9070-1A4FB2266E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43797C7-9FE8-7E25-FE6A-5DE84C5B24B1}"/>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6" name="Footer Placeholder 5">
            <a:extLst>
              <a:ext uri="{FF2B5EF4-FFF2-40B4-BE49-F238E27FC236}">
                <a16:creationId xmlns:a16="http://schemas.microsoft.com/office/drawing/2014/main" id="{8560294C-EB0A-B605-2041-9912007F4CE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82679CD-5371-C54F-3D9F-02B6C766CE69}"/>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3115320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5D289-B7F5-72EA-1139-EB5A1930A223}"/>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6A9C48C-9E70-9194-52F8-8A2759B575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E57C8F-2342-093C-3C10-9BF0B3521C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D74FD40-7F21-4702-656D-4BC3FF5F1F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7C2701-BB22-643B-5A02-E10ABAE002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4578C85-45D2-B997-B256-4FF191EF8E85}"/>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8" name="Footer Placeholder 7">
            <a:extLst>
              <a:ext uri="{FF2B5EF4-FFF2-40B4-BE49-F238E27FC236}">
                <a16:creationId xmlns:a16="http://schemas.microsoft.com/office/drawing/2014/main" id="{785C4E29-F3A0-BB62-7273-77A6EA1C716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2B207FD8-7275-C77B-3CA4-E2E6AF1789E7}"/>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1437980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170F4-E92E-022D-79E5-A58846464A0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E4AC6D5-6ECA-805B-6964-9D0200668D31}"/>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4" name="Footer Placeholder 3">
            <a:extLst>
              <a:ext uri="{FF2B5EF4-FFF2-40B4-BE49-F238E27FC236}">
                <a16:creationId xmlns:a16="http://schemas.microsoft.com/office/drawing/2014/main" id="{A44C7DDE-9011-07ED-7792-FB685DFCD1B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4336B73-0C83-A5BE-3159-D5AC3D546C1F}"/>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2439497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392649-61E9-1092-B890-3DB8FF152A81}"/>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3" name="Footer Placeholder 2">
            <a:extLst>
              <a:ext uri="{FF2B5EF4-FFF2-40B4-BE49-F238E27FC236}">
                <a16:creationId xmlns:a16="http://schemas.microsoft.com/office/drawing/2014/main" id="{F189C0B1-D599-2B82-E900-E7D10D7868E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88F086F-88F3-143B-DD02-31871918E351}"/>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2973764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5380F-13F9-208D-5D00-BD780B98CE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CDDF03C-B9AF-26A6-872C-94BF239730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87DDFE5-600C-83A4-46BC-959B01F501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C53C66-BE1F-76FF-250A-AF73AEC26AB9}"/>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6" name="Footer Placeholder 5">
            <a:extLst>
              <a:ext uri="{FF2B5EF4-FFF2-40B4-BE49-F238E27FC236}">
                <a16:creationId xmlns:a16="http://schemas.microsoft.com/office/drawing/2014/main" id="{F9BBD3DD-3C9A-D240-E6B0-D39051D32F7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4A95C3C-BC82-4DD4-DB33-4A45FDA9B132}"/>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97937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FEDF2-A9B7-1F8E-3577-26BDE610FF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F033F622-3E2D-188E-EF50-1AB5116D6F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EA320DCF-37CB-8917-7DBB-67A56BC4B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CC06BB-7E8A-0249-856E-7D08A06C3AAA}"/>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6" name="Footer Placeholder 5">
            <a:extLst>
              <a:ext uri="{FF2B5EF4-FFF2-40B4-BE49-F238E27FC236}">
                <a16:creationId xmlns:a16="http://schemas.microsoft.com/office/drawing/2014/main" id="{EE767E90-635C-1C5B-4A81-FA4DAA63249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0D668CD-6AB8-0960-6E02-9D524151B7CE}"/>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1399660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65B6-F0F7-77D3-7232-A5AE93C4D1F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3DC4134-F137-50E4-83C9-7548978649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2CCA5C7-080C-D038-DA11-BC1530951F69}"/>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5" name="Footer Placeholder 4">
            <a:extLst>
              <a:ext uri="{FF2B5EF4-FFF2-40B4-BE49-F238E27FC236}">
                <a16:creationId xmlns:a16="http://schemas.microsoft.com/office/drawing/2014/main" id="{86F30CBA-990A-3AFB-42ED-9240F3D12BD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7738C4F-90A3-2794-01C6-8B45A29CE7FA}"/>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1438480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9F0491-322A-01FF-E149-CF29820E3C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3249F8F-8AA3-E781-0C20-C80FAEB7C1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81459F7-180A-9D72-5A19-6A873A0AFCC0}"/>
              </a:ext>
            </a:extLst>
          </p:cNvPr>
          <p:cNvSpPr>
            <a:spLocks noGrp="1"/>
          </p:cNvSpPr>
          <p:nvPr>
            <p:ph type="dt" sz="half" idx="10"/>
          </p:nvPr>
        </p:nvSpPr>
        <p:spPr/>
        <p:txBody>
          <a:bodyPr/>
          <a:lstStyle/>
          <a:p>
            <a:fld id="{39CECE9C-86C9-4A11-85CE-654805671B8E}" type="datetimeFigureOut">
              <a:rPr lang="en-CA" smtClean="0"/>
              <a:t>2026-04-01</a:t>
            </a:fld>
            <a:endParaRPr lang="en-CA"/>
          </a:p>
        </p:txBody>
      </p:sp>
      <p:sp>
        <p:nvSpPr>
          <p:cNvPr id="5" name="Footer Placeholder 4">
            <a:extLst>
              <a:ext uri="{FF2B5EF4-FFF2-40B4-BE49-F238E27FC236}">
                <a16:creationId xmlns:a16="http://schemas.microsoft.com/office/drawing/2014/main" id="{E43BEF7C-9B6B-4BD9-299E-38EC5D6E491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D80BBA1-AA41-1792-47D9-5DAC00D11E27}"/>
              </a:ext>
            </a:extLst>
          </p:cNvPr>
          <p:cNvSpPr>
            <a:spLocks noGrp="1"/>
          </p:cNvSpPr>
          <p:nvPr>
            <p:ph type="sldNum" sz="quarter" idx="12"/>
          </p:nvPr>
        </p:nvSpPr>
        <p:spPr/>
        <p:txBody>
          <a:bodyPr/>
          <a:lstStyle/>
          <a:p>
            <a:fld id="{D484CCDE-514D-4DB2-BC95-D42B0A79E8A5}" type="slidenum">
              <a:rPr lang="en-CA" smtClean="0"/>
              <a:t>‹#›</a:t>
            </a:fld>
            <a:endParaRPr lang="en-CA"/>
          </a:p>
        </p:txBody>
      </p:sp>
    </p:spTree>
    <p:extLst>
      <p:ext uri="{BB962C8B-B14F-4D97-AF65-F5344CB8AC3E}">
        <p14:creationId xmlns:p14="http://schemas.microsoft.com/office/powerpoint/2010/main" val="520314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E5C265-5E5C-7AFF-D982-A79AD31067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3C7F39E-2509-949B-5681-F915B55443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AD8CCC5-C0F1-C7AD-3079-1C9ECF90EB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CECE9C-86C9-4A11-85CE-654805671B8E}" type="datetimeFigureOut">
              <a:rPr lang="en-CA" smtClean="0"/>
              <a:t>2026-04-01</a:t>
            </a:fld>
            <a:endParaRPr lang="en-CA"/>
          </a:p>
        </p:txBody>
      </p:sp>
      <p:sp>
        <p:nvSpPr>
          <p:cNvPr id="5" name="Footer Placeholder 4">
            <a:extLst>
              <a:ext uri="{FF2B5EF4-FFF2-40B4-BE49-F238E27FC236}">
                <a16:creationId xmlns:a16="http://schemas.microsoft.com/office/drawing/2014/main" id="{1B792245-4DD2-FA77-147F-16FBAC316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B62FF8C6-1781-57F2-BD6C-D07E9BA50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84CCDE-514D-4DB2-BC95-D42B0A79E8A5}" type="slidenum">
              <a:rPr lang="en-CA" smtClean="0"/>
              <a:t>‹#›</a:t>
            </a:fld>
            <a:endParaRPr lang="en-CA"/>
          </a:p>
        </p:txBody>
      </p:sp>
    </p:spTree>
    <p:extLst>
      <p:ext uri="{BB962C8B-B14F-4D97-AF65-F5344CB8AC3E}">
        <p14:creationId xmlns:p14="http://schemas.microsoft.com/office/powerpoint/2010/main" val="967722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C52D-2277-FBD6-7F53-2DBA7EA8939D}"/>
              </a:ext>
            </a:extLst>
          </p:cNvPr>
          <p:cNvSpPr>
            <a:spLocks noGrp="1"/>
          </p:cNvSpPr>
          <p:nvPr>
            <p:ph type="ctrTitle"/>
          </p:nvPr>
        </p:nvSpPr>
        <p:spPr>
          <a:xfrm>
            <a:off x="1524000" y="542261"/>
            <a:ext cx="9144000" cy="1201480"/>
          </a:xfrm>
        </p:spPr>
        <p:txBody>
          <a:bodyPr>
            <a:normAutofit/>
          </a:bodyPr>
          <a:lstStyle/>
          <a:p>
            <a:r>
              <a:rPr lang="en-CA" dirty="0"/>
              <a:t>Harassment</a:t>
            </a:r>
          </a:p>
        </p:txBody>
      </p:sp>
      <p:sp>
        <p:nvSpPr>
          <p:cNvPr id="3" name="Subtitle 2">
            <a:extLst>
              <a:ext uri="{FF2B5EF4-FFF2-40B4-BE49-F238E27FC236}">
                <a16:creationId xmlns:a16="http://schemas.microsoft.com/office/drawing/2014/main" id="{0D5C69F3-E68E-D180-A0E3-81D679DE66AC}"/>
              </a:ext>
            </a:extLst>
          </p:cNvPr>
          <p:cNvSpPr>
            <a:spLocks noGrp="1"/>
          </p:cNvSpPr>
          <p:nvPr>
            <p:ph type="subTitle" idx="1"/>
          </p:nvPr>
        </p:nvSpPr>
        <p:spPr/>
        <p:txBody>
          <a:bodyPr/>
          <a:lstStyle/>
          <a:p>
            <a:endParaRPr lang="en-CA" dirty="0"/>
          </a:p>
        </p:txBody>
      </p:sp>
      <p:pic>
        <p:nvPicPr>
          <p:cNvPr id="5" name="Picture 4" descr="A person holding a sign&#10;&#10;Description automatically generated">
            <a:extLst>
              <a:ext uri="{FF2B5EF4-FFF2-40B4-BE49-F238E27FC236}">
                <a16:creationId xmlns:a16="http://schemas.microsoft.com/office/drawing/2014/main" id="{177F18A8-3233-84BE-D4B1-56E95C02C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5851" y="2006769"/>
            <a:ext cx="6475228" cy="4308970"/>
          </a:xfrm>
          <a:prstGeom prst="rect">
            <a:avLst/>
          </a:prstGeom>
        </p:spPr>
      </p:pic>
    </p:spTree>
    <p:extLst>
      <p:ext uri="{BB962C8B-B14F-4D97-AF65-F5344CB8AC3E}">
        <p14:creationId xmlns:p14="http://schemas.microsoft.com/office/powerpoint/2010/main" val="1496423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9AB87-D253-0E13-E2E8-841CD1655340}"/>
              </a:ext>
            </a:extLst>
          </p:cNvPr>
          <p:cNvSpPr>
            <a:spLocks noGrp="1"/>
          </p:cNvSpPr>
          <p:nvPr>
            <p:ph type="title"/>
          </p:nvPr>
        </p:nvSpPr>
        <p:spPr>
          <a:xfrm>
            <a:off x="838200" y="116959"/>
            <a:ext cx="10515600" cy="914400"/>
          </a:xfrm>
        </p:spPr>
        <p:txBody>
          <a:bodyPr>
            <a:normAutofit/>
          </a:bodyPr>
          <a:lstStyle/>
          <a:p>
            <a:pPr algn="ctr"/>
            <a:r>
              <a:rPr lang="en-CA" dirty="0"/>
              <a:t>Harassment vs. Criminal Harassment</a:t>
            </a:r>
          </a:p>
        </p:txBody>
      </p:sp>
      <p:sp>
        <p:nvSpPr>
          <p:cNvPr id="3" name="Content Placeholder 2">
            <a:extLst>
              <a:ext uri="{FF2B5EF4-FFF2-40B4-BE49-F238E27FC236}">
                <a16:creationId xmlns:a16="http://schemas.microsoft.com/office/drawing/2014/main" id="{68934DFB-8D26-E8F0-2A03-1AD6F7B37A41}"/>
              </a:ext>
            </a:extLst>
          </p:cNvPr>
          <p:cNvSpPr>
            <a:spLocks noGrp="1"/>
          </p:cNvSpPr>
          <p:nvPr>
            <p:ph idx="1"/>
          </p:nvPr>
        </p:nvSpPr>
        <p:spPr>
          <a:xfrm>
            <a:off x="838200" y="1180214"/>
            <a:ext cx="10515600" cy="4890535"/>
          </a:xfrm>
        </p:spPr>
        <p:txBody>
          <a:bodyPr/>
          <a:lstStyle/>
          <a:p>
            <a:r>
              <a:rPr lang="en-CA" dirty="0"/>
              <a:t>Harassment: aggressive pressure and/or intimidation (OED)</a:t>
            </a:r>
          </a:p>
          <a:p>
            <a:endParaRPr lang="en-CA" dirty="0"/>
          </a:p>
          <a:p>
            <a:r>
              <a:rPr lang="en-CA" dirty="0"/>
              <a:t>Criminal Harassment: </a:t>
            </a:r>
          </a:p>
        </p:txBody>
      </p:sp>
      <p:pic>
        <p:nvPicPr>
          <p:cNvPr id="5" name="Picture 4" descr="A screenshot of a computer&#10;&#10;Description automatically generated">
            <a:extLst>
              <a:ext uri="{FF2B5EF4-FFF2-40B4-BE49-F238E27FC236}">
                <a16:creationId xmlns:a16="http://schemas.microsoft.com/office/drawing/2014/main" id="{29E9B852-DD7A-7A4D-AF9E-C94821FB27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1889" y="2701523"/>
            <a:ext cx="9436362" cy="4039518"/>
          </a:xfrm>
          <a:prstGeom prst="rect">
            <a:avLst/>
          </a:prstGeom>
        </p:spPr>
      </p:pic>
    </p:spTree>
    <p:extLst>
      <p:ext uri="{BB962C8B-B14F-4D97-AF65-F5344CB8AC3E}">
        <p14:creationId xmlns:p14="http://schemas.microsoft.com/office/powerpoint/2010/main" val="2846659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467F5-16C2-C49B-F9AB-DE66273CE475}"/>
              </a:ext>
            </a:extLst>
          </p:cNvPr>
          <p:cNvSpPr>
            <a:spLocks noGrp="1"/>
          </p:cNvSpPr>
          <p:nvPr>
            <p:ph type="title"/>
          </p:nvPr>
        </p:nvSpPr>
        <p:spPr/>
        <p:txBody>
          <a:bodyPr/>
          <a:lstStyle/>
          <a:p>
            <a:pPr algn="ctr"/>
            <a:r>
              <a:rPr lang="en-CA" b="1" dirty="0"/>
              <a:t>Different types of harassment</a:t>
            </a:r>
          </a:p>
        </p:txBody>
      </p:sp>
      <p:sp>
        <p:nvSpPr>
          <p:cNvPr id="3" name="Content Placeholder 2">
            <a:extLst>
              <a:ext uri="{FF2B5EF4-FFF2-40B4-BE49-F238E27FC236}">
                <a16:creationId xmlns:a16="http://schemas.microsoft.com/office/drawing/2014/main" id="{4B754866-BA51-27C6-8747-41AC31EB8C3F}"/>
              </a:ext>
            </a:extLst>
          </p:cNvPr>
          <p:cNvSpPr>
            <a:spLocks noGrp="1"/>
          </p:cNvSpPr>
          <p:nvPr>
            <p:ph idx="1"/>
          </p:nvPr>
        </p:nvSpPr>
        <p:spPr/>
        <p:txBody>
          <a:bodyPr/>
          <a:lstStyle/>
          <a:p>
            <a:r>
              <a:rPr lang="en-CA" dirty="0"/>
              <a:t>Intimate partner/dating</a:t>
            </a:r>
          </a:p>
          <a:p>
            <a:r>
              <a:rPr lang="en-CA" dirty="0"/>
              <a:t>Acquaintance</a:t>
            </a:r>
          </a:p>
          <a:p>
            <a:r>
              <a:rPr lang="en-CA" dirty="0"/>
              <a:t>Stranger</a:t>
            </a:r>
          </a:p>
          <a:p>
            <a:endParaRPr lang="en-CA" dirty="0"/>
          </a:p>
        </p:txBody>
      </p:sp>
      <p:pic>
        <p:nvPicPr>
          <p:cNvPr id="5" name="Picture 4" descr="A building with purple paint on it&#10;&#10;Description automatically generated">
            <a:extLst>
              <a:ext uri="{FF2B5EF4-FFF2-40B4-BE49-F238E27FC236}">
                <a16:creationId xmlns:a16="http://schemas.microsoft.com/office/drawing/2014/main" id="{E0F05777-C4D4-E15A-10C4-87C8164B9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1799" y="2783866"/>
            <a:ext cx="5357582" cy="3000246"/>
          </a:xfrm>
          <a:prstGeom prst="rect">
            <a:avLst/>
          </a:prstGeom>
        </p:spPr>
      </p:pic>
    </p:spTree>
    <p:extLst>
      <p:ext uri="{BB962C8B-B14F-4D97-AF65-F5344CB8AC3E}">
        <p14:creationId xmlns:p14="http://schemas.microsoft.com/office/powerpoint/2010/main" val="3855726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1972-2E1B-8845-AB9B-0C214B025731}"/>
              </a:ext>
            </a:extLst>
          </p:cNvPr>
          <p:cNvSpPr>
            <a:spLocks noGrp="1"/>
          </p:cNvSpPr>
          <p:nvPr>
            <p:ph type="title"/>
          </p:nvPr>
        </p:nvSpPr>
        <p:spPr/>
        <p:txBody>
          <a:bodyPr/>
          <a:lstStyle/>
          <a:p>
            <a:endParaRPr lang="en-CA"/>
          </a:p>
        </p:txBody>
      </p:sp>
      <p:pic>
        <p:nvPicPr>
          <p:cNvPr id="5" name="Content Placeholder 4" descr="A person holding a phone&#10;&#10;Description automatically generated">
            <a:extLst>
              <a:ext uri="{FF2B5EF4-FFF2-40B4-BE49-F238E27FC236}">
                <a16:creationId xmlns:a16="http://schemas.microsoft.com/office/drawing/2014/main" id="{5F3C54FE-6D79-B61F-2E3E-6EDDBD0BB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3887" y="110658"/>
            <a:ext cx="9122736" cy="6636683"/>
          </a:xfrm>
        </p:spPr>
      </p:pic>
    </p:spTree>
    <p:extLst>
      <p:ext uri="{BB962C8B-B14F-4D97-AF65-F5344CB8AC3E}">
        <p14:creationId xmlns:p14="http://schemas.microsoft.com/office/powerpoint/2010/main" val="3676904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B14E9-95AB-DF86-BE82-17BFFFA41815}"/>
              </a:ext>
            </a:extLst>
          </p:cNvPr>
          <p:cNvSpPr>
            <a:spLocks noGrp="1"/>
          </p:cNvSpPr>
          <p:nvPr>
            <p:ph type="title"/>
          </p:nvPr>
        </p:nvSpPr>
        <p:spPr/>
        <p:txBody>
          <a:bodyPr/>
          <a:lstStyle/>
          <a:p>
            <a:r>
              <a:rPr lang="en-CA" dirty="0"/>
              <a:t>Dating-related Stalking and Harassment</a:t>
            </a:r>
            <a:br>
              <a:rPr lang="en-CA" dirty="0"/>
            </a:br>
            <a:r>
              <a:rPr lang="en-CA" sz="2400" dirty="0"/>
              <a:t>(Rothman et al. 2021)</a:t>
            </a:r>
          </a:p>
        </p:txBody>
      </p:sp>
      <p:sp>
        <p:nvSpPr>
          <p:cNvPr id="3" name="Content Placeholder 2">
            <a:extLst>
              <a:ext uri="{FF2B5EF4-FFF2-40B4-BE49-F238E27FC236}">
                <a16:creationId xmlns:a16="http://schemas.microsoft.com/office/drawing/2014/main" id="{0BE13DB4-7DEA-790B-0E70-A73DD3ABEE1E}"/>
              </a:ext>
            </a:extLst>
          </p:cNvPr>
          <p:cNvSpPr>
            <a:spLocks noGrp="1"/>
          </p:cNvSpPr>
          <p:nvPr>
            <p:ph idx="1"/>
          </p:nvPr>
        </p:nvSpPr>
        <p:spPr/>
        <p:txBody>
          <a:bodyPr/>
          <a:lstStyle/>
          <a:p>
            <a:r>
              <a:rPr lang="en-CA" dirty="0"/>
              <a:t>Youth (12-18) with dating experience were asked whether a dating partner had ever </a:t>
            </a:r>
            <a:r>
              <a:rPr lang="en-CA" b="1" dirty="0"/>
              <a:t>spied on </a:t>
            </a:r>
            <a:r>
              <a:rPr lang="en-CA" dirty="0"/>
              <a:t>or </a:t>
            </a:r>
            <a:r>
              <a:rPr lang="en-CA" b="1" dirty="0"/>
              <a:t>followed them</a:t>
            </a:r>
            <a:r>
              <a:rPr lang="en-CA" dirty="0"/>
              <a:t>, </a:t>
            </a:r>
            <a:r>
              <a:rPr lang="en-CA" b="1" dirty="0"/>
              <a:t>damaged something that belonged to them</a:t>
            </a:r>
            <a:r>
              <a:rPr lang="en-CA" dirty="0"/>
              <a:t>, or </a:t>
            </a:r>
            <a:r>
              <a:rPr lang="en-CA" b="1" dirty="0"/>
              <a:t>gone through their online accounts</a:t>
            </a:r>
            <a:r>
              <a:rPr lang="en-CA" dirty="0"/>
              <a:t>. </a:t>
            </a:r>
          </a:p>
          <a:p>
            <a:endParaRPr lang="en-CA" dirty="0"/>
          </a:p>
          <a:p>
            <a:r>
              <a:rPr lang="en-CA" dirty="0"/>
              <a:t>What they found:</a:t>
            </a:r>
          </a:p>
          <a:p>
            <a:r>
              <a:rPr lang="en-CA" dirty="0"/>
              <a:t>The prevalence of lifetime stalking and harassment victimization was </a:t>
            </a:r>
            <a:r>
              <a:rPr lang="en-CA" sz="4800" b="1" dirty="0"/>
              <a:t>48%</a:t>
            </a:r>
          </a:p>
        </p:txBody>
      </p:sp>
    </p:spTree>
    <p:extLst>
      <p:ext uri="{BB962C8B-B14F-4D97-AF65-F5344CB8AC3E}">
        <p14:creationId xmlns:p14="http://schemas.microsoft.com/office/powerpoint/2010/main" val="125346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C1AC-A79C-D4EE-AEA2-0D04FB3F4124}"/>
              </a:ext>
            </a:extLst>
          </p:cNvPr>
          <p:cNvSpPr>
            <a:spLocks noGrp="1"/>
          </p:cNvSpPr>
          <p:nvPr>
            <p:ph type="title"/>
          </p:nvPr>
        </p:nvSpPr>
        <p:spPr/>
        <p:txBody>
          <a:bodyPr/>
          <a:lstStyle/>
          <a:p>
            <a:pPr algn="ctr"/>
            <a:r>
              <a:rPr lang="en-CA" b="1" dirty="0"/>
              <a:t>Acquaintance stalking </a:t>
            </a:r>
            <a:br>
              <a:rPr lang="en-CA" b="1" dirty="0"/>
            </a:br>
            <a:r>
              <a:rPr lang="en-CA" sz="2000" dirty="0"/>
              <a:t>(Logan 2023)</a:t>
            </a:r>
          </a:p>
        </p:txBody>
      </p:sp>
      <p:sp>
        <p:nvSpPr>
          <p:cNvPr id="3" name="Content Placeholder 2">
            <a:extLst>
              <a:ext uri="{FF2B5EF4-FFF2-40B4-BE49-F238E27FC236}">
                <a16:creationId xmlns:a16="http://schemas.microsoft.com/office/drawing/2014/main" id="{9E551727-0980-C025-29DC-7BF891EDFF83}"/>
              </a:ext>
            </a:extLst>
          </p:cNvPr>
          <p:cNvSpPr>
            <a:spLocks noGrp="1"/>
          </p:cNvSpPr>
          <p:nvPr>
            <p:ph idx="1"/>
          </p:nvPr>
        </p:nvSpPr>
        <p:spPr/>
        <p:txBody>
          <a:bodyPr>
            <a:normAutofit/>
          </a:bodyPr>
          <a:lstStyle/>
          <a:p>
            <a:r>
              <a:rPr lang="en-CA" dirty="0"/>
              <a:t>A study of acquaintance stalking victims found: </a:t>
            </a:r>
          </a:p>
          <a:p>
            <a:r>
              <a:rPr lang="en-CA" dirty="0"/>
              <a:t>women who experienced online monitoring endured threats, life interference, sexual harassment, stalker jealousy, and control issues.</a:t>
            </a:r>
          </a:p>
          <a:p>
            <a:r>
              <a:rPr lang="en-CA" dirty="0"/>
              <a:t>Women who experienced online monitoring had higher fear levels, reported more problems during the stalking, and had increased resource losses compared to the other two groups. </a:t>
            </a:r>
          </a:p>
        </p:txBody>
      </p:sp>
    </p:spTree>
    <p:extLst>
      <p:ext uri="{BB962C8B-B14F-4D97-AF65-F5344CB8AC3E}">
        <p14:creationId xmlns:p14="http://schemas.microsoft.com/office/powerpoint/2010/main" val="3804086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F4ED-4D93-97E6-1264-20558F893949}"/>
              </a:ext>
            </a:extLst>
          </p:cNvPr>
          <p:cNvSpPr>
            <a:spLocks noGrp="1"/>
          </p:cNvSpPr>
          <p:nvPr>
            <p:ph type="title"/>
          </p:nvPr>
        </p:nvSpPr>
        <p:spPr/>
        <p:txBody>
          <a:bodyPr/>
          <a:lstStyle/>
          <a:p>
            <a:pPr algn="ctr"/>
            <a:r>
              <a:rPr lang="en-CA" b="1" dirty="0"/>
              <a:t>Acquaintance stalking</a:t>
            </a:r>
            <a:br>
              <a:rPr lang="en-CA" b="1" dirty="0"/>
            </a:br>
            <a:r>
              <a:rPr lang="en-CA" sz="2000" b="1" dirty="0"/>
              <a:t>(Logan and </a:t>
            </a:r>
            <a:r>
              <a:rPr lang="en-CA" sz="2000" b="1" dirty="0" err="1"/>
              <a:t>Landhuis</a:t>
            </a:r>
            <a:r>
              <a:rPr lang="en-CA" sz="2000" b="1" dirty="0"/>
              <a:t> 2023)</a:t>
            </a:r>
          </a:p>
        </p:txBody>
      </p:sp>
      <p:sp>
        <p:nvSpPr>
          <p:cNvPr id="3" name="Content Placeholder 2">
            <a:extLst>
              <a:ext uri="{FF2B5EF4-FFF2-40B4-BE49-F238E27FC236}">
                <a16:creationId xmlns:a16="http://schemas.microsoft.com/office/drawing/2014/main" id="{409FE00E-8AE2-3E72-1115-1871C85880ED}"/>
              </a:ext>
            </a:extLst>
          </p:cNvPr>
          <p:cNvSpPr>
            <a:spLocks noGrp="1"/>
          </p:cNvSpPr>
          <p:nvPr>
            <p:ph idx="1"/>
          </p:nvPr>
        </p:nvSpPr>
        <p:spPr/>
        <p:txBody>
          <a:bodyPr/>
          <a:lstStyle/>
          <a:p>
            <a:r>
              <a:rPr lang="en-CA" dirty="0"/>
              <a:t>Researchers asked acquaintance stalking victims (women) about their experiences.</a:t>
            </a:r>
          </a:p>
          <a:p>
            <a:endParaRPr lang="en-CA" dirty="0"/>
          </a:p>
          <a:p>
            <a:r>
              <a:rPr lang="en-CA" dirty="0"/>
              <a:t>Here’s what they had to say:  </a:t>
            </a:r>
          </a:p>
          <a:p>
            <a:endParaRPr lang="en-CA" dirty="0"/>
          </a:p>
        </p:txBody>
      </p:sp>
    </p:spTree>
    <p:extLst>
      <p:ext uri="{BB962C8B-B14F-4D97-AF65-F5344CB8AC3E}">
        <p14:creationId xmlns:p14="http://schemas.microsoft.com/office/powerpoint/2010/main" val="421337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29699-6DB4-F533-B7F3-20D7322756CC}"/>
              </a:ext>
            </a:extLst>
          </p:cNvPr>
          <p:cNvSpPr>
            <a:spLocks noGrp="1"/>
          </p:cNvSpPr>
          <p:nvPr>
            <p:ph type="title"/>
          </p:nvPr>
        </p:nvSpPr>
        <p:spPr/>
        <p:txBody>
          <a:bodyPr/>
          <a:lstStyle/>
          <a:p>
            <a:endParaRPr lang="en-CA"/>
          </a:p>
        </p:txBody>
      </p:sp>
      <p:pic>
        <p:nvPicPr>
          <p:cNvPr id="5" name="Content Placeholder 4" descr="A text on a page&#10;&#10;Description automatically generated">
            <a:extLst>
              <a:ext uri="{FF2B5EF4-FFF2-40B4-BE49-F238E27FC236}">
                <a16:creationId xmlns:a16="http://schemas.microsoft.com/office/drawing/2014/main" id="{8076F0F4-5A1A-549A-A853-A5192B9D6B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4251" y="-109198"/>
            <a:ext cx="9601199" cy="7076395"/>
          </a:xfrm>
        </p:spPr>
      </p:pic>
    </p:spTree>
    <p:extLst>
      <p:ext uri="{BB962C8B-B14F-4D97-AF65-F5344CB8AC3E}">
        <p14:creationId xmlns:p14="http://schemas.microsoft.com/office/powerpoint/2010/main" val="1183224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775DA-D14D-355A-CE28-8F636AE9D52C}"/>
              </a:ext>
            </a:extLst>
          </p:cNvPr>
          <p:cNvSpPr>
            <a:spLocks noGrp="1"/>
          </p:cNvSpPr>
          <p:nvPr>
            <p:ph type="title"/>
          </p:nvPr>
        </p:nvSpPr>
        <p:spPr/>
        <p:txBody>
          <a:bodyPr/>
          <a:lstStyle/>
          <a:p>
            <a:pPr algn="ctr"/>
            <a:r>
              <a:rPr lang="en-CA" dirty="0"/>
              <a:t>Coping strategies victims use </a:t>
            </a:r>
            <a:br>
              <a:rPr lang="en-CA" dirty="0"/>
            </a:br>
            <a:r>
              <a:rPr lang="en-CA" dirty="0"/>
              <a:t>(</a:t>
            </a:r>
            <a:r>
              <a:rPr lang="en-CA" sz="2400" dirty="0" err="1"/>
              <a:t>Podana</a:t>
            </a:r>
            <a:r>
              <a:rPr lang="en-CA" sz="2400" dirty="0"/>
              <a:t> and </a:t>
            </a:r>
            <a:r>
              <a:rPr lang="en-CA" sz="2400" dirty="0" err="1"/>
              <a:t>Imríšková</a:t>
            </a:r>
            <a:r>
              <a:rPr lang="en-CA" sz="2400" dirty="0"/>
              <a:t> 2016)</a:t>
            </a:r>
          </a:p>
        </p:txBody>
      </p:sp>
      <p:sp>
        <p:nvSpPr>
          <p:cNvPr id="3" name="Content Placeholder 2">
            <a:extLst>
              <a:ext uri="{FF2B5EF4-FFF2-40B4-BE49-F238E27FC236}">
                <a16:creationId xmlns:a16="http://schemas.microsoft.com/office/drawing/2014/main" id="{A12BCE50-79F0-750D-7F4B-3DC2AC51C5F8}"/>
              </a:ext>
            </a:extLst>
          </p:cNvPr>
          <p:cNvSpPr>
            <a:spLocks noGrp="1"/>
          </p:cNvSpPr>
          <p:nvPr>
            <p:ph idx="1"/>
          </p:nvPr>
        </p:nvSpPr>
        <p:spPr/>
        <p:txBody>
          <a:bodyPr/>
          <a:lstStyle/>
          <a:p>
            <a:r>
              <a:rPr lang="en-CA" b="1" dirty="0">
                <a:solidFill>
                  <a:schemeClr val="tx2">
                    <a:lumMod val="75000"/>
                    <a:lumOff val="25000"/>
                  </a:schemeClr>
                </a:solidFill>
              </a:rPr>
              <a:t>proactive behavior </a:t>
            </a:r>
            <a:r>
              <a:rPr lang="en-CA" dirty="0"/>
              <a:t>(47% of victims): meeting the offender face to face, reporting stalking to the police, seeking professional or informal help, and a change of address.</a:t>
            </a:r>
          </a:p>
          <a:p>
            <a:r>
              <a:rPr lang="en-CA" b="1" dirty="0">
                <a:solidFill>
                  <a:schemeClr val="tx2">
                    <a:lumMod val="75000"/>
                    <a:lumOff val="25000"/>
                  </a:schemeClr>
                </a:solidFill>
              </a:rPr>
              <a:t>avoidance</a:t>
            </a:r>
            <a:r>
              <a:rPr lang="en-CA" dirty="0"/>
              <a:t> (30%):changed their usual activities or way home/way to work</a:t>
            </a:r>
          </a:p>
          <a:p>
            <a:r>
              <a:rPr lang="en-CA" b="1" dirty="0">
                <a:solidFill>
                  <a:schemeClr val="tx2">
                    <a:lumMod val="75000"/>
                    <a:lumOff val="25000"/>
                  </a:schemeClr>
                </a:solidFill>
              </a:rPr>
              <a:t>passivity</a:t>
            </a:r>
            <a:r>
              <a:rPr lang="en-CA" dirty="0"/>
              <a:t> (23%): either changed nothing about their behavior, or they just ignored the offender</a:t>
            </a:r>
          </a:p>
          <a:p>
            <a:endParaRPr lang="en-CA" dirty="0"/>
          </a:p>
          <a:p>
            <a:r>
              <a:rPr lang="en-CA" dirty="0"/>
              <a:t>Passivity is linked to “freezing” </a:t>
            </a:r>
          </a:p>
        </p:txBody>
      </p:sp>
    </p:spTree>
    <p:extLst>
      <p:ext uri="{BB962C8B-B14F-4D97-AF65-F5344CB8AC3E}">
        <p14:creationId xmlns:p14="http://schemas.microsoft.com/office/powerpoint/2010/main" val="1356546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71C3B-E7A1-6AAB-891B-C82863748DD2}"/>
              </a:ext>
            </a:extLst>
          </p:cNvPr>
          <p:cNvSpPr>
            <a:spLocks noGrp="1"/>
          </p:cNvSpPr>
          <p:nvPr>
            <p:ph type="title"/>
          </p:nvPr>
        </p:nvSpPr>
        <p:spPr>
          <a:xfrm>
            <a:off x="838200" y="1"/>
            <a:ext cx="10515600" cy="988828"/>
          </a:xfrm>
        </p:spPr>
        <p:txBody>
          <a:bodyPr>
            <a:normAutofit/>
          </a:bodyPr>
          <a:lstStyle/>
          <a:p>
            <a:pPr algn="ctr"/>
            <a:r>
              <a:rPr lang="en-CA" b="1" dirty="0"/>
              <a:t>Freezing</a:t>
            </a:r>
          </a:p>
        </p:txBody>
      </p:sp>
      <p:sp>
        <p:nvSpPr>
          <p:cNvPr id="3" name="Content Placeholder 2">
            <a:extLst>
              <a:ext uri="{FF2B5EF4-FFF2-40B4-BE49-F238E27FC236}">
                <a16:creationId xmlns:a16="http://schemas.microsoft.com/office/drawing/2014/main" id="{1EA62F16-0EEF-435D-EF6B-19AF1644E1C3}"/>
              </a:ext>
            </a:extLst>
          </p:cNvPr>
          <p:cNvSpPr>
            <a:spLocks noGrp="1"/>
          </p:cNvSpPr>
          <p:nvPr>
            <p:ph idx="1"/>
          </p:nvPr>
        </p:nvSpPr>
        <p:spPr>
          <a:xfrm>
            <a:off x="838200" y="988828"/>
            <a:ext cx="10515600" cy="5762845"/>
          </a:xfrm>
        </p:spPr>
        <p:txBody>
          <a:bodyPr>
            <a:normAutofit lnSpcReduction="10000"/>
          </a:bodyPr>
          <a:lstStyle/>
          <a:p>
            <a:r>
              <a:rPr lang="en-CA" b="1" dirty="0">
                <a:solidFill>
                  <a:schemeClr val="accent3">
                    <a:lumMod val="75000"/>
                  </a:schemeClr>
                </a:solidFill>
              </a:rPr>
              <a:t>freezing</a:t>
            </a:r>
            <a:r>
              <a:rPr lang="en-CA" dirty="0"/>
              <a:t> is a response to a threat that is characterized not only by immobility but also by inhibition of behavior. 3 types: </a:t>
            </a:r>
          </a:p>
          <a:p>
            <a:endParaRPr lang="en-CA" dirty="0"/>
          </a:p>
          <a:p>
            <a:r>
              <a:rPr lang="en-CA" dirty="0"/>
              <a:t>Detection freezing: this occurs when a victim, who thought things were ‘normal’, suddenly realizes they’re being threatened. Lasts a few seconds E.g. Massage that turns sexual. </a:t>
            </a:r>
          </a:p>
          <a:p>
            <a:endParaRPr lang="en-CA" dirty="0"/>
          </a:p>
          <a:p>
            <a:r>
              <a:rPr lang="en-CA" dirty="0"/>
              <a:t>Stopped thoughts/behaviours: a victim’s thoughts and behaviours stop for a few seconds. Victim is processing what’s happening</a:t>
            </a:r>
          </a:p>
          <a:p>
            <a:endParaRPr lang="en-CA" dirty="0"/>
          </a:p>
          <a:p>
            <a:r>
              <a:rPr lang="en-CA" dirty="0"/>
              <a:t>Shocked freezing: typically described as ‘going blank’. Victims are incapable of responding. Lasts for longer and typically leaves victims feeling completely helpless. </a:t>
            </a:r>
          </a:p>
        </p:txBody>
      </p:sp>
    </p:spTree>
    <p:extLst>
      <p:ext uri="{BB962C8B-B14F-4D97-AF65-F5344CB8AC3E}">
        <p14:creationId xmlns:p14="http://schemas.microsoft.com/office/powerpoint/2010/main" val="94526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4863F-DBA1-DAB8-238B-0D0A02E754D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4180417-8D1F-3F13-3798-F5BFF87ECC0F}"/>
              </a:ext>
            </a:extLst>
          </p:cNvPr>
          <p:cNvSpPr>
            <a:spLocks noGrp="1"/>
          </p:cNvSpPr>
          <p:nvPr>
            <p:ph idx="1"/>
          </p:nvPr>
        </p:nvSpPr>
        <p:spPr/>
        <p:txBody>
          <a:bodyPr/>
          <a:lstStyle/>
          <a:p>
            <a:endParaRPr lang="en-CA" dirty="0"/>
          </a:p>
        </p:txBody>
      </p:sp>
      <p:pic>
        <p:nvPicPr>
          <p:cNvPr id="5" name="Picture 4" descr="A blue and white sign with text&#10;&#10;Description automatically generated">
            <a:extLst>
              <a:ext uri="{FF2B5EF4-FFF2-40B4-BE49-F238E27FC236}">
                <a16:creationId xmlns:a16="http://schemas.microsoft.com/office/drawing/2014/main" id="{95C4DB1A-5F97-1394-EFDC-4D30ECA9ED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4464" y="0"/>
            <a:ext cx="7442791" cy="7442791"/>
          </a:xfrm>
          <a:prstGeom prst="rect">
            <a:avLst/>
          </a:prstGeom>
        </p:spPr>
      </p:pic>
    </p:spTree>
    <p:extLst>
      <p:ext uri="{BB962C8B-B14F-4D97-AF65-F5344CB8AC3E}">
        <p14:creationId xmlns:p14="http://schemas.microsoft.com/office/powerpoint/2010/main" val="694241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FB649-5267-7833-2A05-3A733E46CB83}"/>
              </a:ext>
            </a:extLst>
          </p:cNvPr>
          <p:cNvSpPr>
            <a:spLocks noGrp="1"/>
          </p:cNvSpPr>
          <p:nvPr>
            <p:ph type="title"/>
          </p:nvPr>
        </p:nvSpPr>
        <p:spPr/>
        <p:txBody>
          <a:bodyPr/>
          <a:lstStyle/>
          <a:p>
            <a:pPr algn="ctr"/>
            <a:r>
              <a:rPr lang="en-CA" dirty="0"/>
              <a:t>Why does freezing happen? </a:t>
            </a:r>
          </a:p>
        </p:txBody>
      </p:sp>
      <p:sp>
        <p:nvSpPr>
          <p:cNvPr id="3" name="Content Placeholder 2">
            <a:extLst>
              <a:ext uri="{FF2B5EF4-FFF2-40B4-BE49-F238E27FC236}">
                <a16:creationId xmlns:a16="http://schemas.microsoft.com/office/drawing/2014/main" id="{B2FB29D4-D411-949F-B1FF-85E503F6CA48}"/>
              </a:ext>
            </a:extLst>
          </p:cNvPr>
          <p:cNvSpPr>
            <a:spLocks noGrp="1"/>
          </p:cNvSpPr>
          <p:nvPr>
            <p:ph idx="1"/>
          </p:nvPr>
        </p:nvSpPr>
        <p:spPr/>
        <p:txBody>
          <a:bodyPr>
            <a:normAutofit/>
          </a:bodyPr>
          <a:lstStyle/>
          <a:p>
            <a:r>
              <a:rPr lang="en-CA" dirty="0"/>
              <a:t>Freezing is a common and natural survival reaction which is activated by the brain when a person feels extreme threat. </a:t>
            </a:r>
          </a:p>
          <a:p>
            <a:pPr marL="0" indent="0">
              <a:buNone/>
            </a:pPr>
            <a:endParaRPr lang="en-CA" dirty="0"/>
          </a:p>
          <a:p>
            <a:r>
              <a:rPr lang="en-CA" dirty="0"/>
              <a:t>We can think of it as a survival reaction (reflex) that occurs when all other options to avoid threat have been exhausted or the individual feels overwhelmed and helpless. </a:t>
            </a:r>
          </a:p>
          <a:p>
            <a:endParaRPr lang="en-CA" dirty="0"/>
          </a:p>
          <a:p>
            <a:r>
              <a:rPr lang="en-CA" dirty="0"/>
              <a:t>I REPEAT: THIS IS S COMMON AND NATURAL PHENOMENON</a:t>
            </a:r>
          </a:p>
        </p:txBody>
      </p:sp>
    </p:spTree>
    <p:extLst>
      <p:ext uri="{BB962C8B-B14F-4D97-AF65-F5344CB8AC3E}">
        <p14:creationId xmlns:p14="http://schemas.microsoft.com/office/powerpoint/2010/main" val="4113981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DCBA5-AF0F-91A8-9CF0-890FDDC8A7ED}"/>
              </a:ext>
            </a:extLst>
          </p:cNvPr>
          <p:cNvSpPr>
            <a:spLocks noGrp="1"/>
          </p:cNvSpPr>
          <p:nvPr>
            <p:ph type="title"/>
          </p:nvPr>
        </p:nvSpPr>
        <p:spPr/>
        <p:txBody>
          <a:bodyPr/>
          <a:lstStyle/>
          <a:p>
            <a:r>
              <a:rPr lang="en-CA" dirty="0"/>
              <a:t>Testing what people do vs what they think they’ll do when faced with harassment</a:t>
            </a:r>
          </a:p>
        </p:txBody>
      </p:sp>
      <p:sp>
        <p:nvSpPr>
          <p:cNvPr id="3" name="Content Placeholder 2">
            <a:extLst>
              <a:ext uri="{FF2B5EF4-FFF2-40B4-BE49-F238E27FC236}">
                <a16:creationId xmlns:a16="http://schemas.microsoft.com/office/drawing/2014/main" id="{F7849057-56E9-442A-4CCC-DEC10198222A}"/>
              </a:ext>
            </a:extLst>
          </p:cNvPr>
          <p:cNvSpPr>
            <a:spLocks noGrp="1"/>
          </p:cNvSpPr>
          <p:nvPr>
            <p:ph idx="1"/>
          </p:nvPr>
        </p:nvSpPr>
        <p:spPr/>
        <p:txBody>
          <a:bodyPr/>
          <a:lstStyle/>
          <a:p>
            <a:pPr>
              <a:lnSpc>
                <a:spcPct val="150000"/>
              </a:lnSpc>
            </a:pPr>
            <a:r>
              <a:rPr lang="en-CA" dirty="0"/>
              <a:t>In 2001, two researchers designed a set of clever experiments to test the extent to which people over-estimate the extent to which they would ‘fight back’ or defend themselves in a harassment situation. </a:t>
            </a:r>
          </a:p>
        </p:txBody>
      </p:sp>
      <p:pic>
        <p:nvPicPr>
          <p:cNvPr id="7" name="Picture 6" descr="A person holding her hand up&#10;&#10;Description automatically generated">
            <a:extLst>
              <a:ext uri="{FF2B5EF4-FFF2-40B4-BE49-F238E27FC236}">
                <a16:creationId xmlns:a16="http://schemas.microsoft.com/office/drawing/2014/main" id="{3966CF4E-AEB0-EC9F-EC67-53ECFC3B8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402" y="4001293"/>
            <a:ext cx="2465314" cy="2635727"/>
          </a:xfrm>
          <a:prstGeom prst="rect">
            <a:avLst/>
          </a:prstGeom>
        </p:spPr>
      </p:pic>
    </p:spTree>
    <p:extLst>
      <p:ext uri="{BB962C8B-B14F-4D97-AF65-F5344CB8AC3E}">
        <p14:creationId xmlns:p14="http://schemas.microsoft.com/office/powerpoint/2010/main" val="206774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09BC-931C-C6B9-0847-A29762BD9236}"/>
              </a:ext>
            </a:extLst>
          </p:cNvPr>
          <p:cNvSpPr>
            <a:spLocks noGrp="1"/>
          </p:cNvSpPr>
          <p:nvPr>
            <p:ph type="title"/>
          </p:nvPr>
        </p:nvSpPr>
        <p:spPr/>
        <p:txBody>
          <a:bodyPr/>
          <a:lstStyle/>
          <a:p>
            <a:r>
              <a:rPr lang="en-CA" dirty="0">
                <a:effectLst/>
              </a:rPr>
              <a:t>Study 1 </a:t>
            </a:r>
            <a:r>
              <a:rPr lang="en-CA" sz="4400" dirty="0"/>
              <a:t>(</a:t>
            </a:r>
            <a:r>
              <a:rPr lang="en-CA" sz="4400" dirty="0" err="1">
                <a:effectLst/>
              </a:rPr>
              <a:t>Woodzicka</a:t>
            </a:r>
            <a:r>
              <a:rPr lang="en-CA" sz="4400" dirty="0">
                <a:effectLst/>
              </a:rPr>
              <a:t> and LaFrance 2001) </a:t>
            </a:r>
            <a:r>
              <a:rPr lang="en-CA" dirty="0">
                <a:effectLst/>
              </a:rPr>
              <a:t>: </a:t>
            </a:r>
            <a:br>
              <a:rPr lang="en-CA" dirty="0">
                <a:effectLst/>
              </a:rPr>
            </a:br>
            <a:endParaRPr lang="en-CA" dirty="0"/>
          </a:p>
        </p:txBody>
      </p:sp>
      <p:sp>
        <p:nvSpPr>
          <p:cNvPr id="3" name="Content Placeholder 2">
            <a:extLst>
              <a:ext uri="{FF2B5EF4-FFF2-40B4-BE49-F238E27FC236}">
                <a16:creationId xmlns:a16="http://schemas.microsoft.com/office/drawing/2014/main" id="{D0BE955E-C3F1-26EC-22FE-3A7C41348827}"/>
              </a:ext>
            </a:extLst>
          </p:cNvPr>
          <p:cNvSpPr>
            <a:spLocks noGrp="1"/>
          </p:cNvSpPr>
          <p:nvPr>
            <p:ph idx="1"/>
          </p:nvPr>
        </p:nvSpPr>
        <p:spPr>
          <a:xfrm>
            <a:off x="838200" y="978195"/>
            <a:ext cx="10515600" cy="5198768"/>
          </a:xfrm>
        </p:spPr>
        <p:txBody>
          <a:bodyPr/>
          <a:lstStyle/>
          <a:p>
            <a:endParaRPr lang="en-CA" dirty="0"/>
          </a:p>
          <a:p>
            <a:r>
              <a:rPr lang="en-CA" dirty="0">
                <a:effectLst/>
              </a:rPr>
              <a:t>Researchers first asked young women to IMAGINE how they would feel if asked sexually intrusive questions in an interview: "Do you have a boyfriend?" "Do people find you desirable?" "Do you think it's important for women to wear bras to work?"</a:t>
            </a:r>
            <a:endParaRPr lang="en-CA" dirty="0"/>
          </a:p>
        </p:txBody>
      </p:sp>
      <p:pic>
        <p:nvPicPr>
          <p:cNvPr id="5" name="Picture 4" descr="A text on a page&#10;&#10;Description automatically generated">
            <a:extLst>
              <a:ext uri="{FF2B5EF4-FFF2-40B4-BE49-F238E27FC236}">
                <a16:creationId xmlns:a16="http://schemas.microsoft.com/office/drawing/2014/main" id="{A4E7AA85-11F0-74B3-C573-DC6E385631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158" y="3338622"/>
            <a:ext cx="11809397" cy="3154253"/>
          </a:xfrm>
          <a:prstGeom prst="rect">
            <a:avLst/>
          </a:prstGeom>
        </p:spPr>
      </p:pic>
    </p:spTree>
    <p:extLst>
      <p:ext uri="{BB962C8B-B14F-4D97-AF65-F5344CB8AC3E}">
        <p14:creationId xmlns:p14="http://schemas.microsoft.com/office/powerpoint/2010/main" val="4283065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BB232-2671-5E11-E610-862BEA6D8FB3}"/>
              </a:ext>
            </a:extLst>
          </p:cNvPr>
          <p:cNvSpPr>
            <a:spLocks noGrp="1"/>
          </p:cNvSpPr>
          <p:nvPr>
            <p:ph type="title"/>
          </p:nvPr>
        </p:nvSpPr>
        <p:spPr>
          <a:xfrm>
            <a:off x="838200" y="701749"/>
            <a:ext cx="10515600" cy="988939"/>
          </a:xfrm>
        </p:spPr>
        <p:txBody>
          <a:bodyPr>
            <a:normAutofit fontScale="90000"/>
          </a:bodyPr>
          <a:lstStyle/>
          <a:p>
            <a:r>
              <a:rPr lang="en-CA" dirty="0"/>
              <a:t>Study 2: </a:t>
            </a:r>
            <a:r>
              <a:rPr lang="en-CA" sz="2700" dirty="0"/>
              <a:t>(</a:t>
            </a:r>
            <a:r>
              <a:rPr lang="en-CA" sz="2700" dirty="0" err="1">
                <a:effectLst/>
              </a:rPr>
              <a:t>Woodzicka</a:t>
            </a:r>
            <a:r>
              <a:rPr lang="en-CA" sz="2700" dirty="0">
                <a:effectLst/>
              </a:rPr>
              <a:t> and LaFrance 2001). </a:t>
            </a:r>
            <a:br>
              <a:rPr lang="en-CA" dirty="0"/>
            </a:br>
            <a:endParaRPr lang="en-CA" dirty="0"/>
          </a:p>
        </p:txBody>
      </p:sp>
      <p:pic>
        <p:nvPicPr>
          <p:cNvPr id="5" name="Content Placeholder 4" descr="A text on a page&#10;&#10;Description automatically generated">
            <a:extLst>
              <a:ext uri="{FF2B5EF4-FFF2-40B4-BE49-F238E27FC236}">
                <a16:creationId xmlns:a16="http://schemas.microsoft.com/office/drawing/2014/main" id="{48F2378C-037C-A4AD-6C26-4BA2EDFAD8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914" y="1690688"/>
            <a:ext cx="11132172" cy="4199749"/>
          </a:xfrm>
        </p:spPr>
      </p:pic>
    </p:spTree>
    <p:extLst>
      <p:ext uri="{BB962C8B-B14F-4D97-AF65-F5344CB8AC3E}">
        <p14:creationId xmlns:p14="http://schemas.microsoft.com/office/powerpoint/2010/main" val="18302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57699-4B03-0B50-7C1A-2687A2AAD45A}"/>
              </a:ext>
            </a:extLst>
          </p:cNvPr>
          <p:cNvSpPr>
            <a:spLocks noGrp="1"/>
          </p:cNvSpPr>
          <p:nvPr>
            <p:ph type="title"/>
          </p:nvPr>
        </p:nvSpPr>
        <p:spPr>
          <a:xfrm>
            <a:off x="838200" y="365125"/>
            <a:ext cx="10515600" cy="779463"/>
          </a:xfrm>
        </p:spPr>
        <p:txBody>
          <a:bodyPr/>
          <a:lstStyle/>
          <a:p>
            <a:r>
              <a:rPr lang="en-CA" dirty="0"/>
              <a:t>More on freezing: </a:t>
            </a:r>
          </a:p>
        </p:txBody>
      </p:sp>
      <p:sp>
        <p:nvSpPr>
          <p:cNvPr id="3" name="Content Placeholder 2">
            <a:extLst>
              <a:ext uri="{FF2B5EF4-FFF2-40B4-BE49-F238E27FC236}">
                <a16:creationId xmlns:a16="http://schemas.microsoft.com/office/drawing/2014/main" id="{12F98AAD-A737-F3EB-AA54-5860E76B4C77}"/>
              </a:ext>
            </a:extLst>
          </p:cNvPr>
          <p:cNvSpPr>
            <a:spLocks noGrp="1"/>
          </p:cNvSpPr>
          <p:nvPr>
            <p:ph idx="1"/>
          </p:nvPr>
        </p:nvSpPr>
        <p:spPr>
          <a:xfrm>
            <a:off x="340243" y="1144588"/>
            <a:ext cx="11483162" cy="5032375"/>
          </a:xfrm>
        </p:spPr>
        <p:txBody>
          <a:bodyPr/>
          <a:lstStyle/>
          <a:p>
            <a:r>
              <a:rPr lang="en-CA" dirty="0">
                <a:solidFill>
                  <a:srgbClr val="0F1419"/>
                </a:solidFill>
                <a:effectLst/>
              </a:rPr>
              <a:t>While women imagined they'd be outraged and confront the interviewer, when actually being harassed, the majority (52%) </a:t>
            </a:r>
            <a:r>
              <a:rPr lang="en-CA" b="1" dirty="0">
                <a:solidFill>
                  <a:schemeClr val="tx2">
                    <a:lumMod val="50000"/>
                    <a:lumOff val="50000"/>
                  </a:schemeClr>
                </a:solidFill>
                <a:effectLst/>
              </a:rPr>
              <a:t>froze and did nothing</a:t>
            </a:r>
            <a:r>
              <a:rPr lang="en-CA" dirty="0">
                <a:solidFill>
                  <a:srgbClr val="0F1419"/>
                </a:solidFill>
                <a:effectLst/>
              </a:rPr>
              <a:t>. </a:t>
            </a:r>
          </a:p>
          <a:p>
            <a:r>
              <a:rPr lang="en-CA" dirty="0">
                <a:solidFill>
                  <a:srgbClr val="0F1419"/>
                </a:solidFill>
              </a:rPr>
              <a:t>No one quit </a:t>
            </a:r>
            <a:r>
              <a:rPr lang="en-CA" dirty="0">
                <a:solidFill>
                  <a:srgbClr val="0F1419"/>
                </a:solidFill>
                <a:effectLst/>
              </a:rPr>
              <a:t>the interview </a:t>
            </a:r>
          </a:p>
          <a:p>
            <a:r>
              <a:rPr lang="en-CA" dirty="0">
                <a:solidFill>
                  <a:srgbClr val="0F1419"/>
                </a:solidFill>
              </a:rPr>
              <a:t>Many smiled politely during the questions (a form of appeasement)</a:t>
            </a:r>
            <a:endParaRPr lang="en-CA" dirty="0">
              <a:solidFill>
                <a:srgbClr val="0F1419"/>
              </a:solidFill>
              <a:effectLst/>
            </a:endParaRPr>
          </a:p>
          <a:p>
            <a:r>
              <a:rPr lang="en-CA" dirty="0">
                <a:solidFill>
                  <a:srgbClr val="0F1419"/>
                </a:solidFill>
                <a:effectLst/>
              </a:rPr>
              <a:t>No one even reported the harasser</a:t>
            </a:r>
          </a:p>
          <a:p>
            <a:endParaRPr lang="en-CA" dirty="0"/>
          </a:p>
        </p:txBody>
      </p:sp>
      <p:pic>
        <p:nvPicPr>
          <p:cNvPr id="5" name="Picture 4" descr="Two posters with pictures of monkeys&#10;&#10;Description automatically generated">
            <a:extLst>
              <a:ext uri="{FF2B5EF4-FFF2-40B4-BE49-F238E27FC236}">
                <a16:creationId xmlns:a16="http://schemas.microsoft.com/office/drawing/2014/main" id="{E382901F-AEBB-EBBC-C62B-86D3C2B879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1824" y="3306725"/>
            <a:ext cx="5885185" cy="3306726"/>
          </a:xfrm>
          <a:prstGeom prst="rect">
            <a:avLst/>
          </a:prstGeom>
        </p:spPr>
      </p:pic>
    </p:spTree>
    <p:extLst>
      <p:ext uri="{BB962C8B-B14F-4D97-AF65-F5344CB8AC3E}">
        <p14:creationId xmlns:p14="http://schemas.microsoft.com/office/powerpoint/2010/main" val="1345736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320A-3E49-1788-7CA6-FEA4B381A758}"/>
              </a:ext>
            </a:extLst>
          </p:cNvPr>
          <p:cNvSpPr>
            <a:spLocks noGrp="1"/>
          </p:cNvSpPr>
          <p:nvPr>
            <p:ph type="title"/>
          </p:nvPr>
        </p:nvSpPr>
        <p:spPr/>
        <p:txBody>
          <a:bodyPr/>
          <a:lstStyle/>
          <a:p>
            <a:pPr algn="ctr"/>
            <a:r>
              <a:rPr lang="en-CA" dirty="0"/>
              <a:t>Stranger harassment</a:t>
            </a:r>
          </a:p>
        </p:txBody>
      </p:sp>
      <p:pic>
        <p:nvPicPr>
          <p:cNvPr id="5" name="Content Placeholder 4" descr="A person holding a sign&#10;&#10;Description automatically generated">
            <a:extLst>
              <a:ext uri="{FF2B5EF4-FFF2-40B4-BE49-F238E27FC236}">
                <a16:creationId xmlns:a16="http://schemas.microsoft.com/office/drawing/2014/main" id="{0D79405A-9556-5B25-EC99-4B4646BE6D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2210" y="1515251"/>
            <a:ext cx="6307579" cy="5241916"/>
          </a:xfrm>
        </p:spPr>
      </p:pic>
    </p:spTree>
    <p:extLst>
      <p:ext uri="{BB962C8B-B14F-4D97-AF65-F5344CB8AC3E}">
        <p14:creationId xmlns:p14="http://schemas.microsoft.com/office/powerpoint/2010/main" val="2929427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A64-72A3-906C-E6BE-E330473670DA}"/>
              </a:ext>
            </a:extLst>
          </p:cNvPr>
          <p:cNvSpPr>
            <a:spLocks noGrp="1"/>
          </p:cNvSpPr>
          <p:nvPr>
            <p:ph type="title"/>
          </p:nvPr>
        </p:nvSpPr>
        <p:spPr>
          <a:xfrm>
            <a:off x="-395287" y="168321"/>
            <a:ext cx="10515600" cy="1325563"/>
          </a:xfrm>
        </p:spPr>
        <p:txBody>
          <a:bodyPr/>
          <a:lstStyle/>
          <a:p>
            <a:pPr algn="ctr"/>
            <a:r>
              <a:rPr lang="en-CA" dirty="0"/>
              <a:t>Lisa-Michelle </a:t>
            </a:r>
            <a:r>
              <a:rPr lang="en-CA" dirty="0" err="1"/>
              <a:t>Kucharz’s</a:t>
            </a:r>
            <a:r>
              <a:rPr lang="en-CA" dirty="0"/>
              <a:t> story</a:t>
            </a:r>
          </a:p>
        </p:txBody>
      </p:sp>
      <p:sp>
        <p:nvSpPr>
          <p:cNvPr id="3" name="Content Placeholder 2">
            <a:extLst>
              <a:ext uri="{FF2B5EF4-FFF2-40B4-BE49-F238E27FC236}">
                <a16:creationId xmlns:a16="http://schemas.microsoft.com/office/drawing/2014/main" id="{7A24EF37-D72D-4BC5-C176-2310994836AF}"/>
              </a:ext>
            </a:extLst>
          </p:cNvPr>
          <p:cNvSpPr>
            <a:spLocks noGrp="1"/>
          </p:cNvSpPr>
          <p:nvPr>
            <p:ph idx="1"/>
          </p:nvPr>
        </p:nvSpPr>
        <p:spPr>
          <a:xfrm>
            <a:off x="279880" y="1562986"/>
            <a:ext cx="10515600" cy="4667140"/>
          </a:xfrm>
        </p:spPr>
        <p:txBody>
          <a:bodyPr>
            <a:normAutofit/>
          </a:bodyPr>
          <a:lstStyle/>
          <a:p>
            <a:r>
              <a:rPr lang="en-CA" dirty="0"/>
              <a:t>In 2014, Lisa-Michelle became the target of a cyber-stalker.</a:t>
            </a:r>
          </a:p>
          <a:p>
            <a:r>
              <a:rPr lang="en-CA" dirty="0"/>
              <a:t>For 16 months, she was the victim of harassing, threatening emails, fake </a:t>
            </a:r>
            <a:r>
              <a:rPr lang="en-CA" dirty="0" err="1"/>
              <a:t>facebook</a:t>
            </a:r>
            <a:r>
              <a:rPr lang="en-CA" dirty="0"/>
              <a:t> pages and posts, etc.</a:t>
            </a:r>
          </a:p>
          <a:p>
            <a:r>
              <a:rPr lang="en-CA" dirty="0"/>
              <a:t>At first, Lisa-Michelle withdrew from social media, then she decided to fight back.</a:t>
            </a:r>
          </a:p>
          <a:p>
            <a:r>
              <a:rPr lang="en-CA" dirty="0"/>
              <a:t>She hired a private investigator and identified her stalker.</a:t>
            </a:r>
          </a:p>
          <a:p>
            <a:r>
              <a:rPr lang="en-CA" dirty="0"/>
              <a:t>It was a Canadian woman who was dating someone who </a:t>
            </a:r>
            <a:r>
              <a:rPr lang="en-CA" dirty="0" err="1"/>
              <a:t>Kucharz</a:t>
            </a:r>
            <a:r>
              <a:rPr lang="en-CA" dirty="0"/>
              <a:t> had previously dated. </a:t>
            </a:r>
          </a:p>
          <a:p>
            <a:r>
              <a:rPr lang="en-CA" dirty="0"/>
              <a:t>The woman was reported to authorities and sentenced to 6 months in jail. </a:t>
            </a:r>
          </a:p>
        </p:txBody>
      </p:sp>
      <p:pic>
        <p:nvPicPr>
          <p:cNvPr id="5" name="Picture 4" descr="A person holding a sign&#10;&#10;Description automatically generated">
            <a:extLst>
              <a:ext uri="{FF2B5EF4-FFF2-40B4-BE49-F238E27FC236}">
                <a16:creationId xmlns:a16="http://schemas.microsoft.com/office/drawing/2014/main" id="{C5D5BBC4-1A92-8750-FA4A-754678041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5145" y="99218"/>
            <a:ext cx="2466975" cy="1559461"/>
          </a:xfrm>
          <a:prstGeom prst="rect">
            <a:avLst/>
          </a:prstGeom>
        </p:spPr>
      </p:pic>
    </p:spTree>
    <p:extLst>
      <p:ext uri="{BB962C8B-B14F-4D97-AF65-F5344CB8AC3E}">
        <p14:creationId xmlns:p14="http://schemas.microsoft.com/office/powerpoint/2010/main" val="2627482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5CF1D-4CE8-5AB6-0E5E-87F684F43C84}"/>
              </a:ext>
            </a:extLst>
          </p:cNvPr>
          <p:cNvSpPr>
            <a:spLocks noGrp="1"/>
          </p:cNvSpPr>
          <p:nvPr>
            <p:ph type="title"/>
          </p:nvPr>
        </p:nvSpPr>
        <p:spPr>
          <a:xfrm>
            <a:off x="838200" y="365126"/>
            <a:ext cx="10515600" cy="485480"/>
          </a:xfrm>
        </p:spPr>
        <p:txBody>
          <a:bodyPr>
            <a:normAutofit fontScale="90000"/>
          </a:bodyPr>
          <a:lstStyle/>
          <a:p>
            <a:pPr algn="ctr"/>
            <a:r>
              <a:rPr lang="en-CA" dirty="0" err="1"/>
              <a:t>Kucharz’s</a:t>
            </a:r>
            <a:r>
              <a:rPr lang="en-CA" dirty="0"/>
              <a:t> safety-tips</a:t>
            </a:r>
          </a:p>
        </p:txBody>
      </p:sp>
      <p:sp>
        <p:nvSpPr>
          <p:cNvPr id="3" name="Content Placeholder 2">
            <a:extLst>
              <a:ext uri="{FF2B5EF4-FFF2-40B4-BE49-F238E27FC236}">
                <a16:creationId xmlns:a16="http://schemas.microsoft.com/office/drawing/2014/main" id="{945C1155-090D-FC9F-0998-9F9E9CA6FCDF}"/>
              </a:ext>
            </a:extLst>
          </p:cNvPr>
          <p:cNvSpPr>
            <a:spLocks noGrp="1"/>
          </p:cNvSpPr>
          <p:nvPr>
            <p:ph idx="1"/>
          </p:nvPr>
        </p:nvSpPr>
        <p:spPr>
          <a:xfrm>
            <a:off x="838200" y="1073888"/>
            <a:ext cx="10515600" cy="5103075"/>
          </a:xfrm>
        </p:spPr>
        <p:txBody>
          <a:bodyPr>
            <a:noAutofit/>
          </a:bodyPr>
          <a:lstStyle/>
          <a:p>
            <a:r>
              <a:rPr lang="en-CA" sz="2400" dirty="0"/>
              <a:t>1. </a:t>
            </a:r>
            <a:r>
              <a:rPr lang="en-CA" sz="2400" b="1" dirty="0"/>
              <a:t>Resist the urge to respond </a:t>
            </a:r>
            <a:r>
              <a:rPr lang="en-CA" sz="2400" dirty="0"/>
              <a:t>and </a:t>
            </a:r>
            <a:r>
              <a:rPr lang="en-CA" sz="2400" b="1" dirty="0"/>
              <a:t>block </a:t>
            </a:r>
            <a:r>
              <a:rPr lang="en-CA" sz="2400" dirty="0"/>
              <a:t>the harasser.  Don’t engage, respond, retaliate or share your harassers' statements</a:t>
            </a:r>
          </a:p>
          <a:p>
            <a:endParaRPr lang="en-CA" sz="2400" dirty="0"/>
          </a:p>
          <a:p>
            <a:r>
              <a:rPr lang="en-CA" sz="2400" dirty="0"/>
              <a:t>2. </a:t>
            </a:r>
            <a:r>
              <a:rPr lang="en-CA" sz="2400" b="1" dirty="0"/>
              <a:t>Document everything </a:t>
            </a:r>
            <a:r>
              <a:rPr lang="en-CA" sz="2400" dirty="0"/>
              <a:t>— Preserve the evidence and the context from meetings with school officials, police officers or anyone else you may have received help from</a:t>
            </a:r>
          </a:p>
          <a:p>
            <a:endParaRPr lang="en-CA" sz="2400" dirty="0"/>
          </a:p>
          <a:p>
            <a:pPr marL="0" indent="0">
              <a:buNone/>
            </a:pPr>
            <a:r>
              <a:rPr lang="en-CA" sz="2400" dirty="0"/>
              <a:t>“For static images, screenshots with full URLs are the best. If you’re on the go, on your phone or otherwise can’t get the full URL, then any screenshot is better than none. For videos or audio, do your best to capture them and include the full URL. Sort your documents and folders. Find a naming convention that is consistent and makes finding documents easy. Regularly place your files into the folders. Save your documentation in multiple locations like a computer external hard drive.”</a:t>
            </a:r>
          </a:p>
        </p:txBody>
      </p:sp>
    </p:spTree>
    <p:extLst>
      <p:ext uri="{BB962C8B-B14F-4D97-AF65-F5344CB8AC3E}">
        <p14:creationId xmlns:p14="http://schemas.microsoft.com/office/powerpoint/2010/main" val="1557547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F2013-48FE-35F8-20B7-6A245FC62F83}"/>
              </a:ext>
            </a:extLst>
          </p:cNvPr>
          <p:cNvSpPr>
            <a:spLocks noGrp="1"/>
          </p:cNvSpPr>
          <p:nvPr>
            <p:ph type="title"/>
          </p:nvPr>
        </p:nvSpPr>
        <p:spPr>
          <a:xfrm>
            <a:off x="838200" y="365125"/>
            <a:ext cx="10515600" cy="4954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C9B0B84-DA2B-3B3D-F5C7-291407E5D1D5}"/>
              </a:ext>
            </a:extLst>
          </p:cNvPr>
          <p:cNvSpPr>
            <a:spLocks noGrp="1"/>
          </p:cNvSpPr>
          <p:nvPr>
            <p:ph idx="1"/>
          </p:nvPr>
        </p:nvSpPr>
        <p:spPr>
          <a:xfrm>
            <a:off x="838200" y="414670"/>
            <a:ext cx="10515600" cy="5762293"/>
          </a:xfrm>
        </p:spPr>
        <p:txBody>
          <a:bodyPr>
            <a:normAutofit fontScale="92500" lnSpcReduction="20000"/>
          </a:bodyPr>
          <a:lstStyle/>
          <a:p>
            <a:r>
              <a:rPr lang="en-CA" dirty="0"/>
              <a:t>3. Your </a:t>
            </a:r>
            <a:r>
              <a:rPr lang="en-CA" b="1" dirty="0"/>
              <a:t>safety</a:t>
            </a:r>
            <a:r>
              <a:rPr lang="en-CA" dirty="0"/>
              <a:t> is your priority</a:t>
            </a:r>
          </a:p>
          <a:p>
            <a:endParaRPr lang="en-CA" dirty="0"/>
          </a:p>
          <a:p>
            <a:pPr marL="0" indent="0">
              <a:buNone/>
            </a:pPr>
            <a:r>
              <a:rPr lang="en-CA" dirty="0"/>
              <a:t>“If you think your life or physical well-being is in immediate danger, call law enforcement. If you’re on campus, call the University Police Emergency line. If you’re off campus, call 911.”</a:t>
            </a:r>
          </a:p>
          <a:p>
            <a:endParaRPr lang="en-CA" dirty="0"/>
          </a:p>
          <a:p>
            <a:r>
              <a:rPr lang="en-CA" dirty="0"/>
              <a:t>4. Consider </a:t>
            </a:r>
            <a:r>
              <a:rPr lang="en-CA" b="1" dirty="0"/>
              <a:t>consulting a lawyer </a:t>
            </a:r>
            <a:r>
              <a:rPr lang="en-CA" dirty="0"/>
              <a:t>with expertise in this specific area about your legal options</a:t>
            </a:r>
          </a:p>
          <a:p>
            <a:endParaRPr lang="en-CA" dirty="0"/>
          </a:p>
          <a:p>
            <a:r>
              <a:rPr lang="en-CA" dirty="0"/>
              <a:t>5. After you document an incident, </a:t>
            </a:r>
            <a:r>
              <a:rPr lang="en-CA" b="1" dirty="0"/>
              <a:t>inform the platform about abusive content</a:t>
            </a:r>
          </a:p>
          <a:p>
            <a:endParaRPr lang="en-CA" dirty="0"/>
          </a:p>
          <a:p>
            <a:pPr marL="0" indent="0">
              <a:buNone/>
            </a:pPr>
            <a:r>
              <a:rPr lang="en-CA" dirty="0"/>
              <a:t>“Don’t give up if the platform’s initial response is unhelpful. I had to report the abuse of content multiple times and enlist my friends to do the same until it was removed.”</a:t>
            </a:r>
          </a:p>
        </p:txBody>
      </p:sp>
    </p:spTree>
    <p:extLst>
      <p:ext uri="{BB962C8B-B14F-4D97-AF65-F5344CB8AC3E}">
        <p14:creationId xmlns:p14="http://schemas.microsoft.com/office/powerpoint/2010/main" val="1153126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9BDDE-7788-CED2-6C48-DCBF9E811AF7}"/>
              </a:ext>
            </a:extLst>
          </p:cNvPr>
          <p:cNvSpPr>
            <a:spLocks noGrp="1"/>
          </p:cNvSpPr>
          <p:nvPr>
            <p:ph type="title"/>
          </p:nvPr>
        </p:nvSpPr>
        <p:spPr>
          <a:xfrm>
            <a:off x="838200" y="365126"/>
            <a:ext cx="10515600" cy="70810"/>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D002F778-6113-EC6E-C825-E1A210ABCF24}"/>
              </a:ext>
            </a:extLst>
          </p:cNvPr>
          <p:cNvSpPr>
            <a:spLocks noGrp="1"/>
          </p:cNvSpPr>
          <p:nvPr>
            <p:ph idx="1"/>
          </p:nvPr>
        </p:nvSpPr>
        <p:spPr>
          <a:xfrm>
            <a:off x="838200" y="531628"/>
            <a:ext cx="10515600" cy="5961245"/>
          </a:xfrm>
        </p:spPr>
        <p:txBody>
          <a:bodyPr>
            <a:noAutofit/>
          </a:bodyPr>
          <a:lstStyle/>
          <a:p>
            <a:r>
              <a:rPr lang="en-CA" dirty="0"/>
              <a:t>6. Be organized (and </a:t>
            </a:r>
            <a:r>
              <a:rPr lang="en-CA" b="1" dirty="0"/>
              <a:t>proactive</a:t>
            </a:r>
            <a:r>
              <a:rPr lang="en-CA" dirty="0"/>
              <a:t>) - Inform a small group of friends or family. Consider counseling. Practice self-care. Consider informing your employer. This was very helpful in my case, not only for my safety and my colleagues’ and students’ safety but also to prevent them from being surprised when contacted by my harasser or when they saw defamatory posts or comments.”</a:t>
            </a:r>
          </a:p>
          <a:p>
            <a:endParaRPr lang="en-CA" dirty="0"/>
          </a:p>
          <a:p>
            <a:r>
              <a:rPr lang="en-CA" dirty="0"/>
              <a:t>7. Set up </a:t>
            </a:r>
            <a:r>
              <a:rPr lang="en-CA" b="1" dirty="0"/>
              <a:t>Google Alerts </a:t>
            </a:r>
            <a:r>
              <a:rPr lang="en-CA" dirty="0"/>
              <a:t>to inform you if information about you is being posted online</a:t>
            </a:r>
          </a:p>
          <a:p>
            <a:endParaRPr lang="en-CA" dirty="0"/>
          </a:p>
          <a:p>
            <a:r>
              <a:rPr lang="en-CA" dirty="0"/>
              <a:t>8. Consider </a:t>
            </a:r>
            <a:r>
              <a:rPr lang="en-CA" b="1" dirty="0"/>
              <a:t>purchasing domains of your name </a:t>
            </a:r>
            <a:r>
              <a:rPr lang="en-CA" dirty="0"/>
              <a:t>and variations of it to prevent anyone else from purchasing them. You don’t have to build websites on them to own them.</a:t>
            </a:r>
          </a:p>
          <a:p>
            <a:endParaRPr lang="en-CA" dirty="0"/>
          </a:p>
          <a:p>
            <a:endParaRPr lang="en-CA" sz="2400" dirty="0"/>
          </a:p>
        </p:txBody>
      </p:sp>
    </p:spTree>
    <p:extLst>
      <p:ext uri="{BB962C8B-B14F-4D97-AF65-F5344CB8AC3E}">
        <p14:creationId xmlns:p14="http://schemas.microsoft.com/office/powerpoint/2010/main" val="1100389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3024-259D-486A-B437-25C9A24673CC}"/>
              </a:ext>
            </a:extLst>
          </p:cNvPr>
          <p:cNvSpPr>
            <a:spLocks noGrp="1"/>
          </p:cNvSpPr>
          <p:nvPr>
            <p:ph type="title"/>
          </p:nvPr>
        </p:nvSpPr>
        <p:spPr/>
        <p:txBody>
          <a:bodyPr/>
          <a:lstStyle/>
          <a:p>
            <a:pPr algn="ctr"/>
            <a:r>
              <a:rPr lang="en-CA" b="1" dirty="0"/>
              <a:t>*all done!*</a:t>
            </a:r>
          </a:p>
        </p:txBody>
      </p:sp>
      <p:pic>
        <p:nvPicPr>
          <p:cNvPr id="5" name="Content Placeholder 4">
            <a:extLst>
              <a:ext uri="{FF2B5EF4-FFF2-40B4-BE49-F238E27FC236}">
                <a16:creationId xmlns:a16="http://schemas.microsoft.com/office/drawing/2014/main" id="{5926F011-9408-41AF-A555-85D493F20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141" y="1825625"/>
            <a:ext cx="3729718" cy="4351338"/>
          </a:xfrm>
        </p:spPr>
      </p:pic>
    </p:spTree>
    <p:extLst>
      <p:ext uri="{BB962C8B-B14F-4D97-AF65-F5344CB8AC3E}">
        <p14:creationId xmlns:p14="http://schemas.microsoft.com/office/powerpoint/2010/main" val="84744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1783</TotalTime>
  <Words>1093</Words>
  <Application>Microsoft Office PowerPoint</Application>
  <PresentationFormat>宽屏</PresentationFormat>
  <Paragraphs>82</Paragraphs>
  <Slides>22</Slides>
  <Notes>0</Notes>
  <HiddenSlides>0</HiddenSlides>
  <MMClips>0</MMClips>
  <ScaleCrop>false</ScaleCrop>
  <HeadingPairs>
    <vt:vector size="4" baseType="variant">
      <vt:variant>
        <vt:lpstr>主题</vt:lpstr>
      </vt:variant>
      <vt:variant>
        <vt:i4>1</vt:i4>
      </vt:variant>
      <vt:variant>
        <vt:lpstr>幻灯片标题</vt:lpstr>
      </vt:variant>
      <vt:variant>
        <vt:i4>22</vt:i4>
      </vt:variant>
    </vt:vector>
  </HeadingPairs>
  <TitlesOfParts>
    <vt:vector size="23" baseType="lpstr">
      <vt:lpstr>Office Theme</vt:lpstr>
      <vt:lpstr>Harassment</vt:lpstr>
      <vt:lpstr>Harassment vs. Criminal Harassment</vt:lpstr>
      <vt:lpstr>Different types of harassment</vt:lpstr>
      <vt:lpstr>PowerPoint 演示文稿</vt:lpstr>
      <vt:lpstr>Dating-related Stalking and Harassment (Rothman et al. 2021)</vt:lpstr>
      <vt:lpstr>Acquaintance stalking  (Logan 2023)</vt:lpstr>
      <vt:lpstr>Acquaintance stalking (Logan and Landhuis 2023)</vt:lpstr>
      <vt:lpstr>PowerPoint 演示文稿</vt:lpstr>
      <vt:lpstr>Coping strategies victims use  (Podana and Imríšková 2016)</vt:lpstr>
      <vt:lpstr>Freezing</vt:lpstr>
      <vt:lpstr>PowerPoint 演示文稿</vt:lpstr>
      <vt:lpstr>Why does freezing happen? </vt:lpstr>
      <vt:lpstr>Testing what people do vs what they think they’ll do when faced with harassment</vt:lpstr>
      <vt:lpstr>Study 1 (Woodzicka and LaFrance 2001) :  </vt:lpstr>
      <vt:lpstr>Study 2: (Woodzicka and LaFrance 2001).  </vt:lpstr>
      <vt:lpstr>More on freezing: </vt:lpstr>
      <vt:lpstr>Stranger harassment</vt:lpstr>
      <vt:lpstr>Lisa-Michelle Kucharz’s story</vt:lpstr>
      <vt:lpstr>Kucharz’s safety-tips</vt:lpstr>
      <vt:lpstr>PowerPoint 演示文稿</vt:lpstr>
      <vt:lpstr>PowerPoint 演示文稿</vt:lpstr>
      <vt:lpstr>*all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 Huey</dc:creator>
  <cp:lastModifiedBy>Laura Huey</cp:lastModifiedBy>
  <cp:revision>30</cp:revision>
  <dcterms:created xsi:type="dcterms:W3CDTF">2024-06-24T16:39:01Z</dcterms:created>
  <dcterms:modified xsi:type="dcterms:W3CDTF">2026-04-01T22:15:16Z</dcterms:modified>
</cp:coreProperties>
</file>